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შესავალი" id="{14bfa59b-ad2e-6ead-6efd-ea3637cfa978}">
          <p14:sldIdLst>
            <p14:sldId id="256"/>
            <p14:sldId id="257"/>
          </p14:sldIdLst>
        </p14:section>
        <p14:section name="არქიტექტურა" id="{c826bb42-cd7e-f09b-ed18-9cb5c6e7a6bd}">
          <p14:sldIdLst>
            <p14:sldId id="258"/>
            <p14:sldId id="259"/>
            <p14:sldId id="260"/>
            <p14:sldId id="261"/>
          </p14:sldIdLst>
        </p14:section>
        <p14:section name="Design Pattern-ები" id="{a9dfcc6e-904a-089f-6506-b50437e8a4b5}">
          <p14:sldIdLst>
            <p14:sldId id="262"/>
            <p14:sldId id="263"/>
            <p14:sldId id="264"/>
          </p14:sldIdLst>
        </p14:section>
        <p14:section name="API და ბაზა" id="{3ea48c79-89a9-4ca1-8d72-97cd22faa5ab}">
          <p14:sldIdLst>
            <p14:sldId id="265"/>
            <p14:sldId id="266"/>
          </p14:sldIdLst>
        </p14:section>
        <p14:section name="სტეკი და რისკები" id="{dd344d14-9c7c-4189-eaab-d171e27eb6d3}">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გამარჯობა. ჩვენი პროდუქტია FixIt: მოქალაქე ტელეფონიდან აგზავნის შეტყობინებას გატეხილ ლამპაზე ან ორმოზე, მუნიციპალიტეტი კი მას იღებს, ანაწილებს და აგვარებს. დღეს ვაჩვენებთ, რომელი არქიტექტურა ავირჩიეთ და რატომ.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სისტემას ოთხი როლი ჰყავს. არქიტექტურაზე ყველაზე მეტად მოქმედებს არაფუნქციური მოთხოვნები: გვერდი 2 წამში, 500 ერთდროული მომხმარებელი, ფოტოები 10 მეგაბაიტამდე. გუნდი 3-4 სტუდენტია და MVP 31 ქულაა, ანუ ერთ სემესტრში უნდა ჩავეტიოთ.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ავირჩიეთ ASP.NET Core MVC: ერთი აპლიკაცია, რომელიც სერვერზე აგენერირებს HTML-ს. მარცხნივ ფენებია: Controller იღებს მოთხოვნას, Model ინახავს მონაცემებს და წესებს, View ხატავს გვერდს, ხოლო ბიზნეს-ლოგიკა გავიტანეთ Service ფენაში და ბაზასთან მუშაობა Data ფენაში. სამი არგუმენტი: სწრაფი დეველოპმენტი, ჩვენი UI ძირითადად ფორმებია, და მკაფიო გამიჯვნა, რომ გუნდმა პარალელურად იმუშაოს.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SPA-ს შემთხვევაში ორი პროექტი და ორი deploy გვექნებოდა, ვალიდაციას ორჯერ დავწერდით. მიკროსერვისები 500 მომხმარებლისთვის ზედმეტია და სემესტრის დროს ინფრასტრუქტურაზე დავხარჯავდით. თუ მომავალში მობილური აპი დაგვჭირდება, იმავე სერვისებზე ApiController-ებს დავამატებთ.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ბრაუზერი HTTPS-ით მიმართავს Nginx-ს, Nginx გადასცემს Controller-ს. Controller იძახებს Service-ს, Service EF Core-ით მუშაობს PostgreSQL-თან. Controller ViewModel-ს აწვდის Razor View-ს და HTML ბრუნდება ბრაუზერში. ნელი სამუშაოები, ფოტოს შეკუმშვა და ელფოსტა, Hangfire-ში გადადის, რომ მომხმარებელი არ ელოდოს. რუკის ფილები პირდაპირ OpenStreetMap-დან მოდის.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ასე გადის ერთი მოთხოვნა სისტემაში. ფორმა მიდის ReportsController-ში, სადაც მოწმდება ავტორიზაცია და CSRF ტოკენი. თუ ფორმა არასწორია, იმავე View-ს ვაბრუნებთ შეცდომებით. თუ სწორია, სერვისი ქმნის შეტყობინებას, ფოტოს დამუშავება ფონურად მიდის, მომხმარებელი კი გადამისამართდება დეტალების გვერდზე.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Backend-ში ექვსი pattern-ი გამოვიყენეთ. MVC საბაზისოა. Repository მალავს EF Core-ს და ტესტებში mock-ით იცვლება. DI ASP.NET Core-ში ჩაშენებულია. State pattern აკონტროლებს სტატუსებს, Observer კი სტატუსის ცვლილებაზე ელფოსტას აგზავნის ისე, რომ მოდულები ერთმანეთზე პირდაპირ არ არიან დამოკიდებული. Strategy-ით ფაილების საცავს კონფიგურაციით ვცვლით.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ეს არის State pattern-ის ყველაზე თვალსაჩინო ადგილი. შეტყობინება გადის ოთხ მდგომარეობას. ახალი ან მიღებული შეიძლება უარყოფილ იქნეს, გადაჭრილი კი მოქალაქემ შეიძლება ხელახლა გახსნას. თითოეული მდგომარეობის კლასი თავად იცის, სად შეიძლება გადასვლა, ამიტომ, მაგალითად, ახალი პირდაპირ გადაჭრილი ვერ გახდება.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Frontend-ს ცალკე ფრეიმვორკი არ აქვს, View-ები Razor-ზეა. View-ს არასოდეს ვაწვდით ბაზის Entity-ს, მხოლოდ ViewModel-ს, ასე ვმალავთ პერსონალურ მონაცემებს. საერთო ნაწილები Partial View-ებშია, Tag Helper-ები კი ავტომატურად ამატებს CSRF ტოკენს და ვალიდაციას. მარჯვნივ შეტყობინების ფორმის მაგალითია.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MVC-ში endpoint არის Controller-ის action, რომელიც HTML-ს ან გადამისამართებას აბრუნებს. ხუთი ძირითადი: შეტყობინების შექმნა, სია, დეტალები, მინიჭება და სტატუსის ცვლილება. დამატებით ერთი JSON endpoint რუკისთვის, რომ Leaflet-მა ნიშნულები გვერდის გადატვირთვის გარეშე ჩატვირთოს. წვდომას როლებით ვზღუდავთ, ფორმებს CSRF-ისგან ვიცავთ.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ავირჩიეთ, რადგან მონაცემები რელაციურია და სტატუსის ცვლილება ისტორიასთან ერთად ერთ ტრანზაქციაში უნდა შეინახოს. EF Core და Identity რელაციურ ბაზაზეა აგებული. PostGIS გვაძლევს გეო-მოთხოვნებს: რა ჩანს რუკის არეში და არის თუ არა მსგავსი პრობლემა 50 მეტრის რადიუსში. ცენტრში Reports ცხრილია, ფოტოები ბაზის გარეთ ინახება, ბაზაში მხოლოდ ბმულია.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სტეკი: ASP.NET Core 8 MVC, Razor და Bootstrap ინტერფეისისთვის, Leaflet რუკისთვის, Identity ავტორიზაციისთვის, EF Core და PostgreSQL ბაზისთვის. ფონური ამოცანებისთვის Hangfire, რომელიც ცალკე Redis-ს არ საჭიროებს. ტესტები xUnit-ით, დატვირთვის ტესტი k6-ით, CI GitHub Actions-ით და ყველაფერი Docker Compose-ით ერთი ბრძანებით ეშვება.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სამი მთავარი რისკი. პირველი, MVC-სთვის დამახასიათებელი: მსუქანი Controller-ები. ამას ვებრძვით Service ფენით და code review-თ. მეორე, ფოტოებში პერსონალური მონაცემები, რაც იურიდიული სამსახურის ვეტოს საფრთხეა: EXIF-ს ვშლით და საჯაროდ მხოლოდ მოდერირებულ ფოტოს ვაჩვენებთ. მესამე, სისწრაფე და ერთი სერვერი: ქეშირება, ინდექსები და stateless აპლიკაცია, რომ საჭიროებისას მეორე ინსტანსი დავამატოთ.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შეჯამება: ASP.NET Core MVC ფენოვანი მონოლითით, State და Observer pattern-ებით, PostgreSQL და PostGIS ბაზით. კოდი და დოკუმენტაცია რეპოზიტორიაშია. მადლობა, მზად ვართ კითხვებისთვის.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FixIt · არქიტექტურა</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rPr>
              <a:t>FixIt: არქიტექტურის არჩევა</a:t>
            </a: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algn="l" indent="0" marL="0">
              <a:buNone/>
            </a:pPr>
            <a:r>
              <a:rPr lang="en-US" sz="2000" dirty="0">
                <a:solidFill>
                  <a:schemeClr val="bg2"/>
                </a:solidFill>
              </a:rPr>
              <a:t>კომუნალური პრობლემების შეტყობინების სისტემა · ASP.NET Core MVC</a:t>
            </a:r>
            <a:endParaRPr lang="en-US" sz="2000" dirty="0"/>
          </a:p>
          <a:p>
            <a:pPr algn="l" indent="0" marL="0">
              <a:buNone/>
            </a:pPr>
            <a:r>
              <a:rPr lang="en-US" sz="1600" dirty="0">
                <a:solidFill>
                  <a:schemeClr val="accent6"/>
                </a:solidFill>
              </a:rPr>
              <a:t>DevOps And Software Engineering · პრაქტიკული 2 · სცენარი D</a:t>
            </a:r>
            <a:endParaRPr lang="en-US" sz="2000" dirty="0"/>
          </a:p>
        </p:txBody>
      </p:sp>
      <p:sp>
        <p:nvSpPr>
          <p:cNvPr id="4" name="badge-1"/>
          <p:cNvSpPr/>
          <p:nvPr/>
        </p:nvSpPr>
        <p:spPr>
          <a:xfrm>
            <a:off x="731520" y="1097280"/>
            <a:ext cx="640080" cy="640080"/>
          </a:xfrm>
          <a:prstGeom prst="ellipse">
            <a:avLst/>
          </a:prstGeom>
          <a:solidFill>
            <a:schemeClr val="accent1"/>
          </a:solidFill>
          <a:ln/>
        </p:spPr>
      </p:sp>
      <p:sp>
        <p:nvSpPr>
          <p:cNvPr id="5" name="txt-2"/>
          <p:cNvSpPr txBox="1"/>
          <p:nvPr/>
        </p:nvSpPr>
        <p:spPr>
          <a:xfrm>
            <a:off x="731520" y="10972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ვისთვის ვაშენებთ და რა მოთხოვნები გვაქვს</a:t>
            </a:r>
            <a:endParaRPr lang="en-US" sz="3200" dirty="0"/>
          </a:p>
        </p:txBody>
      </p:sp>
      <p:sp>
        <p:nvSpPr>
          <p:cNvPr id="3" name="box-3"/>
          <p:cNvSpPr/>
          <p:nvPr/>
        </p:nvSpPr>
        <p:spPr>
          <a:xfrm>
            <a:off x="548640" y="1325880"/>
            <a:ext cx="5760720" cy="1078992"/>
          </a:xfrm>
          <a:prstGeom prst="roundRect">
            <a:avLst>
              <a:gd name="adj" fmla="val 10169"/>
            </a:avLst>
          </a:prstGeom>
          <a:solidFill>
            <a:schemeClr val="bg2"/>
          </a:solidFill>
          <a:ln/>
        </p:spPr>
      </p:sp>
      <p:sp>
        <p:nvSpPr>
          <p:cNvPr id="4" name="badge-4"/>
          <p:cNvSpPr/>
          <p:nvPr/>
        </p:nvSpPr>
        <p:spPr>
          <a:xfrm>
            <a:off x="777240" y="1554480"/>
            <a:ext cx="457200" cy="457200"/>
          </a:xfrm>
          <a:prstGeom prst="ellipse">
            <a:avLst/>
          </a:prstGeom>
          <a:solidFill>
            <a:schemeClr val="accent1"/>
          </a:solidFill>
          <a:ln/>
        </p:spPr>
      </p:sp>
      <p:sp>
        <p:nvSpPr>
          <p:cNvPr id="5" name="txt-5"/>
          <p:cNvSpPr txBox="1"/>
          <p:nvPr/>
        </p:nvSpPr>
        <p:spPr>
          <a:xfrm>
            <a:off x="7772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xt-6"/>
          <p:cNvSpPr txBox="1"/>
          <p:nvPr/>
        </p:nvSpPr>
        <p:spPr>
          <a:xfrm>
            <a:off x="1417320" y="1554480"/>
            <a:ext cx="4663440" cy="457200"/>
          </a:xfrm>
          <a:prstGeom prst="rect">
            <a:avLst/>
          </a:prstGeom>
          <a:noFill/>
          <a:ln/>
        </p:spPr>
        <p:txBody>
          <a:bodyPr wrap="square" lIns="0" tIns="0" rIns="0" bIns="0" rtlCol="0" anchor="ctr"/>
          <a:lstStyle/>
          <a:p>
            <a:pPr indent="0" marL="0">
              <a:buNone/>
            </a:pPr>
            <a:r>
              <a:rPr lang="en-US" sz="1700" b="1" dirty="0">
                <a:solidFill>
                  <a:schemeClr val="tx1"/>
                </a:solidFill>
              </a:rPr>
              <a:t>მოქალაქე</a:t>
            </a:r>
            <a:endParaRPr lang="en-US" sz="1700" dirty="0"/>
          </a:p>
        </p:txBody>
      </p:sp>
      <p:sp>
        <p:nvSpPr>
          <p:cNvPr id="7" name="txt-7"/>
          <p:cNvSpPr txBox="1"/>
          <p:nvPr/>
        </p:nvSpPr>
        <p:spPr>
          <a:xfrm>
            <a:off x="1417320" y="1965960"/>
            <a:ext cx="4754880" cy="365760"/>
          </a:xfrm>
          <a:prstGeom prst="rect">
            <a:avLst/>
          </a:prstGeom>
          <a:noFill/>
          <a:ln/>
        </p:spPr>
        <p:txBody>
          <a:bodyPr wrap="square" lIns="0" tIns="0" rIns="0" bIns="0" rtlCol="0" anchor="t"/>
          <a:lstStyle/>
          <a:p>
            <a:pPr indent="0" marL="0">
              <a:buNone/>
            </a:pPr>
            <a:r>
              <a:rPr lang="en-US" sz="1400" dirty="0">
                <a:solidFill>
                  <a:schemeClr val="tx2"/>
                </a:solidFill>
              </a:rPr>
              <a:t>აგზავნის შეტყობინებას და ადევნებს სტატუსს</a:t>
            </a:r>
            <a:endParaRPr lang="en-US" sz="1400" dirty="0"/>
          </a:p>
        </p:txBody>
      </p:sp>
      <p:sp>
        <p:nvSpPr>
          <p:cNvPr id="8" name="box-8"/>
          <p:cNvSpPr/>
          <p:nvPr/>
        </p:nvSpPr>
        <p:spPr>
          <a:xfrm>
            <a:off x="548640" y="2542032"/>
            <a:ext cx="5760720" cy="1078992"/>
          </a:xfrm>
          <a:prstGeom prst="roundRect">
            <a:avLst>
              <a:gd name="adj" fmla="val 10169"/>
            </a:avLst>
          </a:prstGeom>
          <a:solidFill>
            <a:schemeClr val="bg2"/>
          </a:solidFill>
          <a:ln/>
        </p:spPr>
      </p:sp>
      <p:sp>
        <p:nvSpPr>
          <p:cNvPr id="9" name="badge-9"/>
          <p:cNvSpPr/>
          <p:nvPr/>
        </p:nvSpPr>
        <p:spPr>
          <a:xfrm>
            <a:off x="777240" y="2770632"/>
            <a:ext cx="457200" cy="457200"/>
          </a:xfrm>
          <a:prstGeom prst="ellipse">
            <a:avLst/>
          </a:prstGeom>
          <a:solidFill>
            <a:schemeClr val="accent1"/>
          </a:solidFill>
          <a:ln/>
        </p:spPr>
      </p:sp>
      <p:sp>
        <p:nvSpPr>
          <p:cNvPr id="10" name="txt-10"/>
          <p:cNvSpPr txBox="1"/>
          <p:nvPr/>
        </p:nvSpPr>
        <p:spPr>
          <a:xfrm>
            <a:off x="777240" y="2770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xt-11"/>
          <p:cNvSpPr txBox="1"/>
          <p:nvPr/>
        </p:nvSpPr>
        <p:spPr>
          <a:xfrm>
            <a:off x="1417320" y="2770632"/>
            <a:ext cx="4663440" cy="457200"/>
          </a:xfrm>
          <a:prstGeom prst="rect">
            <a:avLst/>
          </a:prstGeom>
          <a:noFill/>
          <a:ln/>
        </p:spPr>
        <p:txBody>
          <a:bodyPr wrap="square" lIns="0" tIns="0" rIns="0" bIns="0" rtlCol="0" anchor="ctr"/>
          <a:lstStyle/>
          <a:p>
            <a:pPr indent="0" marL="0">
              <a:buNone/>
            </a:pPr>
            <a:r>
              <a:rPr lang="en-US" sz="1700" b="1" dirty="0">
                <a:solidFill>
                  <a:schemeClr val="tx1"/>
                </a:solidFill>
              </a:rPr>
              <a:t>უწყების მენეჯერი</a:t>
            </a:r>
            <a:endParaRPr lang="en-US" sz="1700" dirty="0"/>
          </a:p>
        </p:txBody>
      </p:sp>
      <p:sp>
        <p:nvSpPr>
          <p:cNvPr id="12" name="txt-12"/>
          <p:cNvSpPr txBox="1"/>
          <p:nvPr/>
        </p:nvSpPr>
        <p:spPr>
          <a:xfrm>
            <a:off x="1417320" y="3182112"/>
            <a:ext cx="4754880" cy="365760"/>
          </a:xfrm>
          <a:prstGeom prst="rect">
            <a:avLst/>
          </a:prstGeom>
          <a:noFill/>
          <a:ln/>
        </p:spPr>
        <p:txBody>
          <a:bodyPr wrap="square" lIns="0" tIns="0" rIns="0" bIns="0" rtlCol="0" anchor="t"/>
          <a:lstStyle/>
          <a:p>
            <a:pPr indent="0" marL="0">
              <a:buNone/>
            </a:pPr>
            <a:r>
              <a:rPr lang="en-US" sz="1400" dirty="0">
                <a:solidFill>
                  <a:schemeClr val="tx2"/>
                </a:solidFill>
              </a:rPr>
              <a:t>იღებს შეტყობინებებს და ანაწილებს ბრიგადებზე</a:t>
            </a:r>
            <a:endParaRPr lang="en-US" sz="1400" dirty="0"/>
          </a:p>
        </p:txBody>
      </p:sp>
      <p:sp>
        <p:nvSpPr>
          <p:cNvPr id="13" name="box-13"/>
          <p:cNvSpPr/>
          <p:nvPr/>
        </p:nvSpPr>
        <p:spPr>
          <a:xfrm>
            <a:off x="548640" y="3758184"/>
            <a:ext cx="5760720" cy="1078992"/>
          </a:xfrm>
          <a:prstGeom prst="roundRect">
            <a:avLst>
              <a:gd name="adj" fmla="val 10169"/>
            </a:avLst>
          </a:prstGeom>
          <a:solidFill>
            <a:schemeClr val="bg2"/>
          </a:solidFill>
          <a:ln/>
        </p:spPr>
      </p:sp>
      <p:sp>
        <p:nvSpPr>
          <p:cNvPr id="14" name="badge-14"/>
          <p:cNvSpPr/>
          <p:nvPr/>
        </p:nvSpPr>
        <p:spPr>
          <a:xfrm>
            <a:off x="777240" y="3986784"/>
            <a:ext cx="457200" cy="457200"/>
          </a:xfrm>
          <a:prstGeom prst="ellipse">
            <a:avLst/>
          </a:prstGeom>
          <a:solidFill>
            <a:schemeClr val="accent1"/>
          </a:solidFill>
          <a:ln/>
        </p:spPr>
      </p:sp>
      <p:sp>
        <p:nvSpPr>
          <p:cNvPr id="15" name="txt-15"/>
          <p:cNvSpPr txBox="1"/>
          <p:nvPr/>
        </p:nvSpPr>
        <p:spPr>
          <a:xfrm>
            <a:off x="777240" y="39867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xt-16"/>
          <p:cNvSpPr txBox="1"/>
          <p:nvPr/>
        </p:nvSpPr>
        <p:spPr>
          <a:xfrm>
            <a:off x="1417320" y="3986784"/>
            <a:ext cx="4663440" cy="457200"/>
          </a:xfrm>
          <a:prstGeom prst="rect">
            <a:avLst/>
          </a:prstGeom>
          <a:noFill/>
          <a:ln/>
        </p:spPr>
        <p:txBody>
          <a:bodyPr wrap="square" lIns="0" tIns="0" rIns="0" bIns="0" rtlCol="0" anchor="ctr"/>
          <a:lstStyle/>
          <a:p>
            <a:pPr indent="0" marL="0">
              <a:buNone/>
            </a:pPr>
            <a:r>
              <a:rPr lang="en-US" sz="1700" b="1" dirty="0">
                <a:solidFill>
                  <a:schemeClr val="tx1"/>
                </a:solidFill>
              </a:rPr>
              <a:t>ბრიგადა</a:t>
            </a:r>
            <a:endParaRPr lang="en-US" sz="1700" dirty="0"/>
          </a:p>
        </p:txBody>
      </p:sp>
      <p:sp>
        <p:nvSpPr>
          <p:cNvPr id="17" name="txt-17"/>
          <p:cNvSpPr txBox="1"/>
          <p:nvPr/>
        </p:nvSpPr>
        <p:spPr>
          <a:xfrm>
            <a:off x="1417320" y="4398264"/>
            <a:ext cx="4754880" cy="365760"/>
          </a:xfrm>
          <a:prstGeom prst="rect">
            <a:avLst/>
          </a:prstGeom>
          <a:noFill/>
          <a:ln/>
        </p:spPr>
        <p:txBody>
          <a:bodyPr wrap="square" lIns="0" tIns="0" rIns="0" bIns="0" rtlCol="0" anchor="t"/>
          <a:lstStyle/>
          <a:p>
            <a:pPr indent="0" marL="0">
              <a:buNone/>
            </a:pPr>
            <a:r>
              <a:rPr lang="en-US" sz="1400" dirty="0">
                <a:solidFill>
                  <a:schemeClr val="tx2"/>
                </a:solidFill>
              </a:rPr>
              <a:t>ასრულებს ამოცანებს ფოტოდადასტურებით</a:t>
            </a:r>
            <a:endParaRPr lang="en-US" sz="1400" dirty="0"/>
          </a:p>
        </p:txBody>
      </p:sp>
      <p:sp>
        <p:nvSpPr>
          <p:cNvPr id="18" name="box-18"/>
          <p:cNvSpPr/>
          <p:nvPr/>
        </p:nvSpPr>
        <p:spPr>
          <a:xfrm>
            <a:off x="548640" y="4974336"/>
            <a:ext cx="5760720" cy="1078992"/>
          </a:xfrm>
          <a:prstGeom prst="roundRect">
            <a:avLst>
              <a:gd name="adj" fmla="val 10169"/>
            </a:avLst>
          </a:prstGeom>
          <a:solidFill>
            <a:schemeClr val="bg2"/>
          </a:solidFill>
          <a:ln/>
        </p:spPr>
      </p:sp>
      <p:sp>
        <p:nvSpPr>
          <p:cNvPr id="19" name="badge-19"/>
          <p:cNvSpPr/>
          <p:nvPr/>
        </p:nvSpPr>
        <p:spPr>
          <a:xfrm>
            <a:off x="777240" y="5202936"/>
            <a:ext cx="457200" cy="457200"/>
          </a:xfrm>
          <a:prstGeom prst="ellipse">
            <a:avLst/>
          </a:prstGeom>
          <a:solidFill>
            <a:schemeClr val="accent1"/>
          </a:solidFill>
          <a:ln/>
        </p:spPr>
      </p:sp>
      <p:sp>
        <p:nvSpPr>
          <p:cNvPr id="20" name="txt-20"/>
          <p:cNvSpPr txBox="1"/>
          <p:nvPr/>
        </p:nvSpPr>
        <p:spPr>
          <a:xfrm>
            <a:off x="777240" y="52029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xt-21"/>
          <p:cNvSpPr txBox="1"/>
          <p:nvPr/>
        </p:nvSpPr>
        <p:spPr>
          <a:xfrm>
            <a:off x="1417320" y="5202936"/>
            <a:ext cx="4663440" cy="457200"/>
          </a:xfrm>
          <a:prstGeom prst="rect">
            <a:avLst/>
          </a:prstGeom>
          <a:noFill/>
          <a:ln/>
        </p:spPr>
        <p:txBody>
          <a:bodyPr wrap="square" lIns="0" tIns="0" rIns="0" bIns="0" rtlCol="0" anchor="ctr"/>
          <a:lstStyle/>
          <a:p>
            <a:pPr indent="0" marL="0">
              <a:buNone/>
            </a:pPr>
            <a:r>
              <a:rPr lang="en-US" sz="1700" b="1" dirty="0">
                <a:solidFill>
                  <a:schemeClr val="tx1"/>
                </a:solidFill>
              </a:rPr>
              <a:t>ადმინი</a:t>
            </a:r>
            <a:endParaRPr lang="en-US" sz="1700" dirty="0"/>
          </a:p>
        </p:txBody>
      </p:sp>
      <p:sp>
        <p:nvSpPr>
          <p:cNvPr id="22" name="txt-22"/>
          <p:cNvSpPr txBox="1"/>
          <p:nvPr/>
        </p:nvSpPr>
        <p:spPr>
          <a:xfrm>
            <a:off x="1417320" y="5614416"/>
            <a:ext cx="4754880" cy="365760"/>
          </a:xfrm>
          <a:prstGeom prst="rect">
            <a:avLst/>
          </a:prstGeom>
          <a:noFill/>
          <a:ln/>
        </p:spPr>
        <p:txBody>
          <a:bodyPr wrap="square" lIns="0" tIns="0" rIns="0" bIns="0" rtlCol="0" anchor="t"/>
          <a:lstStyle/>
          <a:p>
            <a:pPr indent="0" marL="0">
              <a:buNone/>
            </a:pPr>
            <a:r>
              <a:rPr lang="en-US" sz="1400" dirty="0">
                <a:solidFill>
                  <a:schemeClr val="tx2"/>
                </a:solidFill>
              </a:rPr>
              <a:t>მართავს მომხმარებლებს, როლებს და კატეგორიებს</a:t>
            </a:r>
            <a:endParaRPr lang="en-US" sz="1400" dirty="0"/>
          </a:p>
        </p:txBody>
      </p:sp>
      <p:sp>
        <p:nvSpPr>
          <p:cNvPr id="23" name="box-23"/>
          <p:cNvSpPr/>
          <p:nvPr/>
        </p:nvSpPr>
        <p:spPr>
          <a:xfrm>
            <a:off x="6766560" y="1325880"/>
            <a:ext cx="2286000" cy="2240280"/>
          </a:xfrm>
          <a:prstGeom prst="roundRect">
            <a:avLst>
              <a:gd name="adj" fmla="val 4898"/>
            </a:avLst>
          </a:prstGeom>
          <a:solidFill>
            <a:schemeClr val="bg1"/>
          </a:solidFill>
          <a:ln w="19050">
            <a:solidFill>
              <a:srgbClr val="EEF2F4"/>
            </a:solidFill>
            <a:prstDash val="solid"/>
          </a:ln>
        </p:spPr>
      </p:sp>
      <p:sp>
        <p:nvSpPr>
          <p:cNvPr id="24" name="txt-24"/>
          <p:cNvSpPr txBox="1"/>
          <p:nvPr/>
        </p:nvSpPr>
        <p:spPr>
          <a:xfrm>
            <a:off x="6949440" y="1645920"/>
            <a:ext cx="1920240" cy="822960"/>
          </a:xfrm>
          <a:prstGeom prst="rect">
            <a:avLst/>
          </a:prstGeom>
          <a:noFill/>
          <a:ln/>
        </p:spPr>
        <p:txBody>
          <a:bodyPr wrap="square" lIns="0" tIns="0" rIns="0" bIns="0" rtlCol="0" anchor="t"/>
          <a:lstStyle/>
          <a:p>
            <a:pPr algn="l" indent="0" marL="0">
              <a:buNone/>
            </a:pPr>
            <a:r>
              <a:rPr lang="en-US" sz="4000" b="1" dirty="0">
                <a:solidFill>
                  <a:schemeClr val="accent1"/>
                </a:solidFill>
                <a:latin typeface="Segoe UI Semibold" pitchFamily="34" charset="0"/>
                <a:ea typeface="Segoe UI Semibold" pitchFamily="34" charset="-122"/>
                <a:cs typeface="Segoe UI Semibold" pitchFamily="34" charset="-120"/>
              </a:rPr>
              <a:t>2 წმ</a:t>
            </a:r>
            <a:endParaRPr lang="en-US" sz="4000" dirty="0"/>
          </a:p>
        </p:txBody>
      </p:sp>
      <p:sp>
        <p:nvSpPr>
          <p:cNvPr id="25" name="txt-25"/>
          <p:cNvSpPr txBox="1"/>
          <p:nvPr/>
        </p:nvSpPr>
        <p:spPr>
          <a:xfrm>
            <a:off x="6949440" y="2560320"/>
            <a:ext cx="1920240" cy="822960"/>
          </a:xfrm>
          <a:prstGeom prst="rect">
            <a:avLst/>
          </a:prstGeom>
          <a:noFill/>
          <a:ln/>
        </p:spPr>
        <p:txBody>
          <a:bodyPr wrap="square" lIns="0" tIns="0" rIns="0" bIns="0" rtlCol="0" anchor="t"/>
          <a:lstStyle/>
          <a:p>
            <a:pPr indent="0" marL="0">
              <a:buNone/>
            </a:pPr>
            <a:r>
              <a:rPr lang="en-US" sz="1400" dirty="0">
                <a:solidFill>
                  <a:schemeClr val="tx2"/>
                </a:solidFill>
              </a:rPr>
              <a:t>სია და რუკა იტვირთება (NFR-1)</a:t>
            </a:r>
            <a:endParaRPr lang="en-US" sz="1400" dirty="0"/>
          </a:p>
        </p:txBody>
      </p:sp>
      <p:sp>
        <p:nvSpPr>
          <p:cNvPr id="26" name="box-26"/>
          <p:cNvSpPr/>
          <p:nvPr/>
        </p:nvSpPr>
        <p:spPr>
          <a:xfrm>
            <a:off x="9281160" y="1325880"/>
            <a:ext cx="2286000" cy="2240280"/>
          </a:xfrm>
          <a:prstGeom prst="roundRect">
            <a:avLst>
              <a:gd name="adj" fmla="val 4898"/>
            </a:avLst>
          </a:prstGeom>
          <a:solidFill>
            <a:schemeClr val="bg1"/>
          </a:solidFill>
          <a:ln w="19050">
            <a:solidFill>
              <a:srgbClr val="EEF2F4"/>
            </a:solidFill>
            <a:prstDash val="solid"/>
          </a:ln>
        </p:spPr>
      </p:sp>
      <p:sp>
        <p:nvSpPr>
          <p:cNvPr id="27" name="txt-27"/>
          <p:cNvSpPr txBox="1"/>
          <p:nvPr/>
        </p:nvSpPr>
        <p:spPr>
          <a:xfrm>
            <a:off x="9464040" y="1645920"/>
            <a:ext cx="1920240" cy="822960"/>
          </a:xfrm>
          <a:prstGeom prst="rect">
            <a:avLst/>
          </a:prstGeom>
          <a:noFill/>
          <a:ln/>
        </p:spPr>
        <p:txBody>
          <a:bodyPr wrap="square" lIns="0" tIns="0" rIns="0" bIns="0" rtlCol="0" anchor="t"/>
          <a:lstStyle/>
          <a:p>
            <a:pPr algn="l" indent="0" marL="0">
              <a:buNone/>
            </a:pPr>
            <a:r>
              <a:rPr lang="en-US" sz="4000" b="1" dirty="0">
                <a:solidFill>
                  <a:schemeClr val="accent1"/>
                </a:solidFill>
                <a:latin typeface="Segoe UI Semibold" pitchFamily="34" charset="0"/>
                <a:ea typeface="Segoe UI Semibold" pitchFamily="34" charset="-122"/>
                <a:cs typeface="Segoe UI Semibold" pitchFamily="34" charset="-120"/>
              </a:rPr>
              <a:t>500</a:t>
            </a:r>
            <a:endParaRPr lang="en-US" sz="4000" dirty="0"/>
          </a:p>
        </p:txBody>
      </p:sp>
      <p:sp>
        <p:nvSpPr>
          <p:cNvPr id="28" name="txt-28"/>
          <p:cNvSpPr txBox="1"/>
          <p:nvPr/>
        </p:nvSpPr>
        <p:spPr>
          <a:xfrm>
            <a:off x="9464040" y="2560320"/>
            <a:ext cx="1920240" cy="822960"/>
          </a:xfrm>
          <a:prstGeom prst="rect">
            <a:avLst/>
          </a:prstGeom>
          <a:noFill/>
          <a:ln/>
        </p:spPr>
        <p:txBody>
          <a:bodyPr wrap="square" lIns="0" tIns="0" rIns="0" bIns="0" rtlCol="0" anchor="t"/>
          <a:lstStyle/>
          <a:p>
            <a:pPr indent="0" marL="0">
              <a:buNone/>
            </a:pPr>
            <a:r>
              <a:rPr lang="en-US" sz="1400" dirty="0">
                <a:solidFill>
                  <a:schemeClr val="tx2"/>
                </a:solidFill>
              </a:rPr>
              <a:t>ერთდროული მომხმარებელი (NFR-2)</a:t>
            </a:r>
            <a:endParaRPr lang="en-US" sz="1400" dirty="0"/>
          </a:p>
        </p:txBody>
      </p:sp>
      <p:sp>
        <p:nvSpPr>
          <p:cNvPr id="29" name="box-29"/>
          <p:cNvSpPr/>
          <p:nvPr/>
        </p:nvSpPr>
        <p:spPr>
          <a:xfrm>
            <a:off x="6766560" y="3749040"/>
            <a:ext cx="2286000" cy="2240280"/>
          </a:xfrm>
          <a:prstGeom prst="roundRect">
            <a:avLst>
              <a:gd name="adj" fmla="val 4898"/>
            </a:avLst>
          </a:prstGeom>
          <a:solidFill>
            <a:schemeClr val="bg1"/>
          </a:solidFill>
          <a:ln w="19050">
            <a:solidFill>
              <a:srgbClr val="EEF2F4"/>
            </a:solidFill>
            <a:prstDash val="solid"/>
          </a:ln>
        </p:spPr>
      </p:sp>
      <p:sp>
        <p:nvSpPr>
          <p:cNvPr id="30" name="txt-30"/>
          <p:cNvSpPr txBox="1"/>
          <p:nvPr/>
        </p:nvSpPr>
        <p:spPr>
          <a:xfrm>
            <a:off x="6949440" y="4069080"/>
            <a:ext cx="1920240" cy="822960"/>
          </a:xfrm>
          <a:prstGeom prst="rect">
            <a:avLst/>
          </a:prstGeom>
          <a:noFill/>
          <a:ln/>
        </p:spPr>
        <p:txBody>
          <a:bodyPr wrap="square" lIns="0" tIns="0" rIns="0" bIns="0" rtlCol="0" anchor="t"/>
          <a:lstStyle/>
          <a:p>
            <a:pPr algn="l" indent="0" marL="0">
              <a:buNone/>
            </a:pPr>
            <a:r>
              <a:rPr lang="en-US" sz="4000" b="1" dirty="0">
                <a:solidFill>
                  <a:schemeClr val="accent1"/>
                </a:solidFill>
                <a:latin typeface="Segoe UI Semibold" pitchFamily="34" charset="0"/>
                <a:ea typeface="Segoe UI Semibold" pitchFamily="34" charset="-122"/>
                <a:cs typeface="Segoe UI Semibold" pitchFamily="34" charset="-120"/>
              </a:rPr>
              <a:t>10 MB</a:t>
            </a:r>
            <a:endParaRPr lang="en-US" sz="4000" dirty="0"/>
          </a:p>
        </p:txBody>
      </p:sp>
      <p:sp>
        <p:nvSpPr>
          <p:cNvPr id="31" name="txt-31"/>
          <p:cNvSpPr txBox="1"/>
          <p:nvPr/>
        </p:nvSpPr>
        <p:spPr>
          <a:xfrm>
            <a:off x="6949440" y="4983480"/>
            <a:ext cx="1920240" cy="822960"/>
          </a:xfrm>
          <a:prstGeom prst="rect">
            <a:avLst/>
          </a:prstGeom>
          <a:noFill/>
          <a:ln/>
        </p:spPr>
        <p:txBody>
          <a:bodyPr wrap="square" lIns="0" tIns="0" rIns="0" bIns="0" rtlCol="0" anchor="t"/>
          <a:lstStyle/>
          <a:p>
            <a:pPr indent="0" marL="0">
              <a:buNone/>
            </a:pPr>
            <a:r>
              <a:rPr lang="en-US" sz="1400" dirty="0">
                <a:solidFill>
                  <a:schemeClr val="tx2"/>
                </a:solidFill>
              </a:rPr>
              <a:t>ფოტო, იკუმშება ≤ 1 MB-მდე (NFR-3)</a:t>
            </a:r>
            <a:endParaRPr lang="en-US" sz="1400" dirty="0"/>
          </a:p>
        </p:txBody>
      </p:sp>
      <p:sp>
        <p:nvSpPr>
          <p:cNvPr id="32" name="box-32"/>
          <p:cNvSpPr/>
          <p:nvPr/>
        </p:nvSpPr>
        <p:spPr>
          <a:xfrm>
            <a:off x="9281160" y="3749040"/>
            <a:ext cx="2286000" cy="2240280"/>
          </a:xfrm>
          <a:prstGeom prst="roundRect">
            <a:avLst>
              <a:gd name="adj" fmla="val 4898"/>
            </a:avLst>
          </a:prstGeom>
          <a:solidFill>
            <a:schemeClr val="bg1"/>
          </a:solidFill>
          <a:ln w="19050">
            <a:solidFill>
              <a:srgbClr val="EEF2F4"/>
            </a:solidFill>
            <a:prstDash val="solid"/>
          </a:ln>
        </p:spPr>
      </p:sp>
      <p:sp>
        <p:nvSpPr>
          <p:cNvPr id="33" name="txt-33"/>
          <p:cNvSpPr txBox="1"/>
          <p:nvPr/>
        </p:nvSpPr>
        <p:spPr>
          <a:xfrm>
            <a:off x="9464040" y="4069080"/>
            <a:ext cx="1920240" cy="822960"/>
          </a:xfrm>
          <a:prstGeom prst="rect">
            <a:avLst/>
          </a:prstGeom>
          <a:noFill/>
          <a:ln/>
        </p:spPr>
        <p:txBody>
          <a:bodyPr wrap="square" lIns="0" tIns="0" rIns="0" bIns="0" rtlCol="0" anchor="t"/>
          <a:lstStyle/>
          <a:p>
            <a:pPr algn="l" indent="0" marL="0">
              <a:buNone/>
            </a:pPr>
            <a:r>
              <a:rPr lang="en-US" sz="4000" b="1" dirty="0">
                <a:solidFill>
                  <a:schemeClr val="accent1"/>
                </a:solidFill>
                <a:latin typeface="Segoe UI Semibold" pitchFamily="34" charset="0"/>
                <a:ea typeface="Segoe UI Semibold" pitchFamily="34" charset="-122"/>
                <a:cs typeface="Segoe UI Semibold" pitchFamily="34" charset="-120"/>
              </a:rPr>
              <a:t>31</a:t>
            </a:r>
            <a:endParaRPr lang="en-US" sz="4000" dirty="0"/>
          </a:p>
        </p:txBody>
      </p:sp>
      <p:sp>
        <p:nvSpPr>
          <p:cNvPr id="34" name="txt-34"/>
          <p:cNvSpPr txBox="1"/>
          <p:nvPr/>
        </p:nvSpPr>
        <p:spPr>
          <a:xfrm>
            <a:off x="9464040" y="4983480"/>
            <a:ext cx="1920240" cy="822960"/>
          </a:xfrm>
          <a:prstGeom prst="rect">
            <a:avLst/>
          </a:prstGeom>
          <a:noFill/>
          <a:ln/>
        </p:spPr>
        <p:txBody>
          <a:bodyPr wrap="square" lIns="0" tIns="0" rIns="0" bIns="0" rtlCol="0" anchor="t"/>
          <a:lstStyle/>
          <a:p>
            <a:pPr indent="0" marL="0">
              <a:buNone/>
            </a:pPr>
            <a:r>
              <a:rPr lang="en-US" sz="1400" dirty="0">
                <a:solidFill>
                  <a:schemeClr val="tx2"/>
                </a:solidFill>
              </a:rPr>
              <a:t>ქულა MVP-ში, 9 story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სტილი: MVC + ფენოვანი მონოლითი</a:t>
            </a:r>
            <a:endParaRPr lang="en-US" sz="3200" dirty="0"/>
          </a:p>
        </p:txBody>
      </p:sp>
      <p:sp>
        <p:nvSpPr>
          <p:cNvPr id="3" name="box-35"/>
          <p:cNvSpPr/>
          <p:nvPr/>
        </p:nvSpPr>
        <p:spPr>
          <a:xfrm>
            <a:off x="548640" y="1325880"/>
            <a:ext cx="4480560" cy="822960"/>
          </a:xfrm>
          <a:prstGeom prst="roundRect">
            <a:avLst>
              <a:gd name="adj" fmla="val 13333"/>
            </a:avLst>
          </a:prstGeom>
          <a:solidFill>
            <a:schemeClr val="accent1"/>
          </a:solidFill>
          <a:ln/>
        </p:spPr>
      </p:sp>
      <p:sp>
        <p:nvSpPr>
          <p:cNvPr id="4" name="txt-36"/>
          <p:cNvSpPr txBox="1"/>
          <p:nvPr/>
        </p:nvSpPr>
        <p:spPr>
          <a:xfrm>
            <a:off x="777240" y="1435608"/>
            <a:ext cx="4023360" cy="329184"/>
          </a:xfrm>
          <a:prstGeom prst="rect">
            <a:avLst/>
          </a:prstGeom>
          <a:noFill/>
          <a:ln/>
        </p:spPr>
        <p:txBody>
          <a:bodyPr wrap="square" lIns="0" tIns="0" rIns="0" bIns="0" rtlCol="0" anchor="t"/>
          <a:lstStyle/>
          <a:p>
            <a:pPr indent="0" marL="0">
              <a:buNone/>
            </a:pPr>
            <a:r>
              <a:rPr lang="en-US" sz="1600" b="1" dirty="0">
                <a:solidFill>
                  <a:schemeClr val="bg1"/>
                </a:solidFill>
              </a:rPr>
              <a:t>Controller</a:t>
            </a:r>
            <a:endParaRPr lang="en-US" sz="1600" dirty="0"/>
          </a:p>
        </p:txBody>
      </p:sp>
      <p:sp>
        <p:nvSpPr>
          <p:cNvPr id="5" name="txt-37"/>
          <p:cNvSpPr txBox="1"/>
          <p:nvPr/>
        </p:nvSpPr>
        <p:spPr>
          <a:xfrm>
            <a:off x="777240" y="1764792"/>
            <a:ext cx="4023360" cy="292608"/>
          </a:xfrm>
          <a:prstGeom prst="rect">
            <a:avLst/>
          </a:prstGeom>
          <a:noFill/>
          <a:ln/>
        </p:spPr>
        <p:txBody>
          <a:bodyPr wrap="square" lIns="0" tIns="0" rIns="0" bIns="0" rtlCol="0" anchor="t"/>
          <a:lstStyle/>
          <a:p>
            <a:pPr indent="0" marL="0">
              <a:buNone/>
            </a:pPr>
            <a:r>
              <a:rPr lang="en-US" sz="1400" dirty="0">
                <a:solidFill>
                  <a:schemeClr val="bg1"/>
                </a:solidFill>
              </a:rPr>
              <a:t>იღებს მოთხოვნას, ირჩევს View-ს</a:t>
            </a:r>
            <a:endParaRPr lang="en-US" sz="1400" dirty="0"/>
          </a:p>
        </p:txBody>
      </p:sp>
      <p:sp>
        <p:nvSpPr>
          <p:cNvPr id="6" name="box-38"/>
          <p:cNvSpPr/>
          <p:nvPr/>
        </p:nvSpPr>
        <p:spPr>
          <a:xfrm>
            <a:off x="548640" y="2304288"/>
            <a:ext cx="4480560" cy="822960"/>
          </a:xfrm>
          <a:prstGeom prst="roundRect">
            <a:avLst>
              <a:gd name="adj" fmla="val 13333"/>
            </a:avLst>
          </a:prstGeom>
          <a:solidFill>
            <a:schemeClr val="accent2"/>
          </a:solidFill>
          <a:ln/>
        </p:spPr>
      </p:sp>
      <p:sp>
        <p:nvSpPr>
          <p:cNvPr id="7" name="txt-39"/>
          <p:cNvSpPr txBox="1"/>
          <p:nvPr/>
        </p:nvSpPr>
        <p:spPr>
          <a:xfrm>
            <a:off x="777240" y="2414016"/>
            <a:ext cx="4023360" cy="329184"/>
          </a:xfrm>
          <a:prstGeom prst="rect">
            <a:avLst/>
          </a:prstGeom>
          <a:noFill/>
          <a:ln/>
        </p:spPr>
        <p:txBody>
          <a:bodyPr wrap="square" lIns="0" tIns="0" rIns="0" bIns="0" rtlCol="0" anchor="t"/>
          <a:lstStyle/>
          <a:p>
            <a:pPr indent="0" marL="0">
              <a:buNone/>
            </a:pPr>
            <a:r>
              <a:rPr lang="en-US" sz="1600" b="1" dirty="0">
                <a:solidFill>
                  <a:schemeClr val="bg1"/>
                </a:solidFill>
              </a:rPr>
              <a:t>View (Razor)</a:t>
            </a:r>
            <a:endParaRPr lang="en-US" sz="1600" dirty="0"/>
          </a:p>
        </p:txBody>
      </p:sp>
      <p:sp>
        <p:nvSpPr>
          <p:cNvPr id="8" name="txt-40"/>
          <p:cNvSpPr txBox="1"/>
          <p:nvPr/>
        </p:nvSpPr>
        <p:spPr>
          <a:xfrm>
            <a:off x="777240" y="2743200"/>
            <a:ext cx="4023360" cy="292608"/>
          </a:xfrm>
          <a:prstGeom prst="rect">
            <a:avLst/>
          </a:prstGeom>
          <a:noFill/>
          <a:ln/>
        </p:spPr>
        <p:txBody>
          <a:bodyPr wrap="square" lIns="0" tIns="0" rIns="0" bIns="0" rtlCol="0" anchor="t"/>
          <a:lstStyle/>
          <a:p>
            <a:pPr indent="0" marL="0">
              <a:buNone/>
            </a:pPr>
            <a:r>
              <a:rPr lang="en-US" sz="1400" dirty="0">
                <a:solidFill>
                  <a:schemeClr val="bg1"/>
                </a:solidFill>
              </a:rPr>
              <a:t>აგენერირებს HTML-ს</a:t>
            </a:r>
            <a:endParaRPr lang="en-US" sz="1400" dirty="0"/>
          </a:p>
        </p:txBody>
      </p:sp>
      <p:sp>
        <p:nvSpPr>
          <p:cNvPr id="9" name="box-41"/>
          <p:cNvSpPr/>
          <p:nvPr/>
        </p:nvSpPr>
        <p:spPr>
          <a:xfrm>
            <a:off x="548640" y="3282696"/>
            <a:ext cx="4480560" cy="822960"/>
          </a:xfrm>
          <a:prstGeom prst="roundRect">
            <a:avLst>
              <a:gd name="adj" fmla="val 13333"/>
            </a:avLst>
          </a:prstGeom>
          <a:solidFill>
            <a:schemeClr val="accent3"/>
          </a:solidFill>
          <a:ln/>
        </p:spPr>
      </p:sp>
      <p:sp>
        <p:nvSpPr>
          <p:cNvPr id="10" name="txt-42"/>
          <p:cNvSpPr txBox="1"/>
          <p:nvPr/>
        </p:nvSpPr>
        <p:spPr>
          <a:xfrm>
            <a:off x="777240" y="3392424"/>
            <a:ext cx="4023360" cy="329184"/>
          </a:xfrm>
          <a:prstGeom prst="rect">
            <a:avLst/>
          </a:prstGeom>
          <a:noFill/>
          <a:ln/>
        </p:spPr>
        <p:txBody>
          <a:bodyPr wrap="square" lIns="0" tIns="0" rIns="0" bIns="0" rtlCol="0" anchor="t"/>
          <a:lstStyle/>
          <a:p>
            <a:pPr indent="0" marL="0">
              <a:buNone/>
            </a:pPr>
            <a:r>
              <a:rPr lang="en-US" sz="1600" b="1" dirty="0">
                <a:solidFill>
                  <a:schemeClr val="bg1"/>
                </a:solidFill>
              </a:rPr>
              <a:t>Model</a:t>
            </a:r>
            <a:endParaRPr lang="en-US" sz="1600" dirty="0"/>
          </a:p>
        </p:txBody>
      </p:sp>
      <p:sp>
        <p:nvSpPr>
          <p:cNvPr id="11" name="txt-43"/>
          <p:cNvSpPr txBox="1"/>
          <p:nvPr/>
        </p:nvSpPr>
        <p:spPr>
          <a:xfrm>
            <a:off x="777240" y="3721608"/>
            <a:ext cx="4023360" cy="292608"/>
          </a:xfrm>
          <a:prstGeom prst="rect">
            <a:avLst/>
          </a:prstGeom>
          <a:noFill/>
          <a:ln/>
        </p:spPr>
        <p:txBody>
          <a:bodyPr wrap="square" lIns="0" tIns="0" rIns="0" bIns="0" rtlCol="0" anchor="t"/>
          <a:lstStyle/>
          <a:p>
            <a:pPr indent="0" marL="0">
              <a:buNone/>
            </a:pPr>
            <a:r>
              <a:rPr lang="en-US" sz="1400" dirty="0">
                <a:solidFill>
                  <a:schemeClr val="bg1"/>
                </a:solidFill>
              </a:rPr>
              <a:t>Entity-ები, ViewModel-ები, წესები</a:t>
            </a:r>
            <a:endParaRPr lang="en-US" sz="1400" dirty="0"/>
          </a:p>
        </p:txBody>
      </p:sp>
      <p:sp>
        <p:nvSpPr>
          <p:cNvPr id="12" name="box-44"/>
          <p:cNvSpPr/>
          <p:nvPr/>
        </p:nvSpPr>
        <p:spPr>
          <a:xfrm>
            <a:off x="548640" y="4261104"/>
            <a:ext cx="4480560" cy="822960"/>
          </a:xfrm>
          <a:prstGeom prst="roundRect">
            <a:avLst>
              <a:gd name="adj" fmla="val 13333"/>
            </a:avLst>
          </a:prstGeom>
          <a:solidFill>
            <a:schemeClr val="tx2"/>
          </a:solidFill>
          <a:ln/>
        </p:spPr>
      </p:sp>
      <p:sp>
        <p:nvSpPr>
          <p:cNvPr id="13" name="txt-45"/>
          <p:cNvSpPr txBox="1"/>
          <p:nvPr/>
        </p:nvSpPr>
        <p:spPr>
          <a:xfrm>
            <a:off x="777240" y="4370832"/>
            <a:ext cx="4023360" cy="329184"/>
          </a:xfrm>
          <a:prstGeom prst="rect">
            <a:avLst/>
          </a:prstGeom>
          <a:noFill/>
          <a:ln/>
        </p:spPr>
        <p:txBody>
          <a:bodyPr wrap="square" lIns="0" tIns="0" rIns="0" bIns="0" rtlCol="0" anchor="t"/>
          <a:lstStyle/>
          <a:p>
            <a:pPr indent="0" marL="0">
              <a:buNone/>
            </a:pPr>
            <a:r>
              <a:rPr lang="en-US" sz="1600" b="1" dirty="0">
                <a:solidFill>
                  <a:schemeClr val="bg1"/>
                </a:solidFill>
              </a:rPr>
              <a:t>Service</a:t>
            </a:r>
            <a:endParaRPr lang="en-US" sz="1600" dirty="0"/>
          </a:p>
        </p:txBody>
      </p:sp>
      <p:sp>
        <p:nvSpPr>
          <p:cNvPr id="14" name="txt-46"/>
          <p:cNvSpPr txBox="1"/>
          <p:nvPr/>
        </p:nvSpPr>
        <p:spPr>
          <a:xfrm>
            <a:off x="777240" y="4700016"/>
            <a:ext cx="4023360" cy="292608"/>
          </a:xfrm>
          <a:prstGeom prst="rect">
            <a:avLst/>
          </a:prstGeom>
          <a:noFill/>
          <a:ln/>
        </p:spPr>
        <p:txBody>
          <a:bodyPr wrap="square" lIns="0" tIns="0" rIns="0" bIns="0" rtlCol="0" anchor="t"/>
          <a:lstStyle/>
          <a:p>
            <a:pPr indent="0" marL="0">
              <a:buNone/>
            </a:pPr>
            <a:r>
              <a:rPr lang="en-US" sz="1400" dirty="0">
                <a:solidFill>
                  <a:schemeClr val="bg1"/>
                </a:solidFill>
              </a:rPr>
              <a:t>ბიზნეს-ლოგიკა</a:t>
            </a:r>
            <a:endParaRPr lang="en-US" sz="1400" dirty="0"/>
          </a:p>
        </p:txBody>
      </p:sp>
      <p:sp>
        <p:nvSpPr>
          <p:cNvPr id="15" name="box-47"/>
          <p:cNvSpPr/>
          <p:nvPr/>
        </p:nvSpPr>
        <p:spPr>
          <a:xfrm>
            <a:off x="548640" y="5239512"/>
            <a:ext cx="4480560" cy="822960"/>
          </a:xfrm>
          <a:prstGeom prst="roundRect">
            <a:avLst>
              <a:gd name="adj" fmla="val 13333"/>
            </a:avLst>
          </a:prstGeom>
          <a:solidFill>
            <a:schemeClr val="tx1"/>
          </a:solidFill>
          <a:ln/>
        </p:spPr>
      </p:sp>
      <p:sp>
        <p:nvSpPr>
          <p:cNvPr id="16" name="txt-48"/>
          <p:cNvSpPr txBox="1"/>
          <p:nvPr/>
        </p:nvSpPr>
        <p:spPr>
          <a:xfrm>
            <a:off x="777240" y="5349240"/>
            <a:ext cx="4023360" cy="329184"/>
          </a:xfrm>
          <a:prstGeom prst="rect">
            <a:avLst/>
          </a:prstGeom>
          <a:noFill/>
          <a:ln/>
        </p:spPr>
        <p:txBody>
          <a:bodyPr wrap="square" lIns="0" tIns="0" rIns="0" bIns="0" rtlCol="0" anchor="t"/>
          <a:lstStyle/>
          <a:p>
            <a:pPr indent="0" marL="0">
              <a:buNone/>
            </a:pPr>
            <a:r>
              <a:rPr lang="en-US" sz="1600" b="1" dirty="0">
                <a:solidFill>
                  <a:schemeClr val="bg1"/>
                </a:solidFill>
              </a:rPr>
              <a:t>Data (EF Core)</a:t>
            </a:r>
            <a:endParaRPr lang="en-US" sz="1600" dirty="0"/>
          </a:p>
        </p:txBody>
      </p:sp>
      <p:sp>
        <p:nvSpPr>
          <p:cNvPr id="17" name="txt-49"/>
          <p:cNvSpPr txBox="1"/>
          <p:nvPr/>
        </p:nvSpPr>
        <p:spPr>
          <a:xfrm>
            <a:off x="777240" y="5678424"/>
            <a:ext cx="4023360" cy="292608"/>
          </a:xfrm>
          <a:prstGeom prst="rect">
            <a:avLst/>
          </a:prstGeom>
          <a:noFill/>
          <a:ln/>
        </p:spPr>
        <p:txBody>
          <a:bodyPr wrap="square" lIns="0" tIns="0" rIns="0" bIns="0" rtlCol="0" anchor="t"/>
          <a:lstStyle/>
          <a:p>
            <a:pPr indent="0" marL="0">
              <a:buNone/>
            </a:pPr>
            <a:r>
              <a:rPr lang="en-US" sz="1400" dirty="0">
                <a:solidFill>
                  <a:schemeClr val="bg1"/>
                </a:solidFill>
              </a:rPr>
              <a:t>ბაზასთან მუშაობა</a:t>
            </a:r>
            <a:endParaRPr lang="en-US" sz="1400" dirty="0"/>
          </a:p>
        </p:txBody>
      </p:sp>
      <p:sp>
        <p:nvSpPr>
          <p:cNvPr id="18" name="box-50"/>
          <p:cNvSpPr/>
          <p:nvPr/>
        </p:nvSpPr>
        <p:spPr>
          <a:xfrm>
            <a:off x="5577840" y="1325880"/>
            <a:ext cx="6035040" cy="1463040"/>
          </a:xfrm>
          <a:prstGeom prst="roundRect">
            <a:avLst>
              <a:gd name="adj" fmla="val 7500"/>
            </a:avLst>
          </a:prstGeom>
          <a:solidFill>
            <a:schemeClr val="bg2"/>
          </a:solidFill>
          <a:ln/>
        </p:spPr>
      </p:sp>
      <p:sp>
        <p:nvSpPr>
          <p:cNvPr id="19" name="badge-51"/>
          <p:cNvSpPr/>
          <p:nvPr/>
        </p:nvSpPr>
        <p:spPr>
          <a:xfrm>
            <a:off x="5806440" y="1554480"/>
            <a:ext cx="457200" cy="457200"/>
          </a:xfrm>
          <a:prstGeom prst="ellipse">
            <a:avLst/>
          </a:prstGeom>
          <a:solidFill>
            <a:schemeClr val="accent1"/>
          </a:solidFill>
          <a:ln/>
        </p:spPr>
      </p:sp>
      <p:sp>
        <p:nvSpPr>
          <p:cNvPr id="20" name="txt-52"/>
          <p:cNvSpPr txBox="1"/>
          <p:nvPr/>
        </p:nvSpPr>
        <p:spPr>
          <a:xfrm>
            <a:off x="58064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1" name="txt-53"/>
          <p:cNvSpPr txBox="1"/>
          <p:nvPr/>
        </p:nvSpPr>
        <p:spPr>
          <a:xfrm>
            <a:off x="6446520" y="1554480"/>
            <a:ext cx="4937760" cy="457200"/>
          </a:xfrm>
          <a:prstGeom prst="rect">
            <a:avLst/>
          </a:prstGeom>
          <a:noFill/>
          <a:ln/>
        </p:spPr>
        <p:txBody>
          <a:bodyPr wrap="square" lIns="0" tIns="0" rIns="0" bIns="0" rtlCol="0" anchor="ctr"/>
          <a:lstStyle/>
          <a:p>
            <a:pPr indent="0" marL="0">
              <a:buNone/>
            </a:pPr>
            <a:r>
              <a:rPr lang="en-US" sz="1700" b="1" dirty="0">
                <a:solidFill>
                  <a:schemeClr val="tx1"/>
                </a:solidFill>
              </a:rPr>
              <a:t>სწრაფი დეველოპმენტი</a:t>
            </a:r>
            <a:endParaRPr lang="en-US" sz="1700" dirty="0"/>
          </a:p>
        </p:txBody>
      </p:sp>
      <p:sp>
        <p:nvSpPr>
          <p:cNvPr id="22" name="txt-54"/>
          <p:cNvSpPr txBox="1"/>
          <p:nvPr/>
        </p:nvSpPr>
        <p:spPr>
          <a:xfrm>
            <a:off x="5806440" y="2148840"/>
            <a:ext cx="5577840" cy="457200"/>
          </a:xfrm>
          <a:prstGeom prst="rect">
            <a:avLst/>
          </a:prstGeom>
          <a:noFill/>
          <a:ln/>
        </p:spPr>
        <p:txBody>
          <a:bodyPr wrap="square" lIns="0" tIns="0" rIns="0" bIns="0" rtlCol="0" anchor="t"/>
          <a:lstStyle/>
          <a:p>
            <a:pPr indent="0" marL="0">
              <a:buNone/>
            </a:pPr>
            <a:r>
              <a:rPr lang="en-US" sz="1400" dirty="0">
                <a:solidFill>
                  <a:schemeClr val="tx2"/>
                </a:solidFill>
              </a:rPr>
              <a:t>ერთი პროექტი და ერთი deploy; Identity, ვალიდაცია, CSRF და მიგრაციები მზად მოდის</a:t>
            </a:r>
            <a:endParaRPr lang="en-US" sz="1400" dirty="0"/>
          </a:p>
        </p:txBody>
      </p:sp>
      <p:sp>
        <p:nvSpPr>
          <p:cNvPr id="23" name="box-55"/>
          <p:cNvSpPr/>
          <p:nvPr/>
        </p:nvSpPr>
        <p:spPr>
          <a:xfrm>
            <a:off x="5577840" y="2971800"/>
            <a:ext cx="6035040" cy="1463040"/>
          </a:xfrm>
          <a:prstGeom prst="roundRect">
            <a:avLst>
              <a:gd name="adj" fmla="val 7500"/>
            </a:avLst>
          </a:prstGeom>
          <a:solidFill>
            <a:schemeClr val="bg2"/>
          </a:solidFill>
          <a:ln/>
        </p:spPr>
      </p:sp>
      <p:sp>
        <p:nvSpPr>
          <p:cNvPr id="24" name="badge-56"/>
          <p:cNvSpPr/>
          <p:nvPr/>
        </p:nvSpPr>
        <p:spPr>
          <a:xfrm>
            <a:off x="5806440" y="3200400"/>
            <a:ext cx="457200" cy="457200"/>
          </a:xfrm>
          <a:prstGeom prst="ellipse">
            <a:avLst/>
          </a:prstGeom>
          <a:solidFill>
            <a:schemeClr val="accent1"/>
          </a:solidFill>
          <a:ln/>
        </p:spPr>
      </p:sp>
      <p:sp>
        <p:nvSpPr>
          <p:cNvPr id="25" name="txt-57"/>
          <p:cNvSpPr txBox="1"/>
          <p:nvPr/>
        </p:nvSpPr>
        <p:spPr>
          <a:xfrm>
            <a:off x="580644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6" name="txt-58"/>
          <p:cNvSpPr txBox="1"/>
          <p:nvPr/>
        </p:nvSpPr>
        <p:spPr>
          <a:xfrm>
            <a:off x="6446520" y="3200400"/>
            <a:ext cx="4937760" cy="457200"/>
          </a:xfrm>
          <a:prstGeom prst="rect">
            <a:avLst/>
          </a:prstGeom>
          <a:noFill/>
          <a:ln/>
        </p:spPr>
        <p:txBody>
          <a:bodyPr wrap="square" lIns="0" tIns="0" rIns="0" bIns="0" rtlCol="0" anchor="ctr"/>
          <a:lstStyle/>
          <a:p>
            <a:pPr indent="0" marL="0">
              <a:buNone/>
            </a:pPr>
            <a:r>
              <a:rPr lang="en-US" sz="1700" b="1" dirty="0">
                <a:solidFill>
                  <a:schemeClr val="tx1"/>
                </a:solidFill>
              </a:rPr>
              <a:t>UI ძირითადად ფორმები და სიებია</a:t>
            </a:r>
            <a:endParaRPr lang="en-US" sz="1700" dirty="0"/>
          </a:p>
        </p:txBody>
      </p:sp>
      <p:sp>
        <p:nvSpPr>
          <p:cNvPr id="27" name="txt-59"/>
          <p:cNvSpPr txBox="1"/>
          <p:nvPr/>
        </p:nvSpPr>
        <p:spPr>
          <a:xfrm>
            <a:off x="5806440" y="3794760"/>
            <a:ext cx="5577840" cy="457200"/>
          </a:xfrm>
          <a:prstGeom prst="rect">
            <a:avLst/>
          </a:prstGeom>
          <a:noFill/>
          <a:ln/>
        </p:spPr>
        <p:txBody>
          <a:bodyPr wrap="square" lIns="0" tIns="0" rIns="0" bIns="0" rtlCol="0" anchor="t"/>
          <a:lstStyle/>
          <a:p>
            <a:pPr indent="0" marL="0">
              <a:buNone/>
            </a:pPr>
            <a:r>
              <a:rPr lang="en-US" sz="1400" dirty="0">
                <a:solidFill>
                  <a:schemeClr val="tx2"/>
                </a:solidFill>
              </a:rPr>
              <a:t>CRUD სცენარები სერვერზე დახატულ გვერდებს ერგება, ტელეფონზე სწრაფად იხსნება</a:t>
            </a:r>
            <a:endParaRPr lang="en-US" sz="1400" dirty="0"/>
          </a:p>
        </p:txBody>
      </p:sp>
      <p:sp>
        <p:nvSpPr>
          <p:cNvPr id="28" name="box-60"/>
          <p:cNvSpPr/>
          <p:nvPr/>
        </p:nvSpPr>
        <p:spPr>
          <a:xfrm>
            <a:off x="5577840" y="4617720"/>
            <a:ext cx="6035040" cy="1463040"/>
          </a:xfrm>
          <a:prstGeom prst="roundRect">
            <a:avLst>
              <a:gd name="adj" fmla="val 7500"/>
            </a:avLst>
          </a:prstGeom>
          <a:solidFill>
            <a:schemeClr val="bg2"/>
          </a:solidFill>
          <a:ln/>
        </p:spPr>
      </p:sp>
      <p:sp>
        <p:nvSpPr>
          <p:cNvPr id="29" name="badge-61"/>
          <p:cNvSpPr/>
          <p:nvPr/>
        </p:nvSpPr>
        <p:spPr>
          <a:xfrm>
            <a:off x="5806440" y="4846320"/>
            <a:ext cx="457200" cy="457200"/>
          </a:xfrm>
          <a:prstGeom prst="ellipse">
            <a:avLst/>
          </a:prstGeom>
          <a:solidFill>
            <a:schemeClr val="accent1"/>
          </a:solidFill>
          <a:ln/>
        </p:spPr>
      </p:sp>
      <p:sp>
        <p:nvSpPr>
          <p:cNvPr id="30" name="txt-62"/>
          <p:cNvSpPr txBox="1"/>
          <p:nvPr/>
        </p:nvSpPr>
        <p:spPr>
          <a:xfrm>
            <a:off x="580644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1" name="txt-63"/>
          <p:cNvSpPr txBox="1"/>
          <p:nvPr/>
        </p:nvSpPr>
        <p:spPr>
          <a:xfrm>
            <a:off x="6446520" y="4846320"/>
            <a:ext cx="4937760" cy="457200"/>
          </a:xfrm>
          <a:prstGeom prst="rect">
            <a:avLst/>
          </a:prstGeom>
          <a:noFill/>
          <a:ln/>
        </p:spPr>
        <p:txBody>
          <a:bodyPr wrap="square" lIns="0" tIns="0" rIns="0" bIns="0" rtlCol="0" anchor="ctr"/>
          <a:lstStyle/>
          <a:p>
            <a:pPr indent="0" marL="0">
              <a:buNone/>
            </a:pPr>
            <a:r>
              <a:rPr lang="en-US" sz="1700" b="1" dirty="0">
                <a:solidFill>
                  <a:schemeClr val="tx1"/>
                </a:solidFill>
              </a:rPr>
              <a:t>პასუხისმგებლობების გამიჯვნა</a:t>
            </a:r>
            <a:endParaRPr lang="en-US" sz="1700" dirty="0"/>
          </a:p>
        </p:txBody>
      </p:sp>
      <p:sp>
        <p:nvSpPr>
          <p:cNvPr id="32" name="txt-64"/>
          <p:cNvSpPr txBox="1"/>
          <p:nvPr/>
        </p:nvSpPr>
        <p:spPr>
          <a:xfrm>
            <a:off x="5806440" y="5440680"/>
            <a:ext cx="5577840" cy="457200"/>
          </a:xfrm>
          <a:prstGeom prst="rect">
            <a:avLst/>
          </a:prstGeom>
          <a:noFill/>
          <a:ln/>
        </p:spPr>
        <p:txBody>
          <a:bodyPr wrap="square" lIns="0" tIns="0" rIns="0" bIns="0" rtlCol="0" anchor="t"/>
          <a:lstStyle/>
          <a:p>
            <a:pPr indent="0" marL="0">
              <a:buNone/>
            </a:pPr>
            <a:r>
              <a:rPr lang="en-US" sz="1400" dirty="0">
                <a:solidFill>
                  <a:schemeClr val="tx2"/>
                </a:solidFill>
              </a:rPr>
              <a:t>გუნდი პარალელურად მუშაობს, სერვისები იტესტება Controller-ის გარეშე</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რა განვიხილეთ და რატომ ავირჩიეთ MVC</a:t>
            </a:r>
            <a:endParaRPr lang="en-US" sz="3200" dirty="0"/>
          </a:p>
        </p:txBody>
      </p:sp>
      <p:sp>
        <p:nvSpPr>
          <p:cNvPr id="3" name="box-65"/>
          <p:cNvSpPr/>
          <p:nvPr/>
        </p:nvSpPr>
        <p:spPr>
          <a:xfrm>
            <a:off x="548640" y="1325880"/>
            <a:ext cx="3520440" cy="3520440"/>
          </a:xfrm>
          <a:prstGeom prst="roundRect">
            <a:avLst>
              <a:gd name="adj" fmla="val 3117"/>
            </a:avLst>
          </a:prstGeom>
          <a:solidFill>
            <a:schemeClr val="bg2"/>
          </a:solidFill>
          <a:ln w="31750">
            <a:solidFill>
              <a:srgbClr val="2E9E6B"/>
            </a:solidFill>
            <a:prstDash val="solid"/>
          </a:ln>
        </p:spPr>
      </p:sp>
      <p:sp>
        <p:nvSpPr>
          <p:cNvPr id="4" name="txt-66"/>
          <p:cNvSpPr txBox="1"/>
          <p:nvPr/>
        </p:nvSpPr>
        <p:spPr>
          <a:xfrm>
            <a:off x="822960" y="1600200"/>
            <a:ext cx="2971800" cy="457200"/>
          </a:xfrm>
          <a:prstGeom prst="rect">
            <a:avLst/>
          </a:prstGeom>
          <a:noFill/>
          <a:ln/>
        </p:spPr>
        <p:txBody>
          <a:bodyPr wrap="square" lIns="0" tIns="0" rIns="0" bIns="0" rtlCol="0" anchor="t"/>
          <a:lstStyle/>
          <a:p>
            <a:pPr indent="0" marL="0">
              <a:buNone/>
            </a:pPr>
            <a:r>
              <a:rPr lang="en-US" sz="2000" b="1" dirty="0">
                <a:solidFill>
                  <a:schemeClr val="tx1"/>
                </a:solidFill>
              </a:rPr>
              <a:t>MVC მონოლითი</a:t>
            </a:r>
            <a:endParaRPr lang="en-US" sz="2000" dirty="0"/>
          </a:p>
        </p:txBody>
      </p:sp>
      <p:sp>
        <p:nvSpPr>
          <p:cNvPr id="5" name="box-67"/>
          <p:cNvSpPr/>
          <p:nvPr/>
        </p:nvSpPr>
        <p:spPr>
          <a:xfrm>
            <a:off x="822960" y="2194560"/>
            <a:ext cx="1463040" cy="384048"/>
          </a:xfrm>
          <a:prstGeom prst="roundRect">
            <a:avLst>
              <a:gd name="adj" fmla="val 50000"/>
            </a:avLst>
          </a:prstGeom>
          <a:solidFill>
            <a:schemeClr val="accent3"/>
          </a:solidFill>
          <a:ln/>
        </p:spPr>
      </p:sp>
      <p:sp>
        <p:nvSpPr>
          <p:cNvPr id="6" name="txt-68"/>
          <p:cNvSpPr txBox="1"/>
          <p:nvPr/>
        </p:nvSpPr>
        <p:spPr>
          <a:xfrm>
            <a:off x="822960" y="2194560"/>
            <a:ext cx="1463040" cy="384048"/>
          </a:xfrm>
          <a:prstGeom prst="rect">
            <a:avLst/>
          </a:prstGeom>
          <a:noFill/>
          <a:ln/>
        </p:spPr>
        <p:txBody>
          <a:bodyPr wrap="square" lIns="0" tIns="0" rIns="0" bIns="0" rtlCol="0" anchor="ctr"/>
          <a:lstStyle/>
          <a:p>
            <a:pPr algn="ctr" indent="0" marL="0">
              <a:buNone/>
            </a:pPr>
            <a:r>
              <a:rPr lang="en-US" sz="1400" b="1" dirty="0">
                <a:solidFill>
                  <a:schemeClr val="bg1"/>
                </a:solidFill>
              </a:rPr>
              <a:t>არჩეული</a:t>
            </a:r>
            <a:endParaRPr lang="en-US" sz="1400" dirty="0"/>
          </a:p>
        </p:txBody>
      </p:sp>
      <p:sp>
        <p:nvSpPr>
          <p:cNvPr id="7" name="txt-69"/>
          <p:cNvSpPr txBox="1"/>
          <p:nvPr/>
        </p:nvSpPr>
        <p:spPr>
          <a:xfrm>
            <a:off x="822960" y="2834640"/>
            <a:ext cx="297180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1 პროექტი, 1 deploy</a:t>
            </a:r>
            <a:endParaRPr lang="en-US" sz="1400" dirty="0"/>
          </a:p>
          <a:p>
            <a:pPr marL="342900" indent="-342900">
              <a:spcAft>
                <a:spcPts val="600"/>
              </a:spcAft>
              <a:buSzPct val="100000"/>
              <a:buChar char="•"/>
            </a:pPr>
            <a:r>
              <a:rPr lang="en-US" sz="1500" dirty="0">
                <a:solidFill>
                  <a:schemeClr val="tx2"/>
                </a:solidFill>
              </a:rPr>
              <a:t>ვალიდაცია ერთ ადგილას</a:t>
            </a:r>
            <a:endParaRPr lang="en-US" sz="1400" dirty="0"/>
          </a:p>
          <a:p>
            <a:pPr marL="342900" indent="-342900">
              <a:spcAft>
                <a:spcPts val="600"/>
              </a:spcAft>
              <a:buSzPct val="100000"/>
              <a:buChar char="•"/>
            </a:pPr>
            <a:r>
              <a:rPr lang="en-US" sz="1500" dirty="0">
                <a:solidFill>
                  <a:schemeClr val="tx2"/>
                </a:solidFill>
              </a:rPr>
              <a:t>Identity და როლები მზად</a:t>
            </a:r>
            <a:endParaRPr lang="en-US" sz="1400" dirty="0"/>
          </a:p>
          <a:p>
            <a:pPr marL="342900" indent="-342900">
              <a:spcAft>
                <a:spcPts val="600"/>
              </a:spcAft>
              <a:buSzPct val="100000"/>
              <a:buChar char="•"/>
            </a:pPr>
            <a:r>
              <a:rPr lang="en-US" sz="1500" dirty="0">
                <a:solidFill>
                  <a:schemeClr val="tx2"/>
                </a:solidFill>
              </a:rPr>
              <a:t>გუნდისთვის მარტივი</a:t>
            </a:r>
            <a:endParaRPr lang="en-US" sz="1400" dirty="0"/>
          </a:p>
        </p:txBody>
      </p:sp>
      <p:sp>
        <p:nvSpPr>
          <p:cNvPr id="8" name="box-70"/>
          <p:cNvSpPr/>
          <p:nvPr/>
        </p:nvSpPr>
        <p:spPr>
          <a:xfrm>
            <a:off x="4297680" y="1325880"/>
            <a:ext cx="3520440" cy="3520440"/>
          </a:xfrm>
          <a:prstGeom prst="roundRect">
            <a:avLst>
              <a:gd name="adj" fmla="val 3117"/>
            </a:avLst>
          </a:prstGeom>
          <a:solidFill>
            <a:schemeClr val="bg1"/>
          </a:solidFill>
          <a:ln w="19050">
            <a:solidFill>
              <a:srgbClr val="EEF2F4"/>
            </a:solidFill>
            <a:prstDash val="solid"/>
          </a:ln>
        </p:spPr>
      </p:sp>
      <p:sp>
        <p:nvSpPr>
          <p:cNvPr id="9" name="txt-71"/>
          <p:cNvSpPr txBox="1"/>
          <p:nvPr/>
        </p:nvSpPr>
        <p:spPr>
          <a:xfrm>
            <a:off x="4572000" y="1600200"/>
            <a:ext cx="2971800" cy="457200"/>
          </a:xfrm>
          <a:prstGeom prst="rect">
            <a:avLst/>
          </a:prstGeom>
          <a:noFill/>
          <a:ln/>
        </p:spPr>
        <p:txBody>
          <a:bodyPr wrap="square" lIns="0" tIns="0" rIns="0" bIns="0" rtlCol="0" anchor="t"/>
          <a:lstStyle/>
          <a:p>
            <a:pPr indent="0" marL="0">
              <a:buNone/>
            </a:pPr>
            <a:r>
              <a:rPr lang="en-US" sz="2000" b="1" dirty="0">
                <a:solidFill>
                  <a:schemeClr val="tx1"/>
                </a:solidFill>
              </a:rPr>
              <a:t>SPA + REST API</a:t>
            </a:r>
            <a:endParaRPr lang="en-US" sz="2000" dirty="0"/>
          </a:p>
        </p:txBody>
      </p:sp>
      <p:sp>
        <p:nvSpPr>
          <p:cNvPr id="10" name="box-72"/>
          <p:cNvSpPr/>
          <p:nvPr/>
        </p:nvSpPr>
        <p:spPr>
          <a:xfrm>
            <a:off x="4572000" y="2194560"/>
            <a:ext cx="1463040" cy="384048"/>
          </a:xfrm>
          <a:prstGeom prst="roundRect">
            <a:avLst>
              <a:gd name="adj" fmla="val 50000"/>
            </a:avLst>
          </a:prstGeom>
          <a:solidFill>
            <a:schemeClr val="accent6"/>
          </a:solidFill>
          <a:ln/>
        </p:spPr>
      </p:sp>
      <p:sp>
        <p:nvSpPr>
          <p:cNvPr id="11" name="txt-73"/>
          <p:cNvSpPr txBox="1"/>
          <p:nvPr/>
        </p:nvSpPr>
        <p:spPr>
          <a:xfrm>
            <a:off x="4572000" y="2194560"/>
            <a:ext cx="1463040" cy="384048"/>
          </a:xfrm>
          <a:prstGeom prst="rect">
            <a:avLst/>
          </a:prstGeom>
          <a:noFill/>
          <a:ln/>
        </p:spPr>
        <p:txBody>
          <a:bodyPr wrap="square" lIns="0" tIns="0" rIns="0" bIns="0" rtlCol="0" anchor="ctr"/>
          <a:lstStyle/>
          <a:p>
            <a:pPr algn="ctr" indent="0" marL="0">
              <a:buNone/>
            </a:pPr>
            <a:r>
              <a:rPr lang="en-US" sz="1400" b="1" dirty="0">
                <a:solidFill>
                  <a:schemeClr val="bg1"/>
                </a:solidFill>
              </a:rPr>
              <a:t>უარყოფილი</a:t>
            </a:r>
            <a:endParaRPr lang="en-US" sz="1400" dirty="0"/>
          </a:p>
        </p:txBody>
      </p:sp>
      <p:sp>
        <p:nvSpPr>
          <p:cNvPr id="12" name="txt-74"/>
          <p:cNvSpPr txBox="1"/>
          <p:nvPr/>
        </p:nvSpPr>
        <p:spPr>
          <a:xfrm>
            <a:off x="4572000" y="2834640"/>
            <a:ext cx="297180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2 პროექტი, 2 deploy</a:t>
            </a:r>
            <a:endParaRPr lang="en-US" sz="1400" dirty="0"/>
          </a:p>
          <a:p>
            <a:pPr marL="342900" indent="-342900">
              <a:spcAft>
                <a:spcPts val="600"/>
              </a:spcAft>
              <a:buSzPct val="100000"/>
              <a:buChar char="•"/>
            </a:pPr>
            <a:r>
              <a:rPr lang="en-US" sz="1500" dirty="0">
                <a:solidFill>
                  <a:schemeClr val="tx2"/>
                </a:solidFill>
              </a:rPr>
              <a:t>ვალიდაცია ორჯერ</a:t>
            </a:r>
            <a:endParaRPr lang="en-US" sz="1400" dirty="0"/>
          </a:p>
          <a:p>
            <a:pPr marL="342900" indent="-342900">
              <a:spcAft>
                <a:spcPts val="600"/>
              </a:spcAft>
              <a:buSzPct val="100000"/>
              <a:buChar char="•"/>
            </a:pPr>
            <a:r>
              <a:rPr lang="en-US" sz="1500" dirty="0">
                <a:solidFill>
                  <a:schemeClr val="tx2"/>
                </a:solidFill>
              </a:rPr>
              <a:t>API-ის ვერსიონირება</a:t>
            </a:r>
            <a:endParaRPr lang="en-US" sz="1400" dirty="0"/>
          </a:p>
          <a:p>
            <a:pPr marL="342900" indent="-342900">
              <a:spcAft>
                <a:spcPts val="600"/>
              </a:spcAft>
              <a:buSzPct val="100000"/>
              <a:buChar char="•"/>
            </a:pPr>
            <a:r>
              <a:rPr lang="en-US" sz="1500" dirty="0">
                <a:solidFill>
                  <a:schemeClr val="tx2"/>
                </a:solidFill>
              </a:rPr>
              <a:t>დიდი JS bundle ტელეფონზე</a:t>
            </a:r>
            <a:endParaRPr lang="en-US" sz="1400" dirty="0"/>
          </a:p>
        </p:txBody>
      </p:sp>
      <p:sp>
        <p:nvSpPr>
          <p:cNvPr id="13" name="box-75"/>
          <p:cNvSpPr/>
          <p:nvPr/>
        </p:nvSpPr>
        <p:spPr>
          <a:xfrm>
            <a:off x="8046720" y="1325880"/>
            <a:ext cx="3520440" cy="3520440"/>
          </a:xfrm>
          <a:prstGeom prst="roundRect">
            <a:avLst>
              <a:gd name="adj" fmla="val 3117"/>
            </a:avLst>
          </a:prstGeom>
          <a:solidFill>
            <a:schemeClr val="bg1"/>
          </a:solidFill>
          <a:ln w="19050">
            <a:solidFill>
              <a:srgbClr val="EEF2F4"/>
            </a:solidFill>
            <a:prstDash val="solid"/>
          </a:ln>
        </p:spPr>
      </p:sp>
      <p:sp>
        <p:nvSpPr>
          <p:cNvPr id="14" name="txt-76"/>
          <p:cNvSpPr txBox="1"/>
          <p:nvPr/>
        </p:nvSpPr>
        <p:spPr>
          <a:xfrm>
            <a:off x="8321040" y="1600200"/>
            <a:ext cx="2971800" cy="457200"/>
          </a:xfrm>
          <a:prstGeom prst="rect">
            <a:avLst/>
          </a:prstGeom>
          <a:noFill/>
          <a:ln/>
        </p:spPr>
        <p:txBody>
          <a:bodyPr wrap="square" lIns="0" tIns="0" rIns="0" bIns="0" rtlCol="0" anchor="t"/>
          <a:lstStyle/>
          <a:p>
            <a:pPr indent="0" marL="0">
              <a:buNone/>
            </a:pPr>
            <a:r>
              <a:rPr lang="en-US" sz="2000" b="1" dirty="0">
                <a:solidFill>
                  <a:schemeClr val="tx1"/>
                </a:solidFill>
              </a:rPr>
              <a:t>მიკროსერვისები</a:t>
            </a:r>
            <a:endParaRPr lang="en-US" sz="2000" dirty="0"/>
          </a:p>
        </p:txBody>
      </p:sp>
      <p:sp>
        <p:nvSpPr>
          <p:cNvPr id="15" name="box-77"/>
          <p:cNvSpPr/>
          <p:nvPr/>
        </p:nvSpPr>
        <p:spPr>
          <a:xfrm>
            <a:off x="8321040" y="2194560"/>
            <a:ext cx="1463040" cy="384048"/>
          </a:xfrm>
          <a:prstGeom prst="roundRect">
            <a:avLst>
              <a:gd name="adj" fmla="val 50000"/>
            </a:avLst>
          </a:prstGeom>
          <a:solidFill>
            <a:schemeClr val="accent6"/>
          </a:solidFill>
          <a:ln/>
        </p:spPr>
      </p:sp>
      <p:sp>
        <p:nvSpPr>
          <p:cNvPr id="16" name="txt-78"/>
          <p:cNvSpPr txBox="1"/>
          <p:nvPr/>
        </p:nvSpPr>
        <p:spPr>
          <a:xfrm>
            <a:off x="8321040" y="2194560"/>
            <a:ext cx="1463040" cy="384048"/>
          </a:xfrm>
          <a:prstGeom prst="rect">
            <a:avLst/>
          </a:prstGeom>
          <a:noFill/>
          <a:ln/>
        </p:spPr>
        <p:txBody>
          <a:bodyPr wrap="square" lIns="0" tIns="0" rIns="0" bIns="0" rtlCol="0" anchor="ctr"/>
          <a:lstStyle/>
          <a:p>
            <a:pPr algn="ctr" indent="0" marL="0">
              <a:buNone/>
            </a:pPr>
            <a:r>
              <a:rPr lang="en-US" sz="1400" b="1" dirty="0">
                <a:solidFill>
                  <a:schemeClr val="bg1"/>
                </a:solidFill>
              </a:rPr>
              <a:t>უარყოფილი</a:t>
            </a:r>
            <a:endParaRPr lang="en-US" sz="1400" dirty="0"/>
          </a:p>
        </p:txBody>
      </p:sp>
      <p:sp>
        <p:nvSpPr>
          <p:cNvPr id="17" name="txt-79"/>
          <p:cNvSpPr txBox="1"/>
          <p:nvPr/>
        </p:nvSpPr>
        <p:spPr>
          <a:xfrm>
            <a:off x="8321040" y="2834640"/>
            <a:ext cx="297180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ბევრი სერვისი და deploy</a:t>
            </a:r>
            <a:endParaRPr lang="en-US" sz="1400" dirty="0"/>
          </a:p>
          <a:p>
            <a:pPr marL="342900" indent="-342900">
              <a:spcAft>
                <a:spcPts val="600"/>
              </a:spcAft>
              <a:buSzPct val="100000"/>
              <a:buChar char="•"/>
            </a:pPr>
            <a:r>
              <a:rPr lang="en-US" sz="1500" dirty="0">
                <a:solidFill>
                  <a:schemeClr val="tx2"/>
                </a:solidFill>
              </a:rPr>
              <a:t>განაწილებული ტრანზაქციები</a:t>
            </a:r>
            <a:endParaRPr lang="en-US" sz="1400" dirty="0"/>
          </a:p>
          <a:p>
            <a:pPr marL="342900" indent="-342900">
              <a:spcAft>
                <a:spcPts val="600"/>
              </a:spcAft>
              <a:buSzPct val="100000"/>
              <a:buChar char="•"/>
            </a:pPr>
            <a:r>
              <a:rPr lang="en-US" sz="1500" dirty="0">
                <a:solidFill>
                  <a:schemeClr val="tx2"/>
                </a:solidFill>
              </a:rPr>
              <a:t>რთული ლოგირება</a:t>
            </a:r>
            <a:endParaRPr lang="en-US" sz="1400" dirty="0"/>
          </a:p>
          <a:p>
            <a:pPr marL="342900" indent="-342900">
              <a:spcAft>
                <a:spcPts val="600"/>
              </a:spcAft>
              <a:buSzPct val="100000"/>
              <a:buChar char="•"/>
            </a:pPr>
            <a:r>
              <a:rPr lang="en-US" sz="1500" dirty="0">
                <a:solidFill>
                  <a:schemeClr val="tx2"/>
                </a:solidFill>
              </a:rPr>
              <a:t>500 მომხმარებელს არ სჭირდება</a:t>
            </a:r>
            <a:endParaRPr lang="en-US" sz="1400" dirty="0"/>
          </a:p>
        </p:txBody>
      </p:sp>
      <p:sp>
        <p:nvSpPr>
          <p:cNvPr id="18" name="box-80"/>
          <p:cNvSpPr/>
          <p:nvPr/>
        </p:nvSpPr>
        <p:spPr>
          <a:xfrm>
            <a:off x="548640" y="5120640"/>
            <a:ext cx="11064240" cy="1005840"/>
          </a:xfrm>
          <a:prstGeom prst="roundRect">
            <a:avLst>
              <a:gd name="adj" fmla="val 10909"/>
            </a:avLst>
          </a:prstGeom>
          <a:solidFill>
            <a:schemeClr val="tx1"/>
          </a:solidFill>
          <a:ln/>
        </p:spPr>
      </p:sp>
      <p:sp>
        <p:nvSpPr>
          <p:cNvPr id="19" name="txt-81"/>
          <p:cNvSpPr txBox="1"/>
          <p:nvPr/>
        </p:nvSpPr>
        <p:spPr>
          <a:xfrm>
            <a:off x="822960" y="5120640"/>
            <a:ext cx="10515600" cy="1005840"/>
          </a:xfrm>
          <a:prstGeom prst="rect">
            <a:avLst/>
          </a:prstGeom>
          <a:noFill/>
          <a:ln/>
        </p:spPr>
        <p:txBody>
          <a:bodyPr wrap="square" lIns="0" tIns="0" rIns="0" bIns="0" rtlCol="0" anchor="ctr"/>
          <a:lstStyle/>
          <a:p>
            <a:pPr indent="0" marL="0">
              <a:buNone/>
            </a:pPr>
            <a:r>
              <a:rPr lang="en-US" sz="1600" b="1" dirty="0">
                <a:solidFill>
                  <a:schemeClr val="accent1"/>
                </a:solidFill>
              </a:rPr>
              <a:t>დასკვნა: </a:t>
            </a:r>
            <a:pPr indent="0" marL="0">
              <a:buNone/>
            </a:pPr>
            <a:r>
              <a:rPr lang="en-US" sz="1600" dirty="0">
                <a:solidFill>
                  <a:schemeClr val="bg1"/>
                </a:solidFill>
              </a:rPr>
              <a:t>500 მომხმარებლისთვის და 3-4 კაციანი გუნდისთვის MVC იძლევა ყველაზე სწრაფ გზას MVP-მდე; მობილური აპისთვის მოგვიანებით ემატება ApiController-ები.</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კომპონენტების დიაგრამა</a:t>
            </a:r>
            <a:endParaRPr lang="en-US" sz="3200" dirty="0"/>
          </a:p>
        </p:txBody>
      </p:sp>
      <p:sp>
        <p:nvSpPr>
          <p:cNvPr id="3" name="box-82"/>
          <p:cNvSpPr/>
          <p:nvPr/>
        </p:nvSpPr>
        <p:spPr>
          <a:xfrm>
            <a:off x="3794760" y="1280160"/>
            <a:ext cx="5760720" cy="4937760"/>
          </a:xfrm>
          <a:prstGeom prst="roundRect">
            <a:avLst>
              <a:gd name="adj" fmla="val 1852"/>
            </a:avLst>
          </a:prstGeom>
          <a:solidFill>
            <a:schemeClr val="bg2"/>
          </a:solidFill>
          <a:ln/>
        </p:spPr>
      </p:sp>
      <p:sp>
        <p:nvSpPr>
          <p:cNvPr id="4" name="txt-83"/>
          <p:cNvSpPr txBox="1"/>
          <p:nvPr/>
        </p:nvSpPr>
        <p:spPr>
          <a:xfrm>
            <a:off x="4023360" y="1371600"/>
            <a:ext cx="5303520" cy="320040"/>
          </a:xfrm>
          <a:prstGeom prst="rect">
            <a:avLst/>
          </a:prstGeom>
          <a:noFill/>
          <a:ln/>
        </p:spPr>
        <p:txBody>
          <a:bodyPr wrap="square" lIns="0" tIns="0" rIns="0" bIns="0" rtlCol="0" anchor="t"/>
          <a:lstStyle/>
          <a:p>
            <a:pPr indent="0" marL="0">
              <a:buNone/>
            </a:pPr>
            <a:r>
              <a:rPr lang="en-US" sz="1400" b="1" dirty="0">
                <a:solidFill>
                  <a:schemeClr val="accent2"/>
                </a:solidFill>
              </a:rPr>
              <a:t>ASP.NET Core MVC აპლიკაცია</a:t>
            </a:r>
            <a:endParaRPr lang="en-US" sz="1400" dirty="0"/>
          </a:p>
        </p:txBody>
      </p:sp>
      <p:sp>
        <p:nvSpPr>
          <p:cNvPr id="5" name="box-84"/>
          <p:cNvSpPr/>
          <p:nvPr/>
        </p:nvSpPr>
        <p:spPr>
          <a:xfrm>
            <a:off x="365760" y="1783080"/>
            <a:ext cx="1508760" cy="960120"/>
          </a:xfrm>
          <a:prstGeom prst="roundRect">
            <a:avLst>
              <a:gd name="adj" fmla="val 7619"/>
            </a:avLst>
          </a:prstGeom>
          <a:solidFill>
            <a:schemeClr val="bg1"/>
          </a:solidFill>
          <a:ln w="19050">
            <a:solidFill>
              <a:srgbClr val="7A8B94"/>
            </a:solidFill>
            <a:prstDash val="solid"/>
          </a:ln>
        </p:spPr>
      </p:sp>
      <p:sp>
        <p:nvSpPr>
          <p:cNvPr id="6" name="txt-85"/>
          <p:cNvSpPr txBox="1"/>
          <p:nvPr/>
        </p:nvSpPr>
        <p:spPr>
          <a:xfrm>
            <a:off x="457200" y="1892808"/>
            <a:ext cx="1325880" cy="329184"/>
          </a:xfrm>
          <a:prstGeom prst="rect">
            <a:avLst/>
          </a:prstGeom>
          <a:noFill/>
          <a:ln/>
        </p:spPr>
        <p:txBody>
          <a:bodyPr wrap="square" lIns="0" tIns="0" rIns="0" bIns="0" rtlCol="0" anchor="t"/>
          <a:lstStyle/>
          <a:p>
            <a:pPr algn="ctr" indent="0" marL="0">
              <a:buNone/>
            </a:pPr>
            <a:r>
              <a:rPr lang="en-US" sz="1500" b="1" dirty="0">
                <a:solidFill>
                  <a:schemeClr val="tx1"/>
                </a:solidFill>
              </a:rPr>
              <a:t>ბრაუზერი</a:t>
            </a:r>
            <a:endParaRPr lang="en-US" sz="1500" dirty="0"/>
          </a:p>
        </p:txBody>
      </p:sp>
      <p:sp>
        <p:nvSpPr>
          <p:cNvPr id="7" name="txt-86"/>
          <p:cNvSpPr txBox="1"/>
          <p:nvPr/>
        </p:nvSpPr>
        <p:spPr>
          <a:xfrm>
            <a:off x="457200" y="2240280"/>
            <a:ext cx="1325880" cy="457200"/>
          </a:xfrm>
          <a:prstGeom prst="rect">
            <a:avLst/>
          </a:prstGeom>
          <a:noFill/>
          <a:ln/>
        </p:spPr>
        <p:txBody>
          <a:bodyPr wrap="square" lIns="0" tIns="0" rIns="0" bIns="0" rtlCol="0" anchor="t"/>
          <a:lstStyle/>
          <a:p>
            <a:pPr algn="ctr" indent="0" marL="0">
              <a:buNone/>
            </a:pPr>
            <a:r>
              <a:rPr lang="en-US" sz="1200" dirty="0">
                <a:solidFill>
                  <a:schemeClr val="tx2"/>
                </a:solidFill>
              </a:rPr>
              <a:t>ყველა როლი</a:t>
            </a:r>
            <a:endParaRPr lang="en-US" sz="1200" dirty="0"/>
          </a:p>
        </p:txBody>
      </p:sp>
      <p:sp>
        <p:nvSpPr>
          <p:cNvPr id="8" name="box-87"/>
          <p:cNvSpPr/>
          <p:nvPr/>
        </p:nvSpPr>
        <p:spPr>
          <a:xfrm>
            <a:off x="365760" y="3977640"/>
            <a:ext cx="1508760" cy="868680"/>
          </a:xfrm>
          <a:prstGeom prst="roundRect">
            <a:avLst>
              <a:gd name="adj" fmla="val 8421"/>
            </a:avLst>
          </a:prstGeom>
          <a:solidFill>
            <a:schemeClr val="bg1"/>
          </a:solidFill>
          <a:ln w="19050">
            <a:solidFill>
              <a:srgbClr val="7A8B94"/>
            </a:solidFill>
            <a:prstDash val="solid"/>
          </a:ln>
        </p:spPr>
      </p:sp>
      <p:sp>
        <p:nvSpPr>
          <p:cNvPr id="9" name="txt-88"/>
          <p:cNvSpPr txBox="1"/>
          <p:nvPr/>
        </p:nvSpPr>
        <p:spPr>
          <a:xfrm>
            <a:off x="457200" y="4087368"/>
            <a:ext cx="1325880" cy="329184"/>
          </a:xfrm>
          <a:prstGeom prst="rect">
            <a:avLst/>
          </a:prstGeom>
          <a:noFill/>
          <a:ln/>
        </p:spPr>
        <p:txBody>
          <a:bodyPr wrap="square" lIns="0" tIns="0" rIns="0" bIns="0" rtlCol="0" anchor="t"/>
          <a:lstStyle/>
          <a:p>
            <a:pPr algn="ctr" indent="0" marL="0">
              <a:buNone/>
            </a:pPr>
            <a:r>
              <a:rPr lang="en-US" sz="1500" b="1" dirty="0">
                <a:solidFill>
                  <a:schemeClr val="tx1"/>
                </a:solidFill>
              </a:rPr>
              <a:t>OpenStreetMap</a:t>
            </a:r>
            <a:endParaRPr lang="en-US" sz="1500" dirty="0"/>
          </a:p>
        </p:txBody>
      </p:sp>
      <p:sp>
        <p:nvSpPr>
          <p:cNvPr id="10" name="txt-89"/>
          <p:cNvSpPr txBox="1"/>
          <p:nvPr/>
        </p:nvSpPr>
        <p:spPr>
          <a:xfrm>
            <a:off x="457200" y="4434840"/>
            <a:ext cx="1325880" cy="365760"/>
          </a:xfrm>
          <a:prstGeom prst="rect">
            <a:avLst/>
          </a:prstGeom>
          <a:noFill/>
          <a:ln/>
        </p:spPr>
        <p:txBody>
          <a:bodyPr wrap="square" lIns="0" tIns="0" rIns="0" bIns="0" rtlCol="0" anchor="t"/>
          <a:lstStyle/>
          <a:p>
            <a:pPr algn="ctr" indent="0" marL="0">
              <a:buNone/>
            </a:pPr>
            <a:r>
              <a:rPr lang="en-US" sz="1200" dirty="0">
                <a:solidFill>
                  <a:schemeClr val="tx2"/>
                </a:solidFill>
              </a:rPr>
              <a:t>რუკის ფილები</a:t>
            </a:r>
            <a:endParaRPr lang="en-US" sz="1200" dirty="0"/>
          </a:p>
        </p:txBody>
      </p:sp>
      <p:sp>
        <p:nvSpPr>
          <p:cNvPr id="11" name="box-90"/>
          <p:cNvSpPr/>
          <p:nvPr/>
        </p:nvSpPr>
        <p:spPr>
          <a:xfrm>
            <a:off x="2194560" y="1783080"/>
            <a:ext cx="1325880" cy="960120"/>
          </a:xfrm>
          <a:prstGeom prst="roundRect">
            <a:avLst>
              <a:gd name="adj" fmla="val 7619"/>
            </a:avLst>
          </a:prstGeom>
          <a:solidFill>
            <a:schemeClr val="bg1"/>
          </a:solidFill>
          <a:ln w="19050">
            <a:solidFill>
              <a:srgbClr val="7A8B94"/>
            </a:solidFill>
            <a:prstDash val="solid"/>
          </a:ln>
        </p:spPr>
      </p:sp>
      <p:sp>
        <p:nvSpPr>
          <p:cNvPr id="12" name="txt-91"/>
          <p:cNvSpPr txBox="1"/>
          <p:nvPr/>
        </p:nvSpPr>
        <p:spPr>
          <a:xfrm>
            <a:off x="2286000" y="1892808"/>
            <a:ext cx="1143000" cy="329184"/>
          </a:xfrm>
          <a:prstGeom prst="rect">
            <a:avLst/>
          </a:prstGeom>
          <a:noFill/>
          <a:ln/>
        </p:spPr>
        <p:txBody>
          <a:bodyPr wrap="square" lIns="0" tIns="0" rIns="0" bIns="0" rtlCol="0" anchor="t"/>
          <a:lstStyle/>
          <a:p>
            <a:pPr algn="ctr" indent="0" marL="0">
              <a:buNone/>
            </a:pPr>
            <a:r>
              <a:rPr lang="en-US" sz="1500" b="1" dirty="0">
                <a:solidFill>
                  <a:schemeClr val="tx1"/>
                </a:solidFill>
              </a:rPr>
              <a:t>Nginx</a:t>
            </a:r>
            <a:endParaRPr lang="en-US" sz="1500" dirty="0"/>
          </a:p>
        </p:txBody>
      </p:sp>
      <p:sp>
        <p:nvSpPr>
          <p:cNvPr id="13" name="txt-92"/>
          <p:cNvSpPr txBox="1"/>
          <p:nvPr/>
        </p:nvSpPr>
        <p:spPr>
          <a:xfrm>
            <a:off x="2286000" y="2240280"/>
            <a:ext cx="1143000" cy="457200"/>
          </a:xfrm>
          <a:prstGeom prst="rect">
            <a:avLst/>
          </a:prstGeom>
          <a:noFill/>
          <a:ln/>
        </p:spPr>
        <p:txBody>
          <a:bodyPr wrap="square" lIns="0" tIns="0" rIns="0" bIns="0" rtlCol="0" anchor="t"/>
          <a:lstStyle/>
          <a:p>
            <a:pPr algn="ctr" indent="0" marL="0">
              <a:buNone/>
            </a:pPr>
            <a:r>
              <a:rPr lang="en-US" sz="1200" dirty="0">
                <a:solidFill>
                  <a:schemeClr val="tx2"/>
                </a:solidFill>
              </a:rPr>
              <a:t>HTTPS</a:t>
            </a:r>
            <a:endParaRPr lang="en-US" sz="1200" dirty="0"/>
          </a:p>
        </p:txBody>
      </p:sp>
      <p:sp>
        <p:nvSpPr>
          <p:cNvPr id="14" name="box-93"/>
          <p:cNvSpPr/>
          <p:nvPr/>
        </p:nvSpPr>
        <p:spPr>
          <a:xfrm>
            <a:off x="4023360" y="1783080"/>
            <a:ext cx="1645920" cy="960120"/>
          </a:xfrm>
          <a:prstGeom prst="roundRect">
            <a:avLst>
              <a:gd name="adj" fmla="val 7619"/>
            </a:avLst>
          </a:prstGeom>
          <a:solidFill>
            <a:schemeClr val="bg1"/>
          </a:solidFill>
          <a:ln w="19050">
            <a:solidFill>
              <a:srgbClr val="E8772E"/>
            </a:solidFill>
            <a:prstDash val="solid"/>
          </a:ln>
        </p:spPr>
      </p:sp>
      <p:sp>
        <p:nvSpPr>
          <p:cNvPr id="15" name="txt-94"/>
          <p:cNvSpPr txBox="1"/>
          <p:nvPr/>
        </p:nvSpPr>
        <p:spPr>
          <a:xfrm>
            <a:off x="4114800" y="1892808"/>
            <a:ext cx="1463040" cy="329184"/>
          </a:xfrm>
          <a:prstGeom prst="rect">
            <a:avLst/>
          </a:prstGeom>
          <a:noFill/>
          <a:ln/>
        </p:spPr>
        <p:txBody>
          <a:bodyPr wrap="square" lIns="0" tIns="0" rIns="0" bIns="0" rtlCol="0" anchor="t"/>
          <a:lstStyle/>
          <a:p>
            <a:pPr algn="ctr" indent="0" marL="0">
              <a:buNone/>
            </a:pPr>
            <a:r>
              <a:rPr lang="en-US" sz="1500" b="1" dirty="0">
                <a:solidFill>
                  <a:schemeClr val="tx1"/>
                </a:solidFill>
              </a:rPr>
              <a:t>Controllers</a:t>
            </a:r>
            <a:endParaRPr lang="en-US" sz="1500" dirty="0"/>
          </a:p>
        </p:txBody>
      </p:sp>
      <p:sp>
        <p:nvSpPr>
          <p:cNvPr id="16" name="txt-95"/>
          <p:cNvSpPr txBox="1"/>
          <p:nvPr/>
        </p:nvSpPr>
        <p:spPr>
          <a:xfrm>
            <a:off x="4114800" y="22402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Reports, Manage, Tasks, Admin</a:t>
            </a:r>
            <a:endParaRPr lang="en-US" sz="1200" dirty="0"/>
          </a:p>
        </p:txBody>
      </p:sp>
      <p:sp>
        <p:nvSpPr>
          <p:cNvPr id="17" name="box-96"/>
          <p:cNvSpPr/>
          <p:nvPr/>
        </p:nvSpPr>
        <p:spPr>
          <a:xfrm>
            <a:off x="4023360" y="3154680"/>
            <a:ext cx="1645920" cy="960120"/>
          </a:xfrm>
          <a:prstGeom prst="roundRect">
            <a:avLst>
              <a:gd name="adj" fmla="val 7619"/>
            </a:avLst>
          </a:prstGeom>
          <a:solidFill>
            <a:schemeClr val="bg1"/>
          </a:solidFill>
          <a:ln w="19050">
            <a:solidFill>
              <a:srgbClr val="2F6F8F"/>
            </a:solidFill>
            <a:prstDash val="solid"/>
          </a:ln>
        </p:spPr>
      </p:sp>
      <p:sp>
        <p:nvSpPr>
          <p:cNvPr id="18" name="txt-97"/>
          <p:cNvSpPr txBox="1"/>
          <p:nvPr/>
        </p:nvSpPr>
        <p:spPr>
          <a:xfrm>
            <a:off x="4114800" y="3264408"/>
            <a:ext cx="1463040" cy="329184"/>
          </a:xfrm>
          <a:prstGeom prst="rect">
            <a:avLst/>
          </a:prstGeom>
          <a:noFill/>
          <a:ln/>
        </p:spPr>
        <p:txBody>
          <a:bodyPr wrap="square" lIns="0" tIns="0" rIns="0" bIns="0" rtlCol="0" anchor="t"/>
          <a:lstStyle/>
          <a:p>
            <a:pPr algn="ctr" indent="0" marL="0">
              <a:buNone/>
            </a:pPr>
            <a:r>
              <a:rPr lang="en-US" sz="1500" b="1" dirty="0">
                <a:solidFill>
                  <a:schemeClr val="tx1"/>
                </a:solidFill>
              </a:rPr>
              <a:t>Views</a:t>
            </a:r>
            <a:endParaRPr lang="en-US" sz="1500" dirty="0"/>
          </a:p>
        </p:txBody>
      </p:sp>
      <p:sp>
        <p:nvSpPr>
          <p:cNvPr id="19" name="txt-98"/>
          <p:cNvSpPr txBox="1"/>
          <p:nvPr/>
        </p:nvSpPr>
        <p:spPr>
          <a:xfrm>
            <a:off x="4114800" y="36118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Razor + Leaflet JS</a:t>
            </a:r>
            <a:endParaRPr lang="en-US" sz="1200" dirty="0"/>
          </a:p>
        </p:txBody>
      </p:sp>
      <p:sp>
        <p:nvSpPr>
          <p:cNvPr id="20" name="box-99"/>
          <p:cNvSpPr/>
          <p:nvPr/>
        </p:nvSpPr>
        <p:spPr>
          <a:xfrm>
            <a:off x="4023360" y="4526280"/>
            <a:ext cx="1645920" cy="960120"/>
          </a:xfrm>
          <a:prstGeom prst="roundRect">
            <a:avLst>
              <a:gd name="adj" fmla="val 7619"/>
            </a:avLst>
          </a:prstGeom>
          <a:solidFill>
            <a:schemeClr val="bg1"/>
          </a:solidFill>
          <a:ln w="19050">
            <a:solidFill>
              <a:srgbClr val="7A8B94"/>
            </a:solidFill>
            <a:prstDash val="solid"/>
          </a:ln>
        </p:spPr>
      </p:sp>
      <p:sp>
        <p:nvSpPr>
          <p:cNvPr id="21" name="txt-100"/>
          <p:cNvSpPr txBox="1"/>
          <p:nvPr/>
        </p:nvSpPr>
        <p:spPr>
          <a:xfrm>
            <a:off x="4114800" y="4636008"/>
            <a:ext cx="1463040" cy="329184"/>
          </a:xfrm>
          <a:prstGeom prst="rect">
            <a:avLst/>
          </a:prstGeom>
          <a:noFill/>
          <a:ln/>
        </p:spPr>
        <p:txBody>
          <a:bodyPr wrap="square" lIns="0" tIns="0" rIns="0" bIns="0" rtlCol="0" anchor="t"/>
          <a:lstStyle/>
          <a:p>
            <a:pPr algn="ctr" indent="0" marL="0">
              <a:buNone/>
            </a:pPr>
            <a:r>
              <a:rPr lang="en-US" sz="1500" b="1" dirty="0">
                <a:solidFill>
                  <a:schemeClr val="tx1"/>
                </a:solidFill>
              </a:rPr>
              <a:t>Identity</a:t>
            </a:r>
            <a:endParaRPr lang="en-US" sz="1500" dirty="0"/>
          </a:p>
        </p:txBody>
      </p:sp>
      <p:sp>
        <p:nvSpPr>
          <p:cNvPr id="22" name="txt-101"/>
          <p:cNvSpPr txBox="1"/>
          <p:nvPr/>
        </p:nvSpPr>
        <p:spPr>
          <a:xfrm>
            <a:off x="4114800" y="49834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შესვლა, როლები</a:t>
            </a:r>
            <a:endParaRPr lang="en-US" sz="1200" dirty="0"/>
          </a:p>
        </p:txBody>
      </p:sp>
      <p:sp>
        <p:nvSpPr>
          <p:cNvPr id="23" name="box-102"/>
          <p:cNvSpPr/>
          <p:nvPr/>
        </p:nvSpPr>
        <p:spPr>
          <a:xfrm>
            <a:off x="5989320" y="1783080"/>
            <a:ext cx="1554480" cy="960120"/>
          </a:xfrm>
          <a:prstGeom prst="roundRect">
            <a:avLst>
              <a:gd name="adj" fmla="val 7619"/>
            </a:avLst>
          </a:prstGeom>
          <a:solidFill>
            <a:schemeClr val="bg1"/>
          </a:solidFill>
          <a:ln w="19050">
            <a:solidFill>
              <a:srgbClr val="7A8B94"/>
            </a:solidFill>
            <a:prstDash val="solid"/>
          </a:ln>
        </p:spPr>
      </p:sp>
      <p:sp>
        <p:nvSpPr>
          <p:cNvPr id="24" name="txt-103"/>
          <p:cNvSpPr txBox="1"/>
          <p:nvPr/>
        </p:nvSpPr>
        <p:spPr>
          <a:xfrm>
            <a:off x="6080760" y="1892808"/>
            <a:ext cx="1371600" cy="329184"/>
          </a:xfrm>
          <a:prstGeom prst="rect">
            <a:avLst/>
          </a:prstGeom>
          <a:noFill/>
          <a:ln/>
        </p:spPr>
        <p:txBody>
          <a:bodyPr wrap="square" lIns="0" tIns="0" rIns="0" bIns="0" rtlCol="0" anchor="t"/>
          <a:lstStyle/>
          <a:p>
            <a:pPr algn="ctr" indent="0" marL="0">
              <a:buNone/>
            </a:pPr>
            <a:r>
              <a:rPr lang="en-US" sz="1500" b="1" dirty="0">
                <a:solidFill>
                  <a:schemeClr val="tx1"/>
                </a:solidFill>
              </a:rPr>
              <a:t>Services</a:t>
            </a:r>
            <a:endParaRPr lang="en-US" sz="1500" dirty="0"/>
          </a:p>
        </p:txBody>
      </p:sp>
      <p:sp>
        <p:nvSpPr>
          <p:cNvPr id="25" name="txt-104"/>
          <p:cNvSpPr txBox="1"/>
          <p:nvPr/>
        </p:nvSpPr>
        <p:spPr>
          <a:xfrm>
            <a:off x="6080760" y="2240280"/>
            <a:ext cx="1371600" cy="457200"/>
          </a:xfrm>
          <a:prstGeom prst="rect">
            <a:avLst/>
          </a:prstGeom>
          <a:noFill/>
          <a:ln/>
        </p:spPr>
        <p:txBody>
          <a:bodyPr wrap="square" lIns="0" tIns="0" rIns="0" bIns="0" rtlCol="0" anchor="t"/>
          <a:lstStyle/>
          <a:p>
            <a:pPr algn="ctr" indent="0" marL="0">
              <a:buNone/>
            </a:pPr>
            <a:r>
              <a:rPr lang="en-US" sz="1200" dirty="0">
                <a:solidFill>
                  <a:schemeClr val="tx2"/>
                </a:solidFill>
              </a:rPr>
              <a:t>ბიზნეს-ლოგიკა</a:t>
            </a:r>
            <a:endParaRPr lang="en-US" sz="1200" dirty="0"/>
          </a:p>
        </p:txBody>
      </p:sp>
      <p:sp>
        <p:nvSpPr>
          <p:cNvPr id="26" name="box-105"/>
          <p:cNvSpPr/>
          <p:nvPr/>
        </p:nvSpPr>
        <p:spPr>
          <a:xfrm>
            <a:off x="7818120" y="1783080"/>
            <a:ext cx="1554480" cy="960120"/>
          </a:xfrm>
          <a:prstGeom prst="roundRect">
            <a:avLst>
              <a:gd name="adj" fmla="val 7619"/>
            </a:avLst>
          </a:prstGeom>
          <a:solidFill>
            <a:schemeClr val="bg1"/>
          </a:solidFill>
          <a:ln w="19050">
            <a:solidFill>
              <a:srgbClr val="7A8B94"/>
            </a:solidFill>
            <a:prstDash val="solid"/>
          </a:ln>
        </p:spPr>
      </p:sp>
      <p:sp>
        <p:nvSpPr>
          <p:cNvPr id="27" name="txt-106"/>
          <p:cNvSpPr txBox="1"/>
          <p:nvPr/>
        </p:nvSpPr>
        <p:spPr>
          <a:xfrm>
            <a:off x="7909560" y="1892808"/>
            <a:ext cx="1371600" cy="329184"/>
          </a:xfrm>
          <a:prstGeom prst="rect">
            <a:avLst/>
          </a:prstGeom>
          <a:noFill/>
          <a:ln/>
        </p:spPr>
        <p:txBody>
          <a:bodyPr wrap="square" lIns="0" tIns="0" rIns="0" bIns="0" rtlCol="0" anchor="t"/>
          <a:lstStyle/>
          <a:p>
            <a:pPr algn="ctr" indent="0" marL="0">
              <a:buNone/>
            </a:pPr>
            <a:r>
              <a:rPr lang="en-US" sz="1500" b="1" dirty="0">
                <a:solidFill>
                  <a:schemeClr val="tx1"/>
                </a:solidFill>
              </a:rPr>
              <a:t>Data</a:t>
            </a:r>
            <a:endParaRPr lang="en-US" sz="1500" dirty="0"/>
          </a:p>
        </p:txBody>
      </p:sp>
      <p:sp>
        <p:nvSpPr>
          <p:cNvPr id="28" name="txt-107"/>
          <p:cNvSpPr txBox="1"/>
          <p:nvPr/>
        </p:nvSpPr>
        <p:spPr>
          <a:xfrm>
            <a:off x="7909560" y="2240280"/>
            <a:ext cx="1371600" cy="457200"/>
          </a:xfrm>
          <a:prstGeom prst="rect">
            <a:avLst/>
          </a:prstGeom>
          <a:noFill/>
          <a:ln/>
        </p:spPr>
        <p:txBody>
          <a:bodyPr wrap="square" lIns="0" tIns="0" rIns="0" bIns="0" rtlCol="0" anchor="t"/>
          <a:lstStyle/>
          <a:p>
            <a:pPr algn="ctr" indent="0" marL="0">
              <a:buNone/>
            </a:pPr>
            <a:r>
              <a:rPr lang="en-US" sz="1200" dirty="0">
                <a:solidFill>
                  <a:schemeClr val="tx2"/>
                </a:solidFill>
              </a:rPr>
              <a:t>EF Core</a:t>
            </a:r>
            <a:endParaRPr lang="en-US" sz="1200" dirty="0"/>
          </a:p>
        </p:txBody>
      </p:sp>
      <p:sp>
        <p:nvSpPr>
          <p:cNvPr id="29" name="box-108"/>
          <p:cNvSpPr/>
          <p:nvPr/>
        </p:nvSpPr>
        <p:spPr>
          <a:xfrm>
            <a:off x="7818120" y="3154680"/>
            <a:ext cx="1554480" cy="960120"/>
          </a:xfrm>
          <a:prstGeom prst="roundRect">
            <a:avLst>
              <a:gd name="adj" fmla="val 7619"/>
            </a:avLst>
          </a:prstGeom>
          <a:solidFill>
            <a:schemeClr val="bg1"/>
          </a:solidFill>
          <a:ln w="19050">
            <a:solidFill>
              <a:srgbClr val="2E9E6B"/>
            </a:solidFill>
            <a:prstDash val="solid"/>
          </a:ln>
        </p:spPr>
      </p:sp>
      <p:sp>
        <p:nvSpPr>
          <p:cNvPr id="30" name="txt-109"/>
          <p:cNvSpPr txBox="1"/>
          <p:nvPr/>
        </p:nvSpPr>
        <p:spPr>
          <a:xfrm>
            <a:off x="7909560" y="3264408"/>
            <a:ext cx="1371600" cy="329184"/>
          </a:xfrm>
          <a:prstGeom prst="rect">
            <a:avLst/>
          </a:prstGeom>
          <a:noFill/>
          <a:ln/>
        </p:spPr>
        <p:txBody>
          <a:bodyPr wrap="square" lIns="0" tIns="0" rIns="0" bIns="0" rtlCol="0" anchor="t"/>
          <a:lstStyle/>
          <a:p>
            <a:pPr algn="ctr" indent="0" marL="0">
              <a:buNone/>
            </a:pPr>
            <a:r>
              <a:rPr lang="en-US" sz="1500" b="1" dirty="0">
                <a:solidFill>
                  <a:schemeClr val="tx1"/>
                </a:solidFill>
              </a:rPr>
              <a:t>Models</a:t>
            </a:r>
            <a:endParaRPr lang="en-US" sz="1500" dirty="0"/>
          </a:p>
        </p:txBody>
      </p:sp>
      <p:sp>
        <p:nvSpPr>
          <p:cNvPr id="31" name="txt-110"/>
          <p:cNvSpPr txBox="1"/>
          <p:nvPr/>
        </p:nvSpPr>
        <p:spPr>
          <a:xfrm>
            <a:off x="7909560" y="3611880"/>
            <a:ext cx="1371600" cy="457200"/>
          </a:xfrm>
          <a:prstGeom prst="rect">
            <a:avLst/>
          </a:prstGeom>
          <a:noFill/>
          <a:ln/>
        </p:spPr>
        <p:txBody>
          <a:bodyPr wrap="square" lIns="0" tIns="0" rIns="0" bIns="0" rtlCol="0" anchor="t"/>
          <a:lstStyle/>
          <a:p>
            <a:pPr algn="ctr" indent="0" marL="0">
              <a:buNone/>
            </a:pPr>
            <a:r>
              <a:rPr lang="en-US" sz="1200" dirty="0">
                <a:solidFill>
                  <a:schemeClr val="tx2"/>
                </a:solidFill>
              </a:rPr>
              <a:t>Entity, ViewModel</a:t>
            </a:r>
            <a:endParaRPr lang="en-US" sz="1200" dirty="0"/>
          </a:p>
        </p:txBody>
      </p:sp>
      <p:sp>
        <p:nvSpPr>
          <p:cNvPr id="32" name="box-111"/>
          <p:cNvSpPr/>
          <p:nvPr/>
        </p:nvSpPr>
        <p:spPr>
          <a:xfrm>
            <a:off x="5989320" y="4526280"/>
            <a:ext cx="3383280" cy="960120"/>
          </a:xfrm>
          <a:prstGeom prst="roundRect">
            <a:avLst>
              <a:gd name="adj" fmla="val 7619"/>
            </a:avLst>
          </a:prstGeom>
          <a:solidFill>
            <a:schemeClr val="bg1"/>
          </a:solidFill>
          <a:ln w="19050">
            <a:solidFill>
              <a:srgbClr val="7A8B94"/>
            </a:solidFill>
            <a:prstDash val="solid"/>
          </a:ln>
        </p:spPr>
      </p:sp>
      <p:sp>
        <p:nvSpPr>
          <p:cNvPr id="33" name="txt-112"/>
          <p:cNvSpPr txBox="1"/>
          <p:nvPr/>
        </p:nvSpPr>
        <p:spPr>
          <a:xfrm>
            <a:off x="6080760" y="4636008"/>
            <a:ext cx="3200400" cy="329184"/>
          </a:xfrm>
          <a:prstGeom prst="rect">
            <a:avLst/>
          </a:prstGeom>
          <a:noFill/>
          <a:ln/>
        </p:spPr>
        <p:txBody>
          <a:bodyPr wrap="square" lIns="0" tIns="0" rIns="0" bIns="0" rtlCol="0" anchor="t"/>
          <a:lstStyle/>
          <a:p>
            <a:pPr algn="ctr" indent="0" marL="0">
              <a:buNone/>
            </a:pPr>
            <a:r>
              <a:rPr lang="en-US" sz="1500" b="1" dirty="0">
                <a:solidFill>
                  <a:schemeClr val="tx1"/>
                </a:solidFill>
              </a:rPr>
              <a:t>Hangfire (ფონური ამოცანები)</a:t>
            </a:r>
            <a:endParaRPr lang="en-US" sz="1500" dirty="0"/>
          </a:p>
        </p:txBody>
      </p:sp>
      <p:sp>
        <p:nvSpPr>
          <p:cNvPr id="34" name="txt-113"/>
          <p:cNvSpPr txBox="1"/>
          <p:nvPr/>
        </p:nvSpPr>
        <p:spPr>
          <a:xfrm>
            <a:off x="6080760" y="4983480"/>
            <a:ext cx="3200400" cy="457200"/>
          </a:xfrm>
          <a:prstGeom prst="rect">
            <a:avLst/>
          </a:prstGeom>
          <a:noFill/>
          <a:ln/>
        </p:spPr>
        <p:txBody>
          <a:bodyPr wrap="square" lIns="0" tIns="0" rIns="0" bIns="0" rtlCol="0" anchor="t"/>
          <a:lstStyle/>
          <a:p>
            <a:pPr algn="ctr" indent="0" marL="0">
              <a:buNone/>
            </a:pPr>
            <a:r>
              <a:rPr lang="en-US" sz="1200" dirty="0">
                <a:solidFill>
                  <a:schemeClr val="tx2"/>
                </a:solidFill>
              </a:rPr>
              <a:t>ფოტოს შეკუმშვა, EXIF-ის წაშლა, ელფოსტა</a:t>
            </a:r>
            <a:endParaRPr lang="en-US" sz="1200" dirty="0"/>
          </a:p>
        </p:txBody>
      </p:sp>
      <p:sp>
        <p:nvSpPr>
          <p:cNvPr id="35" name="box-114"/>
          <p:cNvSpPr/>
          <p:nvPr/>
        </p:nvSpPr>
        <p:spPr>
          <a:xfrm>
            <a:off x="9875520" y="1783080"/>
            <a:ext cx="1920240" cy="960120"/>
          </a:xfrm>
          <a:prstGeom prst="roundRect">
            <a:avLst>
              <a:gd name="adj" fmla="val 7619"/>
            </a:avLst>
          </a:prstGeom>
          <a:solidFill>
            <a:schemeClr val="bg1"/>
          </a:solidFill>
          <a:ln w="19050">
            <a:solidFill>
              <a:srgbClr val="2F6F8F"/>
            </a:solidFill>
            <a:prstDash val="solid"/>
          </a:ln>
        </p:spPr>
      </p:sp>
      <p:sp>
        <p:nvSpPr>
          <p:cNvPr id="36" name="txt-115"/>
          <p:cNvSpPr txBox="1"/>
          <p:nvPr/>
        </p:nvSpPr>
        <p:spPr>
          <a:xfrm>
            <a:off x="9966960" y="1892808"/>
            <a:ext cx="1737360" cy="329184"/>
          </a:xfrm>
          <a:prstGeom prst="rect">
            <a:avLst/>
          </a:prstGeom>
          <a:noFill/>
          <a:ln/>
        </p:spPr>
        <p:txBody>
          <a:bodyPr wrap="square" lIns="0" tIns="0" rIns="0" bIns="0" rtlCol="0" anchor="t"/>
          <a:lstStyle/>
          <a:p>
            <a:pPr algn="ctr" indent="0" marL="0">
              <a:buNone/>
            </a:pPr>
            <a:r>
              <a:rPr lang="en-US" sz="1500" b="1" dirty="0">
                <a:solidFill>
                  <a:schemeClr val="tx1"/>
                </a:solidFill>
              </a:rPr>
              <a:t>PostgreSQL</a:t>
            </a:r>
            <a:endParaRPr lang="en-US" sz="1500" dirty="0"/>
          </a:p>
        </p:txBody>
      </p:sp>
      <p:sp>
        <p:nvSpPr>
          <p:cNvPr id="37" name="txt-116"/>
          <p:cNvSpPr txBox="1"/>
          <p:nvPr/>
        </p:nvSpPr>
        <p:spPr>
          <a:xfrm>
            <a:off x="9966960" y="2240280"/>
            <a:ext cx="1737360" cy="457200"/>
          </a:xfrm>
          <a:prstGeom prst="rect">
            <a:avLst/>
          </a:prstGeom>
          <a:noFill/>
          <a:ln/>
        </p:spPr>
        <p:txBody>
          <a:bodyPr wrap="square" lIns="0" tIns="0" rIns="0" bIns="0" rtlCol="0" anchor="t"/>
          <a:lstStyle/>
          <a:p>
            <a:pPr algn="ctr" indent="0" marL="0">
              <a:buNone/>
            </a:pPr>
            <a:r>
              <a:rPr lang="en-US" sz="1200" dirty="0">
                <a:solidFill>
                  <a:schemeClr val="tx2"/>
                </a:solidFill>
              </a:rPr>
              <a:t>+ PostGIS</a:t>
            </a:r>
            <a:endParaRPr lang="en-US" sz="1200" dirty="0"/>
          </a:p>
        </p:txBody>
      </p:sp>
      <p:sp>
        <p:nvSpPr>
          <p:cNvPr id="38" name="box-117"/>
          <p:cNvSpPr/>
          <p:nvPr/>
        </p:nvSpPr>
        <p:spPr>
          <a:xfrm>
            <a:off x="9875520" y="4206240"/>
            <a:ext cx="1920240" cy="868680"/>
          </a:xfrm>
          <a:prstGeom prst="roundRect">
            <a:avLst>
              <a:gd name="adj" fmla="val 8421"/>
            </a:avLst>
          </a:prstGeom>
          <a:solidFill>
            <a:schemeClr val="bg1"/>
          </a:solidFill>
          <a:ln w="19050">
            <a:solidFill>
              <a:srgbClr val="7A8B94"/>
            </a:solidFill>
            <a:prstDash val="solid"/>
          </a:ln>
        </p:spPr>
      </p:sp>
      <p:sp>
        <p:nvSpPr>
          <p:cNvPr id="39" name="txt-118"/>
          <p:cNvSpPr txBox="1"/>
          <p:nvPr/>
        </p:nvSpPr>
        <p:spPr>
          <a:xfrm>
            <a:off x="9966960" y="4315968"/>
            <a:ext cx="1737360" cy="329184"/>
          </a:xfrm>
          <a:prstGeom prst="rect">
            <a:avLst/>
          </a:prstGeom>
          <a:noFill/>
          <a:ln/>
        </p:spPr>
        <p:txBody>
          <a:bodyPr wrap="square" lIns="0" tIns="0" rIns="0" bIns="0" rtlCol="0" anchor="t"/>
          <a:lstStyle/>
          <a:p>
            <a:pPr algn="ctr" indent="0" marL="0">
              <a:buNone/>
            </a:pPr>
            <a:r>
              <a:rPr lang="en-US" sz="1500" b="1" dirty="0">
                <a:solidFill>
                  <a:schemeClr val="tx1"/>
                </a:solidFill>
              </a:rPr>
              <a:t>ფაილები</a:t>
            </a:r>
            <a:endParaRPr lang="en-US" sz="1500" dirty="0"/>
          </a:p>
        </p:txBody>
      </p:sp>
      <p:sp>
        <p:nvSpPr>
          <p:cNvPr id="40" name="txt-119"/>
          <p:cNvSpPr txBox="1"/>
          <p:nvPr/>
        </p:nvSpPr>
        <p:spPr>
          <a:xfrm>
            <a:off x="9966960" y="4663440"/>
            <a:ext cx="1737360" cy="365760"/>
          </a:xfrm>
          <a:prstGeom prst="rect">
            <a:avLst/>
          </a:prstGeom>
          <a:noFill/>
          <a:ln/>
        </p:spPr>
        <p:txBody>
          <a:bodyPr wrap="square" lIns="0" tIns="0" rIns="0" bIns="0" rtlCol="0" anchor="t"/>
          <a:lstStyle/>
          <a:p>
            <a:pPr algn="ctr" indent="0" marL="0">
              <a:buNone/>
            </a:pPr>
            <a:r>
              <a:rPr lang="en-US" sz="1200" dirty="0">
                <a:solidFill>
                  <a:schemeClr val="tx2"/>
                </a:solidFill>
              </a:rPr>
              <a:t>ფოტოები</a:t>
            </a:r>
            <a:endParaRPr lang="en-US" sz="1200" dirty="0"/>
          </a:p>
        </p:txBody>
      </p:sp>
      <p:sp>
        <p:nvSpPr>
          <p:cNvPr id="41" name="box-120"/>
          <p:cNvSpPr/>
          <p:nvPr/>
        </p:nvSpPr>
        <p:spPr>
          <a:xfrm>
            <a:off x="9875520" y="5349240"/>
            <a:ext cx="1920240" cy="868680"/>
          </a:xfrm>
          <a:prstGeom prst="roundRect">
            <a:avLst>
              <a:gd name="adj" fmla="val 8421"/>
            </a:avLst>
          </a:prstGeom>
          <a:solidFill>
            <a:schemeClr val="bg1"/>
          </a:solidFill>
          <a:ln w="19050">
            <a:solidFill>
              <a:srgbClr val="7A8B94"/>
            </a:solidFill>
            <a:prstDash val="solid"/>
          </a:ln>
        </p:spPr>
      </p:sp>
      <p:sp>
        <p:nvSpPr>
          <p:cNvPr id="42" name="txt-121"/>
          <p:cNvSpPr txBox="1"/>
          <p:nvPr/>
        </p:nvSpPr>
        <p:spPr>
          <a:xfrm>
            <a:off x="9966960" y="5458968"/>
            <a:ext cx="1737360" cy="329184"/>
          </a:xfrm>
          <a:prstGeom prst="rect">
            <a:avLst/>
          </a:prstGeom>
          <a:noFill/>
          <a:ln/>
        </p:spPr>
        <p:txBody>
          <a:bodyPr wrap="square" lIns="0" tIns="0" rIns="0" bIns="0" rtlCol="0" anchor="t"/>
          <a:lstStyle/>
          <a:p>
            <a:pPr algn="ctr" indent="0" marL="0">
              <a:buNone/>
            </a:pPr>
            <a:r>
              <a:rPr lang="en-US" sz="1500" b="1" dirty="0">
                <a:solidFill>
                  <a:schemeClr val="tx1"/>
                </a:solidFill>
              </a:rPr>
              <a:t>SMTP</a:t>
            </a:r>
            <a:endParaRPr lang="en-US" sz="1500" dirty="0"/>
          </a:p>
        </p:txBody>
      </p:sp>
      <p:sp>
        <p:nvSpPr>
          <p:cNvPr id="43" name="txt-122"/>
          <p:cNvSpPr txBox="1"/>
          <p:nvPr/>
        </p:nvSpPr>
        <p:spPr>
          <a:xfrm>
            <a:off x="9966960" y="5806440"/>
            <a:ext cx="1737360" cy="365760"/>
          </a:xfrm>
          <a:prstGeom prst="rect">
            <a:avLst/>
          </a:prstGeom>
          <a:noFill/>
          <a:ln/>
        </p:spPr>
        <p:txBody>
          <a:bodyPr wrap="square" lIns="0" tIns="0" rIns="0" bIns="0" rtlCol="0" anchor="t"/>
          <a:lstStyle/>
          <a:p>
            <a:pPr algn="ctr" indent="0" marL="0">
              <a:buNone/>
            </a:pPr>
            <a:r>
              <a:rPr lang="en-US" sz="1200" dirty="0">
                <a:solidFill>
                  <a:schemeClr val="tx2"/>
                </a:solidFill>
              </a:rPr>
              <a:t>ელფოსტა</a:t>
            </a:r>
            <a:endParaRPr lang="en-US" sz="1200" dirty="0"/>
          </a:p>
        </p:txBody>
      </p:sp>
      <p:sp>
        <p:nvSpPr>
          <p:cNvPr id="44" name="arrow-123"/>
          <p:cNvSpPr/>
          <p:nvPr/>
        </p:nvSpPr>
        <p:spPr>
          <a:xfrm>
            <a:off x="1874520" y="2263140"/>
            <a:ext cx="320040" cy="914"/>
          </a:xfrm>
          <a:prstGeom prst="line">
            <a:avLst/>
          </a:prstGeom>
          <a:noFill/>
          <a:ln w="22225">
            <a:solidFill>
              <a:schemeClr val="accent6"/>
            </a:solidFill>
            <a:prstDash val="solid"/>
            <a:tailEnd type="triangle"/>
          </a:ln>
        </p:spPr>
      </p:sp>
      <p:sp>
        <p:nvSpPr>
          <p:cNvPr id="45" name="arrow-124"/>
          <p:cNvSpPr/>
          <p:nvPr/>
        </p:nvSpPr>
        <p:spPr>
          <a:xfrm>
            <a:off x="3520440" y="2263140"/>
            <a:ext cx="502920" cy="914"/>
          </a:xfrm>
          <a:prstGeom prst="line">
            <a:avLst/>
          </a:prstGeom>
          <a:noFill/>
          <a:ln w="22225">
            <a:solidFill>
              <a:schemeClr val="accent6"/>
            </a:solidFill>
            <a:prstDash val="solid"/>
            <a:tailEnd type="triangle"/>
          </a:ln>
        </p:spPr>
      </p:sp>
      <p:sp>
        <p:nvSpPr>
          <p:cNvPr id="46" name="arrow-125"/>
          <p:cNvSpPr/>
          <p:nvPr/>
        </p:nvSpPr>
        <p:spPr>
          <a:xfrm>
            <a:off x="4846320" y="2743200"/>
            <a:ext cx="914" cy="411480"/>
          </a:xfrm>
          <a:prstGeom prst="line">
            <a:avLst/>
          </a:prstGeom>
          <a:noFill/>
          <a:ln w="22225">
            <a:solidFill>
              <a:schemeClr val="accent6"/>
            </a:solidFill>
            <a:prstDash val="solid"/>
            <a:tailEnd type="triangle"/>
          </a:ln>
        </p:spPr>
      </p:sp>
      <p:sp>
        <p:nvSpPr>
          <p:cNvPr id="47" name="arrow-126"/>
          <p:cNvSpPr/>
          <p:nvPr/>
        </p:nvSpPr>
        <p:spPr>
          <a:xfrm flipH="1" flipV="1">
            <a:off x="3017520" y="2743200"/>
            <a:ext cx="1005840" cy="868680"/>
          </a:xfrm>
          <a:prstGeom prst="line">
            <a:avLst/>
          </a:prstGeom>
          <a:noFill/>
          <a:ln w="22225">
            <a:solidFill>
              <a:schemeClr val="accent6"/>
            </a:solidFill>
            <a:prstDash val="solid"/>
            <a:tailEnd type="triangle"/>
          </a:ln>
        </p:spPr>
      </p:sp>
      <p:sp>
        <p:nvSpPr>
          <p:cNvPr id="48" name="arrow-127"/>
          <p:cNvSpPr/>
          <p:nvPr/>
        </p:nvSpPr>
        <p:spPr>
          <a:xfrm>
            <a:off x="1115568" y="2743200"/>
            <a:ext cx="914" cy="1234440"/>
          </a:xfrm>
          <a:prstGeom prst="line">
            <a:avLst/>
          </a:prstGeom>
          <a:noFill/>
          <a:ln w="22225">
            <a:solidFill>
              <a:schemeClr val="accent6"/>
            </a:solidFill>
            <a:prstDash val="dash"/>
            <a:tailEnd type="triangle"/>
          </a:ln>
        </p:spPr>
      </p:sp>
      <p:sp>
        <p:nvSpPr>
          <p:cNvPr id="49" name="arrow-128"/>
          <p:cNvSpPr/>
          <p:nvPr/>
        </p:nvSpPr>
        <p:spPr>
          <a:xfrm>
            <a:off x="5669280" y="2263140"/>
            <a:ext cx="320040" cy="914"/>
          </a:xfrm>
          <a:prstGeom prst="line">
            <a:avLst/>
          </a:prstGeom>
          <a:noFill/>
          <a:ln w="22225">
            <a:solidFill>
              <a:schemeClr val="accent6"/>
            </a:solidFill>
            <a:prstDash val="solid"/>
            <a:tailEnd type="triangle"/>
          </a:ln>
        </p:spPr>
      </p:sp>
      <p:sp>
        <p:nvSpPr>
          <p:cNvPr id="50" name="arrow-129"/>
          <p:cNvSpPr/>
          <p:nvPr/>
        </p:nvSpPr>
        <p:spPr>
          <a:xfrm>
            <a:off x="7543800" y="2263140"/>
            <a:ext cx="274320" cy="914"/>
          </a:xfrm>
          <a:prstGeom prst="line">
            <a:avLst/>
          </a:prstGeom>
          <a:noFill/>
          <a:ln w="22225">
            <a:solidFill>
              <a:schemeClr val="accent6"/>
            </a:solidFill>
            <a:prstDash val="solid"/>
            <a:tailEnd type="triangle"/>
          </a:ln>
        </p:spPr>
      </p:sp>
      <p:sp>
        <p:nvSpPr>
          <p:cNvPr id="51" name="arrow-130"/>
          <p:cNvSpPr/>
          <p:nvPr/>
        </p:nvSpPr>
        <p:spPr>
          <a:xfrm>
            <a:off x="8595360" y="2743200"/>
            <a:ext cx="914" cy="411480"/>
          </a:xfrm>
          <a:prstGeom prst="line">
            <a:avLst/>
          </a:prstGeom>
          <a:noFill/>
          <a:ln w="22225">
            <a:solidFill>
              <a:schemeClr val="accent6"/>
            </a:solidFill>
            <a:prstDash val="solid"/>
          </a:ln>
        </p:spPr>
      </p:sp>
      <p:sp>
        <p:nvSpPr>
          <p:cNvPr id="52" name="arrow-131"/>
          <p:cNvSpPr/>
          <p:nvPr/>
        </p:nvSpPr>
        <p:spPr>
          <a:xfrm>
            <a:off x="9372600" y="2263140"/>
            <a:ext cx="502920" cy="914"/>
          </a:xfrm>
          <a:prstGeom prst="line">
            <a:avLst/>
          </a:prstGeom>
          <a:noFill/>
          <a:ln w="22225">
            <a:solidFill>
              <a:schemeClr val="accent6"/>
            </a:solidFill>
            <a:prstDash val="solid"/>
            <a:tailEnd type="triangle"/>
          </a:ln>
        </p:spPr>
      </p:sp>
      <p:sp>
        <p:nvSpPr>
          <p:cNvPr id="53" name="arrow-132"/>
          <p:cNvSpPr/>
          <p:nvPr/>
        </p:nvSpPr>
        <p:spPr>
          <a:xfrm>
            <a:off x="6766560" y="2743200"/>
            <a:ext cx="914" cy="1783080"/>
          </a:xfrm>
          <a:prstGeom prst="line">
            <a:avLst/>
          </a:prstGeom>
          <a:noFill/>
          <a:ln w="22225">
            <a:solidFill>
              <a:schemeClr val="accent6"/>
            </a:solidFill>
            <a:prstDash val="solid"/>
            <a:tailEnd type="triangle"/>
          </a:ln>
        </p:spPr>
      </p:sp>
      <p:sp>
        <p:nvSpPr>
          <p:cNvPr id="54" name="arrow-133"/>
          <p:cNvSpPr/>
          <p:nvPr/>
        </p:nvSpPr>
        <p:spPr>
          <a:xfrm flipV="1">
            <a:off x="9372600" y="4636008"/>
            <a:ext cx="502920" cy="27432"/>
          </a:xfrm>
          <a:prstGeom prst="line">
            <a:avLst/>
          </a:prstGeom>
          <a:noFill/>
          <a:ln w="22225">
            <a:solidFill>
              <a:schemeClr val="accent6"/>
            </a:solidFill>
            <a:prstDash val="solid"/>
            <a:tailEnd type="triangle"/>
          </a:ln>
        </p:spPr>
      </p:sp>
      <p:sp>
        <p:nvSpPr>
          <p:cNvPr id="55" name="arrow-134"/>
          <p:cNvSpPr/>
          <p:nvPr/>
        </p:nvSpPr>
        <p:spPr>
          <a:xfrm>
            <a:off x="9372600" y="5212080"/>
            <a:ext cx="502920" cy="548640"/>
          </a:xfrm>
          <a:prstGeom prst="line">
            <a:avLst/>
          </a:prstGeom>
          <a:noFill/>
          <a:ln w="22225">
            <a:solidFill>
              <a:schemeClr val="accent6"/>
            </a:solidFill>
            <a:prstDash val="solid"/>
            <a:tailEnd type="triangle"/>
          </a:ln>
        </p:spPr>
      </p:sp>
      <p:sp>
        <p:nvSpPr>
          <p:cNvPr id="56" name="txt-135"/>
          <p:cNvSpPr txBox="1"/>
          <p:nvPr/>
        </p:nvSpPr>
        <p:spPr>
          <a:xfrm>
            <a:off x="2926080" y="3063240"/>
            <a:ext cx="822960" cy="274320"/>
          </a:xfrm>
          <a:prstGeom prst="rect">
            <a:avLst/>
          </a:prstGeom>
          <a:noFill/>
          <a:ln/>
        </p:spPr>
        <p:txBody>
          <a:bodyPr wrap="square" lIns="0" tIns="0" rIns="0" bIns="0" rtlCol="0" anchor="t"/>
          <a:lstStyle/>
          <a:p>
            <a:pPr indent="0" marL="0">
              <a:buNone/>
            </a:pPr>
            <a:r>
              <a:rPr lang="en-US" sz="1200" b="1" dirty="0">
                <a:solidFill>
                  <a:schemeClr val="accent2"/>
                </a:solidFill>
              </a:rPr>
              <a:t>HTML</a:t>
            </a:r>
            <a:endParaRPr lang="en-US" sz="1200" dirty="0"/>
          </a:p>
        </p:txBody>
      </p:sp>
      <p:sp>
        <p:nvSpPr>
          <p:cNvPr id="57" name="txt-136"/>
          <p:cNvSpPr txBox="1"/>
          <p:nvPr/>
        </p:nvSpPr>
        <p:spPr>
          <a:xfrm>
            <a:off x="6858000" y="3566160"/>
            <a:ext cx="822960" cy="274320"/>
          </a:xfrm>
          <a:prstGeom prst="rect">
            <a:avLst/>
          </a:prstGeom>
          <a:noFill/>
          <a:ln/>
        </p:spPr>
        <p:txBody>
          <a:bodyPr wrap="square" lIns="0" tIns="0" rIns="0" bIns="0" rtlCol="0" anchor="t"/>
          <a:lstStyle/>
          <a:p>
            <a:pPr indent="0" marL="0">
              <a:buNone/>
            </a:pPr>
            <a:r>
              <a:rPr lang="en-US" sz="1200" dirty="0">
                <a:solidFill>
                  <a:schemeClr val="tx2"/>
                </a:solidFill>
              </a:rPr>
              <a:t>რიგში</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MVC მოთხოვნის გზა: შეტყობინების გაგზავნა</a:t>
            </a:r>
            <a:endParaRPr lang="en-US" sz="3200" dirty="0"/>
          </a:p>
        </p:txBody>
      </p:sp>
      <p:sp>
        <p:nvSpPr>
          <p:cNvPr id="3" name="box-137"/>
          <p:cNvSpPr/>
          <p:nvPr/>
        </p:nvSpPr>
        <p:spPr>
          <a:xfrm>
            <a:off x="548640" y="1463040"/>
            <a:ext cx="3474720" cy="1828800"/>
          </a:xfrm>
          <a:prstGeom prst="roundRect">
            <a:avLst>
              <a:gd name="adj" fmla="val 6000"/>
            </a:avLst>
          </a:prstGeom>
          <a:solidFill>
            <a:schemeClr val="bg2"/>
          </a:solidFill>
          <a:ln/>
        </p:spPr>
      </p:sp>
      <p:sp>
        <p:nvSpPr>
          <p:cNvPr id="4" name="badge-138"/>
          <p:cNvSpPr/>
          <p:nvPr/>
        </p:nvSpPr>
        <p:spPr>
          <a:xfrm>
            <a:off x="777240" y="1691640"/>
            <a:ext cx="457200" cy="457200"/>
          </a:xfrm>
          <a:prstGeom prst="ellipse">
            <a:avLst/>
          </a:prstGeom>
          <a:solidFill>
            <a:schemeClr val="accent1"/>
          </a:solidFill>
          <a:ln/>
        </p:spPr>
      </p:sp>
      <p:sp>
        <p:nvSpPr>
          <p:cNvPr id="5" name="txt-139"/>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xt-140"/>
          <p:cNvSpPr txBox="1"/>
          <p:nvPr/>
        </p:nvSpPr>
        <p:spPr>
          <a:xfrm>
            <a:off x="1417320" y="169164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ფორმის გაგზავნა</a:t>
            </a:r>
            <a:endParaRPr lang="en-US" sz="1700" dirty="0"/>
          </a:p>
        </p:txBody>
      </p:sp>
      <p:sp>
        <p:nvSpPr>
          <p:cNvPr id="7" name="txt-141"/>
          <p:cNvSpPr txBox="1"/>
          <p:nvPr/>
        </p:nvSpPr>
        <p:spPr>
          <a:xfrm>
            <a:off x="777240" y="2286000"/>
            <a:ext cx="3017520" cy="822960"/>
          </a:xfrm>
          <a:prstGeom prst="rect">
            <a:avLst/>
          </a:prstGeom>
          <a:noFill/>
          <a:ln/>
        </p:spPr>
        <p:txBody>
          <a:bodyPr wrap="square" lIns="0" tIns="0" rIns="0" bIns="0" rtlCol="0" anchor="t"/>
          <a:lstStyle/>
          <a:p>
            <a:pPr indent="0" marL="0">
              <a:buNone/>
            </a:pPr>
            <a:r>
              <a:rPr lang="en-US" sz="1500" dirty="0">
                <a:solidFill>
                  <a:schemeClr val="tx2"/>
                </a:solidFill>
              </a:rPr>
              <a:t>ბრაუზერი: POST /reports/create ფოტოთი</a:t>
            </a:r>
            <a:endParaRPr lang="en-US" sz="1500" dirty="0"/>
          </a:p>
        </p:txBody>
      </p:sp>
      <p:sp>
        <p:nvSpPr>
          <p:cNvPr id="8" name="arrow-142"/>
          <p:cNvSpPr/>
          <p:nvPr/>
        </p:nvSpPr>
        <p:spPr>
          <a:xfrm>
            <a:off x="4023360" y="2377440"/>
            <a:ext cx="320040" cy="914"/>
          </a:xfrm>
          <a:prstGeom prst="line">
            <a:avLst/>
          </a:prstGeom>
          <a:noFill/>
          <a:ln w="28575">
            <a:solidFill>
              <a:schemeClr val="accent1"/>
            </a:solidFill>
            <a:prstDash val="solid"/>
            <a:tailEnd type="triangle"/>
          </a:ln>
        </p:spPr>
      </p:sp>
      <p:sp>
        <p:nvSpPr>
          <p:cNvPr id="9" name="box-143"/>
          <p:cNvSpPr/>
          <p:nvPr/>
        </p:nvSpPr>
        <p:spPr>
          <a:xfrm>
            <a:off x="4343400" y="1463040"/>
            <a:ext cx="3474720" cy="1828800"/>
          </a:xfrm>
          <a:prstGeom prst="roundRect">
            <a:avLst>
              <a:gd name="adj" fmla="val 6000"/>
            </a:avLst>
          </a:prstGeom>
          <a:solidFill>
            <a:schemeClr val="bg2"/>
          </a:solidFill>
          <a:ln/>
        </p:spPr>
      </p:sp>
      <p:sp>
        <p:nvSpPr>
          <p:cNvPr id="10" name="badge-144"/>
          <p:cNvSpPr/>
          <p:nvPr/>
        </p:nvSpPr>
        <p:spPr>
          <a:xfrm>
            <a:off x="4572000" y="1691640"/>
            <a:ext cx="457200" cy="457200"/>
          </a:xfrm>
          <a:prstGeom prst="ellipse">
            <a:avLst/>
          </a:prstGeom>
          <a:solidFill>
            <a:schemeClr val="accent1"/>
          </a:solidFill>
          <a:ln/>
        </p:spPr>
      </p:sp>
      <p:sp>
        <p:nvSpPr>
          <p:cNvPr id="11" name="txt-145"/>
          <p:cNvSpPr txBox="1"/>
          <p:nvPr/>
        </p:nvSpPr>
        <p:spPr>
          <a:xfrm>
            <a:off x="457200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xt-146"/>
          <p:cNvSpPr txBox="1"/>
          <p:nvPr/>
        </p:nvSpPr>
        <p:spPr>
          <a:xfrm>
            <a:off x="5212080" y="169164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Controller</a:t>
            </a:r>
            <a:endParaRPr lang="en-US" sz="1700" dirty="0"/>
          </a:p>
        </p:txBody>
      </p:sp>
      <p:sp>
        <p:nvSpPr>
          <p:cNvPr id="13" name="txt-147"/>
          <p:cNvSpPr txBox="1"/>
          <p:nvPr/>
        </p:nvSpPr>
        <p:spPr>
          <a:xfrm>
            <a:off x="4572000" y="2286000"/>
            <a:ext cx="3017520" cy="822960"/>
          </a:xfrm>
          <a:prstGeom prst="rect">
            <a:avLst/>
          </a:prstGeom>
          <a:noFill/>
          <a:ln/>
        </p:spPr>
        <p:txBody>
          <a:bodyPr wrap="square" lIns="0" tIns="0" rIns="0" bIns="0" rtlCol="0" anchor="t"/>
          <a:lstStyle/>
          <a:p>
            <a:pPr indent="0" marL="0">
              <a:buNone/>
            </a:pPr>
            <a:r>
              <a:rPr lang="en-US" sz="1500" dirty="0">
                <a:solidFill>
                  <a:schemeClr val="tx2"/>
                </a:solidFill>
              </a:rPr>
              <a:t>ReportsController.Create, [Authorize], CSRF შემოწმება</a:t>
            </a:r>
            <a:endParaRPr lang="en-US" sz="1500" dirty="0"/>
          </a:p>
        </p:txBody>
      </p:sp>
      <p:sp>
        <p:nvSpPr>
          <p:cNvPr id="14" name="arrow-148"/>
          <p:cNvSpPr/>
          <p:nvPr/>
        </p:nvSpPr>
        <p:spPr>
          <a:xfrm>
            <a:off x="7818120" y="2377440"/>
            <a:ext cx="320040" cy="914"/>
          </a:xfrm>
          <a:prstGeom prst="line">
            <a:avLst/>
          </a:prstGeom>
          <a:noFill/>
          <a:ln w="28575">
            <a:solidFill>
              <a:schemeClr val="accent1"/>
            </a:solidFill>
            <a:prstDash val="solid"/>
            <a:tailEnd type="triangle"/>
          </a:ln>
        </p:spPr>
      </p:sp>
      <p:sp>
        <p:nvSpPr>
          <p:cNvPr id="15" name="box-149"/>
          <p:cNvSpPr/>
          <p:nvPr/>
        </p:nvSpPr>
        <p:spPr>
          <a:xfrm>
            <a:off x="8138160" y="1463040"/>
            <a:ext cx="3474720" cy="1828800"/>
          </a:xfrm>
          <a:prstGeom prst="roundRect">
            <a:avLst>
              <a:gd name="adj" fmla="val 6000"/>
            </a:avLst>
          </a:prstGeom>
          <a:solidFill>
            <a:schemeClr val="bg2"/>
          </a:solidFill>
          <a:ln/>
        </p:spPr>
      </p:sp>
      <p:sp>
        <p:nvSpPr>
          <p:cNvPr id="16" name="badge-150"/>
          <p:cNvSpPr/>
          <p:nvPr/>
        </p:nvSpPr>
        <p:spPr>
          <a:xfrm>
            <a:off x="8366760" y="1691640"/>
            <a:ext cx="457200" cy="457200"/>
          </a:xfrm>
          <a:prstGeom prst="ellipse">
            <a:avLst/>
          </a:prstGeom>
          <a:solidFill>
            <a:schemeClr val="accent1"/>
          </a:solidFill>
          <a:ln/>
        </p:spPr>
      </p:sp>
      <p:sp>
        <p:nvSpPr>
          <p:cNvPr id="17" name="txt-151"/>
          <p:cNvSpPr txBox="1"/>
          <p:nvPr/>
        </p:nvSpPr>
        <p:spPr>
          <a:xfrm>
            <a:off x="836676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xt-152"/>
          <p:cNvSpPr txBox="1"/>
          <p:nvPr/>
        </p:nvSpPr>
        <p:spPr>
          <a:xfrm>
            <a:off x="9006840" y="169164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ვალიდაცია</a:t>
            </a:r>
            <a:endParaRPr lang="en-US" sz="1700" dirty="0"/>
          </a:p>
        </p:txBody>
      </p:sp>
      <p:sp>
        <p:nvSpPr>
          <p:cNvPr id="19" name="txt-153"/>
          <p:cNvSpPr txBox="1"/>
          <p:nvPr/>
        </p:nvSpPr>
        <p:spPr>
          <a:xfrm>
            <a:off x="8366760" y="2286000"/>
            <a:ext cx="3017520" cy="822960"/>
          </a:xfrm>
          <a:prstGeom prst="rect">
            <a:avLst/>
          </a:prstGeom>
          <a:noFill/>
          <a:ln/>
        </p:spPr>
        <p:txBody>
          <a:bodyPr wrap="square" lIns="0" tIns="0" rIns="0" bIns="0" rtlCol="0" anchor="t"/>
          <a:lstStyle/>
          <a:p>
            <a:pPr indent="0" marL="0">
              <a:buNone/>
            </a:pPr>
            <a:r>
              <a:rPr lang="en-US" sz="1500" dirty="0">
                <a:solidFill>
                  <a:schemeClr val="tx2"/>
                </a:solidFill>
              </a:rPr>
              <a:t>ModelState; შეცდომისას იგივე View შეცდომებით</a:t>
            </a:r>
            <a:endParaRPr lang="en-US" sz="1500" dirty="0"/>
          </a:p>
        </p:txBody>
      </p:sp>
      <p:sp>
        <p:nvSpPr>
          <p:cNvPr id="20" name="box-154"/>
          <p:cNvSpPr/>
          <p:nvPr/>
        </p:nvSpPr>
        <p:spPr>
          <a:xfrm>
            <a:off x="548640" y="3840480"/>
            <a:ext cx="3474720" cy="1828800"/>
          </a:xfrm>
          <a:prstGeom prst="roundRect">
            <a:avLst>
              <a:gd name="adj" fmla="val 6000"/>
            </a:avLst>
          </a:prstGeom>
          <a:solidFill>
            <a:schemeClr val="bg2"/>
          </a:solidFill>
          <a:ln/>
        </p:spPr>
      </p:sp>
      <p:sp>
        <p:nvSpPr>
          <p:cNvPr id="21" name="badge-155"/>
          <p:cNvSpPr/>
          <p:nvPr/>
        </p:nvSpPr>
        <p:spPr>
          <a:xfrm>
            <a:off x="777240" y="4069080"/>
            <a:ext cx="457200" cy="457200"/>
          </a:xfrm>
          <a:prstGeom prst="ellipse">
            <a:avLst/>
          </a:prstGeom>
          <a:solidFill>
            <a:schemeClr val="accent1"/>
          </a:solidFill>
          <a:ln/>
        </p:spPr>
      </p:sp>
      <p:sp>
        <p:nvSpPr>
          <p:cNvPr id="22" name="txt-156"/>
          <p:cNvSpPr txBox="1"/>
          <p:nvPr/>
        </p:nvSpPr>
        <p:spPr>
          <a:xfrm>
            <a:off x="77724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xt-157"/>
          <p:cNvSpPr txBox="1"/>
          <p:nvPr/>
        </p:nvSpPr>
        <p:spPr>
          <a:xfrm>
            <a:off x="1417320" y="406908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Service + Model</a:t>
            </a:r>
            <a:endParaRPr lang="en-US" sz="1700" dirty="0"/>
          </a:p>
        </p:txBody>
      </p:sp>
      <p:sp>
        <p:nvSpPr>
          <p:cNvPr id="24" name="txt-158"/>
          <p:cNvSpPr txBox="1"/>
          <p:nvPr/>
        </p:nvSpPr>
        <p:spPr>
          <a:xfrm>
            <a:off x="777240" y="4663440"/>
            <a:ext cx="3017520" cy="822960"/>
          </a:xfrm>
          <a:prstGeom prst="rect">
            <a:avLst/>
          </a:prstGeom>
          <a:noFill/>
          <a:ln/>
        </p:spPr>
        <p:txBody>
          <a:bodyPr wrap="square" lIns="0" tIns="0" rIns="0" bIns="0" rtlCol="0" anchor="t"/>
          <a:lstStyle/>
          <a:p>
            <a:pPr indent="0" marL="0">
              <a:buNone/>
            </a:pPr>
            <a:r>
              <a:rPr lang="en-US" sz="1500" dirty="0">
                <a:solidFill>
                  <a:schemeClr val="tx2"/>
                </a:solidFill>
              </a:rPr>
              <a:t>ReportService ქმნის Report-ს სტატუსით New</a:t>
            </a:r>
            <a:endParaRPr lang="en-US" sz="1500" dirty="0"/>
          </a:p>
        </p:txBody>
      </p:sp>
      <p:sp>
        <p:nvSpPr>
          <p:cNvPr id="25" name="arrow-159"/>
          <p:cNvSpPr/>
          <p:nvPr/>
        </p:nvSpPr>
        <p:spPr>
          <a:xfrm>
            <a:off x="4023360" y="4754880"/>
            <a:ext cx="320040" cy="914"/>
          </a:xfrm>
          <a:prstGeom prst="line">
            <a:avLst/>
          </a:prstGeom>
          <a:noFill/>
          <a:ln w="28575">
            <a:solidFill>
              <a:schemeClr val="accent1"/>
            </a:solidFill>
            <a:prstDash val="solid"/>
            <a:tailEnd type="triangle"/>
          </a:ln>
        </p:spPr>
      </p:sp>
      <p:sp>
        <p:nvSpPr>
          <p:cNvPr id="26" name="box-160"/>
          <p:cNvSpPr/>
          <p:nvPr/>
        </p:nvSpPr>
        <p:spPr>
          <a:xfrm>
            <a:off x="4343400" y="3840480"/>
            <a:ext cx="3474720" cy="1828800"/>
          </a:xfrm>
          <a:prstGeom prst="roundRect">
            <a:avLst>
              <a:gd name="adj" fmla="val 6000"/>
            </a:avLst>
          </a:prstGeom>
          <a:solidFill>
            <a:schemeClr val="bg2"/>
          </a:solidFill>
          <a:ln/>
        </p:spPr>
      </p:sp>
      <p:sp>
        <p:nvSpPr>
          <p:cNvPr id="27" name="badge-161"/>
          <p:cNvSpPr/>
          <p:nvPr/>
        </p:nvSpPr>
        <p:spPr>
          <a:xfrm>
            <a:off x="4572000" y="4069080"/>
            <a:ext cx="457200" cy="457200"/>
          </a:xfrm>
          <a:prstGeom prst="ellipse">
            <a:avLst/>
          </a:prstGeom>
          <a:solidFill>
            <a:schemeClr val="accent1"/>
          </a:solidFill>
          <a:ln/>
        </p:spPr>
      </p:sp>
      <p:sp>
        <p:nvSpPr>
          <p:cNvPr id="28" name="txt-162"/>
          <p:cNvSpPr txBox="1"/>
          <p:nvPr/>
        </p:nvSpPr>
        <p:spPr>
          <a:xfrm>
            <a:off x="457200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9" name="txt-163"/>
          <p:cNvSpPr txBox="1"/>
          <p:nvPr/>
        </p:nvSpPr>
        <p:spPr>
          <a:xfrm>
            <a:off x="5212080" y="406908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ფონური ამოცანა</a:t>
            </a:r>
            <a:endParaRPr lang="en-US" sz="1700" dirty="0"/>
          </a:p>
        </p:txBody>
      </p:sp>
      <p:sp>
        <p:nvSpPr>
          <p:cNvPr id="30" name="txt-164"/>
          <p:cNvSpPr txBox="1"/>
          <p:nvPr/>
        </p:nvSpPr>
        <p:spPr>
          <a:xfrm>
            <a:off x="4572000" y="4663440"/>
            <a:ext cx="3017520" cy="822960"/>
          </a:xfrm>
          <a:prstGeom prst="rect">
            <a:avLst/>
          </a:prstGeom>
          <a:noFill/>
          <a:ln/>
        </p:spPr>
        <p:txBody>
          <a:bodyPr wrap="square" lIns="0" tIns="0" rIns="0" bIns="0" rtlCol="0" anchor="t"/>
          <a:lstStyle/>
          <a:p>
            <a:pPr indent="0" marL="0">
              <a:buNone/>
            </a:pPr>
            <a:r>
              <a:rPr lang="en-US" sz="1500" dirty="0">
                <a:solidFill>
                  <a:schemeClr val="tx2"/>
                </a:solidFill>
              </a:rPr>
              <a:t>Hangfire: ფოტოს შეკუმშვა, EXIF-ის წაშლა</a:t>
            </a:r>
            <a:endParaRPr lang="en-US" sz="1500" dirty="0"/>
          </a:p>
        </p:txBody>
      </p:sp>
      <p:sp>
        <p:nvSpPr>
          <p:cNvPr id="31" name="arrow-165"/>
          <p:cNvSpPr/>
          <p:nvPr/>
        </p:nvSpPr>
        <p:spPr>
          <a:xfrm>
            <a:off x="7818120" y="4754880"/>
            <a:ext cx="320040" cy="914"/>
          </a:xfrm>
          <a:prstGeom prst="line">
            <a:avLst/>
          </a:prstGeom>
          <a:noFill/>
          <a:ln w="28575">
            <a:solidFill>
              <a:schemeClr val="accent1"/>
            </a:solidFill>
            <a:prstDash val="solid"/>
            <a:tailEnd type="triangle"/>
          </a:ln>
        </p:spPr>
      </p:sp>
      <p:sp>
        <p:nvSpPr>
          <p:cNvPr id="32" name="box-166"/>
          <p:cNvSpPr/>
          <p:nvPr/>
        </p:nvSpPr>
        <p:spPr>
          <a:xfrm>
            <a:off x="8138160" y="3840480"/>
            <a:ext cx="3474720" cy="1828800"/>
          </a:xfrm>
          <a:prstGeom prst="roundRect">
            <a:avLst>
              <a:gd name="adj" fmla="val 6000"/>
            </a:avLst>
          </a:prstGeom>
          <a:solidFill>
            <a:schemeClr val="bg2"/>
          </a:solidFill>
          <a:ln/>
        </p:spPr>
      </p:sp>
      <p:sp>
        <p:nvSpPr>
          <p:cNvPr id="33" name="badge-167"/>
          <p:cNvSpPr/>
          <p:nvPr/>
        </p:nvSpPr>
        <p:spPr>
          <a:xfrm>
            <a:off x="8366760" y="4069080"/>
            <a:ext cx="457200" cy="457200"/>
          </a:xfrm>
          <a:prstGeom prst="ellipse">
            <a:avLst/>
          </a:prstGeom>
          <a:solidFill>
            <a:schemeClr val="accent1"/>
          </a:solidFill>
          <a:ln/>
        </p:spPr>
      </p:sp>
      <p:sp>
        <p:nvSpPr>
          <p:cNvPr id="34" name="txt-168"/>
          <p:cNvSpPr txBox="1"/>
          <p:nvPr/>
        </p:nvSpPr>
        <p:spPr>
          <a:xfrm>
            <a:off x="836676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5" name="txt-169"/>
          <p:cNvSpPr txBox="1"/>
          <p:nvPr/>
        </p:nvSpPr>
        <p:spPr>
          <a:xfrm>
            <a:off x="9006840" y="406908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View</a:t>
            </a:r>
            <a:endParaRPr lang="en-US" sz="1700" dirty="0"/>
          </a:p>
        </p:txBody>
      </p:sp>
      <p:sp>
        <p:nvSpPr>
          <p:cNvPr id="36" name="txt-170"/>
          <p:cNvSpPr txBox="1"/>
          <p:nvPr/>
        </p:nvSpPr>
        <p:spPr>
          <a:xfrm>
            <a:off x="8366760" y="4663440"/>
            <a:ext cx="3017520" cy="822960"/>
          </a:xfrm>
          <a:prstGeom prst="rect">
            <a:avLst/>
          </a:prstGeom>
          <a:noFill/>
          <a:ln/>
        </p:spPr>
        <p:txBody>
          <a:bodyPr wrap="square" lIns="0" tIns="0" rIns="0" bIns="0" rtlCol="0" anchor="t"/>
          <a:lstStyle/>
          <a:p>
            <a:pPr indent="0" marL="0">
              <a:buNone/>
            </a:pPr>
            <a:r>
              <a:rPr lang="en-US" sz="1500" dirty="0">
                <a:solidFill>
                  <a:schemeClr val="tx2"/>
                </a:solidFill>
              </a:rPr>
              <a:t>Redirect → Details.cshtml → HTML მოქალაქეს</a:t>
            </a:r>
            <a:endParaRPr lang="en-US" sz="1500" dirty="0"/>
          </a:p>
        </p:txBody>
      </p:sp>
      <p:sp>
        <p:nvSpPr>
          <p:cNvPr id="37" name="arrow-171"/>
          <p:cNvSpPr/>
          <p:nvPr/>
        </p:nvSpPr>
        <p:spPr>
          <a:xfrm>
            <a:off x="11155680" y="3291840"/>
            <a:ext cx="914" cy="274320"/>
          </a:xfrm>
          <a:prstGeom prst="line">
            <a:avLst/>
          </a:prstGeom>
          <a:noFill/>
          <a:ln w="28575">
            <a:solidFill>
              <a:schemeClr val="accent1"/>
            </a:solidFill>
            <a:prstDash val="solid"/>
          </a:ln>
        </p:spPr>
      </p:sp>
      <p:sp>
        <p:nvSpPr>
          <p:cNvPr id="38" name="arrow-172"/>
          <p:cNvSpPr/>
          <p:nvPr/>
        </p:nvSpPr>
        <p:spPr>
          <a:xfrm flipH="1">
            <a:off x="2286000" y="3566160"/>
            <a:ext cx="8869680" cy="914"/>
          </a:xfrm>
          <a:prstGeom prst="line">
            <a:avLst/>
          </a:prstGeom>
          <a:noFill/>
          <a:ln w="28575">
            <a:solidFill>
              <a:schemeClr val="accent1"/>
            </a:solidFill>
            <a:prstDash val="solid"/>
          </a:ln>
        </p:spPr>
      </p:sp>
      <p:sp>
        <p:nvSpPr>
          <p:cNvPr id="39" name="arrow-173"/>
          <p:cNvSpPr/>
          <p:nvPr/>
        </p:nvSpPr>
        <p:spPr>
          <a:xfrm>
            <a:off x="2286000" y="3566160"/>
            <a:ext cx="914" cy="274320"/>
          </a:xfrm>
          <a:prstGeom prst="line">
            <a:avLst/>
          </a:prstGeom>
          <a:noFill/>
          <a:ln w="28575">
            <a:solidFill>
              <a:schemeClr val="accent1"/>
            </a:solidFill>
            <a:prstDash val="solid"/>
            <a:tailEnd type="triangle"/>
          </a:ln>
        </p:spPr>
      </p:sp>
      <p:sp>
        <p:nvSpPr>
          <p:cNvPr id="40" name="txt-174"/>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შეცდომისას: იგივე View შეცდომების ტექსტით, მონაცემები ბაზაში არ იწერება</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Backend: Design Pattern-ები</a:t>
            </a:r>
            <a:endParaRPr lang="en-US" sz="3200" dirty="0"/>
          </a:p>
        </p:txBody>
      </p:sp>
      <p:sp>
        <p:nvSpPr>
          <p:cNvPr id="3" name="box-175"/>
          <p:cNvSpPr/>
          <p:nvPr/>
        </p:nvSpPr>
        <p:spPr>
          <a:xfrm>
            <a:off x="548640" y="1371600"/>
            <a:ext cx="3474720" cy="2194560"/>
          </a:xfrm>
          <a:prstGeom prst="roundRect">
            <a:avLst>
              <a:gd name="adj" fmla="val 5000"/>
            </a:avLst>
          </a:prstGeom>
          <a:solidFill>
            <a:schemeClr val="bg2"/>
          </a:solidFill>
          <a:ln/>
        </p:spPr>
      </p:sp>
      <p:sp>
        <p:nvSpPr>
          <p:cNvPr id="4" name="badge-176"/>
          <p:cNvSpPr/>
          <p:nvPr/>
        </p:nvSpPr>
        <p:spPr>
          <a:xfrm>
            <a:off x="777240" y="1600200"/>
            <a:ext cx="457200" cy="457200"/>
          </a:xfrm>
          <a:prstGeom prst="ellipse">
            <a:avLst/>
          </a:prstGeom>
          <a:solidFill>
            <a:schemeClr val="accent1"/>
          </a:solidFill>
          <a:ln/>
        </p:spPr>
      </p:sp>
      <p:sp>
        <p:nvSpPr>
          <p:cNvPr id="5" name="txt-177"/>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xt-178"/>
          <p:cNvSpPr txBox="1"/>
          <p:nvPr/>
        </p:nvSpPr>
        <p:spPr>
          <a:xfrm>
            <a:off x="1417320" y="160020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MVC</a:t>
            </a:r>
            <a:endParaRPr lang="en-US" sz="1700" dirty="0"/>
          </a:p>
        </p:txBody>
      </p:sp>
      <p:sp>
        <p:nvSpPr>
          <p:cNvPr id="7" name="txt-179"/>
          <p:cNvSpPr txBox="1"/>
          <p:nvPr/>
        </p:nvSpPr>
        <p:spPr>
          <a:xfrm>
            <a:off x="777240" y="2194560"/>
            <a:ext cx="3017520" cy="1188720"/>
          </a:xfrm>
          <a:prstGeom prst="rect">
            <a:avLst/>
          </a:prstGeom>
          <a:noFill/>
          <a:ln/>
        </p:spPr>
        <p:txBody>
          <a:bodyPr wrap="square" lIns="0" tIns="0" rIns="0" bIns="0" rtlCol="0" anchor="t"/>
          <a:lstStyle/>
          <a:p>
            <a:pPr indent="0" marL="0">
              <a:buNone/>
            </a:pPr>
            <a:r>
              <a:rPr lang="en-US" sz="1500" dirty="0">
                <a:solidFill>
                  <a:schemeClr val="tx2"/>
                </a:solidFill>
              </a:rPr>
              <a:t>Controller, Model და View ცალ-ცალკე.</a:t>
            </a:r>
            <a:endParaRPr lang="en-US" sz="1500" dirty="0"/>
          </a:p>
          <a:p>
            <a:pPr indent="0" marL="0">
              <a:buNone/>
            </a:pPr>
            <a:r>
              <a:rPr lang="en-US" sz="1500" dirty="0">
                <a:solidFill>
                  <a:schemeClr val="tx2"/>
                </a:solidFill>
              </a:rPr>
              <a:t>სად: ყველა გვერდი, მაგ. ReportsController</a:t>
            </a:r>
            <a:endParaRPr lang="en-US" sz="1500" dirty="0"/>
          </a:p>
        </p:txBody>
      </p:sp>
      <p:sp>
        <p:nvSpPr>
          <p:cNvPr id="8" name="box-180"/>
          <p:cNvSpPr/>
          <p:nvPr/>
        </p:nvSpPr>
        <p:spPr>
          <a:xfrm>
            <a:off x="4343400" y="1371600"/>
            <a:ext cx="3474720" cy="2194560"/>
          </a:xfrm>
          <a:prstGeom prst="roundRect">
            <a:avLst>
              <a:gd name="adj" fmla="val 5000"/>
            </a:avLst>
          </a:prstGeom>
          <a:solidFill>
            <a:schemeClr val="bg2"/>
          </a:solidFill>
          <a:ln/>
        </p:spPr>
      </p:sp>
      <p:sp>
        <p:nvSpPr>
          <p:cNvPr id="9" name="badge-181"/>
          <p:cNvSpPr/>
          <p:nvPr/>
        </p:nvSpPr>
        <p:spPr>
          <a:xfrm>
            <a:off x="4572000" y="1600200"/>
            <a:ext cx="457200" cy="457200"/>
          </a:xfrm>
          <a:prstGeom prst="ellipse">
            <a:avLst/>
          </a:prstGeom>
          <a:solidFill>
            <a:schemeClr val="accent1"/>
          </a:solidFill>
          <a:ln/>
        </p:spPr>
      </p:sp>
      <p:sp>
        <p:nvSpPr>
          <p:cNvPr id="10" name="txt-182"/>
          <p:cNvSpPr txBox="1"/>
          <p:nvPr/>
        </p:nvSpPr>
        <p:spPr>
          <a:xfrm>
            <a:off x="457200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xt-183"/>
          <p:cNvSpPr txBox="1"/>
          <p:nvPr/>
        </p:nvSpPr>
        <p:spPr>
          <a:xfrm>
            <a:off x="5212080" y="160020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Repository + UoW</a:t>
            </a:r>
            <a:endParaRPr lang="en-US" sz="1700" dirty="0"/>
          </a:p>
        </p:txBody>
      </p:sp>
      <p:sp>
        <p:nvSpPr>
          <p:cNvPr id="12" name="txt-184"/>
          <p:cNvSpPr txBox="1"/>
          <p:nvPr/>
        </p:nvSpPr>
        <p:spPr>
          <a:xfrm>
            <a:off x="4572000" y="2194560"/>
            <a:ext cx="3017520" cy="1188720"/>
          </a:xfrm>
          <a:prstGeom prst="rect">
            <a:avLst/>
          </a:prstGeom>
          <a:noFill/>
          <a:ln/>
        </p:spPr>
        <p:txBody>
          <a:bodyPr wrap="square" lIns="0" tIns="0" rIns="0" bIns="0" rtlCol="0" anchor="t"/>
          <a:lstStyle/>
          <a:p>
            <a:pPr indent="0" marL="0">
              <a:buNone/>
            </a:pPr>
            <a:r>
              <a:rPr lang="en-US" sz="1500" dirty="0">
                <a:solidFill>
                  <a:schemeClr val="tx2"/>
                </a:solidFill>
              </a:rPr>
              <a:t>EF Core დამალულია; SaveChanges ერთ ტრანზაქციაში.</a:t>
            </a:r>
            <a:endParaRPr lang="en-US" sz="1500" dirty="0"/>
          </a:p>
          <a:p>
            <a:pPr indent="0" marL="0">
              <a:buNone/>
            </a:pPr>
            <a:r>
              <a:rPr lang="en-US" sz="1500" dirty="0">
                <a:solidFill>
                  <a:schemeClr val="tx2"/>
                </a:solidFill>
              </a:rPr>
              <a:t>სად: IReportRepository</a:t>
            </a:r>
            <a:endParaRPr lang="en-US" sz="1500" dirty="0"/>
          </a:p>
        </p:txBody>
      </p:sp>
      <p:sp>
        <p:nvSpPr>
          <p:cNvPr id="13" name="box-185"/>
          <p:cNvSpPr/>
          <p:nvPr/>
        </p:nvSpPr>
        <p:spPr>
          <a:xfrm>
            <a:off x="8138160" y="1371600"/>
            <a:ext cx="3474720" cy="2194560"/>
          </a:xfrm>
          <a:prstGeom prst="roundRect">
            <a:avLst>
              <a:gd name="adj" fmla="val 5000"/>
            </a:avLst>
          </a:prstGeom>
          <a:solidFill>
            <a:schemeClr val="bg2"/>
          </a:solidFill>
          <a:ln/>
        </p:spPr>
      </p:sp>
      <p:sp>
        <p:nvSpPr>
          <p:cNvPr id="14" name="badge-186"/>
          <p:cNvSpPr/>
          <p:nvPr/>
        </p:nvSpPr>
        <p:spPr>
          <a:xfrm>
            <a:off x="8366760" y="1600200"/>
            <a:ext cx="457200" cy="457200"/>
          </a:xfrm>
          <a:prstGeom prst="ellipse">
            <a:avLst/>
          </a:prstGeom>
          <a:solidFill>
            <a:schemeClr val="accent1"/>
          </a:solidFill>
          <a:ln/>
        </p:spPr>
      </p:sp>
      <p:sp>
        <p:nvSpPr>
          <p:cNvPr id="15" name="txt-187"/>
          <p:cNvSpPr txBox="1"/>
          <p:nvPr/>
        </p:nvSpPr>
        <p:spPr>
          <a:xfrm>
            <a:off x="836676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xt-188"/>
          <p:cNvSpPr txBox="1"/>
          <p:nvPr/>
        </p:nvSpPr>
        <p:spPr>
          <a:xfrm>
            <a:off x="9006840" y="160020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Dependency Injection</a:t>
            </a:r>
            <a:endParaRPr lang="en-US" sz="1700" dirty="0"/>
          </a:p>
        </p:txBody>
      </p:sp>
      <p:sp>
        <p:nvSpPr>
          <p:cNvPr id="17" name="txt-189"/>
          <p:cNvSpPr txBox="1"/>
          <p:nvPr/>
        </p:nvSpPr>
        <p:spPr>
          <a:xfrm>
            <a:off x="8366760" y="2194560"/>
            <a:ext cx="3017520" cy="1188720"/>
          </a:xfrm>
          <a:prstGeom prst="rect">
            <a:avLst/>
          </a:prstGeom>
          <a:noFill/>
          <a:ln/>
        </p:spPr>
        <p:txBody>
          <a:bodyPr wrap="square" lIns="0" tIns="0" rIns="0" bIns="0" rtlCol="0" anchor="t"/>
          <a:lstStyle/>
          <a:p>
            <a:pPr indent="0" marL="0">
              <a:buNone/>
            </a:pPr>
            <a:r>
              <a:rPr lang="en-US" sz="1500" dirty="0">
                <a:solidFill>
                  <a:schemeClr val="tx2"/>
                </a:solidFill>
              </a:rPr>
              <a:t>Controller იღებს IReportService-ს კონსტრუქტორში.</a:t>
            </a:r>
            <a:endParaRPr lang="en-US" sz="1500" dirty="0"/>
          </a:p>
          <a:p>
            <a:pPr indent="0" marL="0">
              <a:buNone/>
            </a:pPr>
            <a:r>
              <a:rPr lang="en-US" sz="1500" dirty="0">
                <a:solidFill>
                  <a:schemeClr val="tx2"/>
                </a:solidFill>
              </a:rPr>
              <a:t>სად: Program.cs</a:t>
            </a:r>
            <a:endParaRPr lang="en-US" sz="1500" dirty="0"/>
          </a:p>
        </p:txBody>
      </p:sp>
      <p:sp>
        <p:nvSpPr>
          <p:cNvPr id="18" name="box-190"/>
          <p:cNvSpPr/>
          <p:nvPr/>
        </p:nvSpPr>
        <p:spPr>
          <a:xfrm>
            <a:off x="548640" y="3840480"/>
            <a:ext cx="3474720" cy="2194560"/>
          </a:xfrm>
          <a:prstGeom prst="roundRect">
            <a:avLst>
              <a:gd name="adj" fmla="val 5000"/>
            </a:avLst>
          </a:prstGeom>
          <a:solidFill>
            <a:schemeClr val="bg2"/>
          </a:solidFill>
          <a:ln/>
        </p:spPr>
      </p:sp>
      <p:sp>
        <p:nvSpPr>
          <p:cNvPr id="19" name="badge-191"/>
          <p:cNvSpPr/>
          <p:nvPr/>
        </p:nvSpPr>
        <p:spPr>
          <a:xfrm>
            <a:off x="777240" y="4069080"/>
            <a:ext cx="457200" cy="457200"/>
          </a:xfrm>
          <a:prstGeom prst="ellipse">
            <a:avLst/>
          </a:prstGeom>
          <a:solidFill>
            <a:schemeClr val="accent1"/>
          </a:solidFill>
          <a:ln/>
        </p:spPr>
      </p:sp>
      <p:sp>
        <p:nvSpPr>
          <p:cNvPr id="20" name="txt-192"/>
          <p:cNvSpPr txBox="1"/>
          <p:nvPr/>
        </p:nvSpPr>
        <p:spPr>
          <a:xfrm>
            <a:off x="77724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xt-193"/>
          <p:cNvSpPr txBox="1"/>
          <p:nvPr/>
        </p:nvSpPr>
        <p:spPr>
          <a:xfrm>
            <a:off x="1417320" y="406908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State</a:t>
            </a:r>
            <a:endParaRPr lang="en-US" sz="1700" dirty="0"/>
          </a:p>
        </p:txBody>
      </p:sp>
      <p:sp>
        <p:nvSpPr>
          <p:cNvPr id="22" name="txt-194"/>
          <p:cNvSpPr txBox="1"/>
          <p:nvPr/>
        </p:nvSpPr>
        <p:spPr>
          <a:xfrm>
            <a:off x="777240" y="4663440"/>
            <a:ext cx="3017520" cy="1188720"/>
          </a:xfrm>
          <a:prstGeom prst="rect">
            <a:avLst/>
          </a:prstGeom>
          <a:noFill/>
          <a:ln/>
        </p:spPr>
        <p:txBody>
          <a:bodyPr wrap="square" lIns="0" tIns="0" rIns="0" bIns="0" rtlCol="0" anchor="t"/>
          <a:lstStyle/>
          <a:p>
            <a:pPr indent="0" marL="0">
              <a:buNone/>
            </a:pPr>
            <a:r>
              <a:rPr lang="en-US" sz="1500" dirty="0">
                <a:solidFill>
                  <a:schemeClr val="tx2"/>
                </a:solidFill>
              </a:rPr>
              <a:t>სტატუსის დასაშვები გადასვლები, if/else-ის გარეშე.</a:t>
            </a:r>
            <a:endParaRPr lang="en-US" sz="1500" dirty="0"/>
          </a:p>
          <a:p>
            <a:pPr indent="0" marL="0">
              <a:buNone/>
            </a:pPr>
            <a:r>
              <a:rPr lang="en-US" sz="1500" dirty="0">
                <a:solidFill>
                  <a:schemeClr val="tx2"/>
                </a:solidFill>
              </a:rPr>
              <a:t>სად: ReportStatus (US-09-12)</a:t>
            </a:r>
            <a:endParaRPr lang="en-US" sz="1500" dirty="0"/>
          </a:p>
        </p:txBody>
      </p:sp>
      <p:sp>
        <p:nvSpPr>
          <p:cNvPr id="23" name="box-195"/>
          <p:cNvSpPr/>
          <p:nvPr/>
        </p:nvSpPr>
        <p:spPr>
          <a:xfrm>
            <a:off x="4343400" y="3840480"/>
            <a:ext cx="3474720" cy="2194560"/>
          </a:xfrm>
          <a:prstGeom prst="roundRect">
            <a:avLst>
              <a:gd name="adj" fmla="val 5000"/>
            </a:avLst>
          </a:prstGeom>
          <a:solidFill>
            <a:schemeClr val="bg2"/>
          </a:solidFill>
          <a:ln/>
        </p:spPr>
      </p:sp>
      <p:sp>
        <p:nvSpPr>
          <p:cNvPr id="24" name="badge-196"/>
          <p:cNvSpPr/>
          <p:nvPr/>
        </p:nvSpPr>
        <p:spPr>
          <a:xfrm>
            <a:off x="4572000" y="4069080"/>
            <a:ext cx="457200" cy="457200"/>
          </a:xfrm>
          <a:prstGeom prst="ellipse">
            <a:avLst/>
          </a:prstGeom>
          <a:solidFill>
            <a:schemeClr val="accent1"/>
          </a:solidFill>
          <a:ln/>
        </p:spPr>
      </p:sp>
      <p:sp>
        <p:nvSpPr>
          <p:cNvPr id="25" name="txt-197"/>
          <p:cNvSpPr txBox="1"/>
          <p:nvPr/>
        </p:nvSpPr>
        <p:spPr>
          <a:xfrm>
            <a:off x="457200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xt-198"/>
          <p:cNvSpPr txBox="1"/>
          <p:nvPr/>
        </p:nvSpPr>
        <p:spPr>
          <a:xfrm>
            <a:off x="5212080" y="406908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Observer</a:t>
            </a:r>
            <a:endParaRPr lang="en-US" sz="1700" dirty="0"/>
          </a:p>
        </p:txBody>
      </p:sp>
      <p:sp>
        <p:nvSpPr>
          <p:cNvPr id="27" name="txt-199"/>
          <p:cNvSpPr txBox="1"/>
          <p:nvPr/>
        </p:nvSpPr>
        <p:spPr>
          <a:xfrm>
            <a:off x="4572000" y="4663440"/>
            <a:ext cx="3017520" cy="1188720"/>
          </a:xfrm>
          <a:prstGeom prst="rect">
            <a:avLst/>
          </a:prstGeom>
          <a:noFill/>
          <a:ln/>
        </p:spPr>
        <p:txBody>
          <a:bodyPr wrap="square" lIns="0" tIns="0" rIns="0" bIns="0" rtlCol="0" anchor="t"/>
          <a:lstStyle/>
          <a:p>
            <a:pPr indent="0" marL="0">
              <a:buNone/>
            </a:pPr>
            <a:r>
              <a:rPr lang="en-US" sz="1500" dirty="0">
                <a:solidFill>
                  <a:schemeClr val="tx2"/>
                </a:solidFill>
              </a:rPr>
              <a:t>ReportStatusChanged → ელფოსტა.</a:t>
            </a:r>
            <a:endParaRPr lang="en-US" sz="1500" dirty="0"/>
          </a:p>
          <a:p>
            <a:pPr indent="0" marL="0">
              <a:buNone/>
            </a:pPr>
            <a:r>
              <a:rPr lang="en-US" sz="1500" dirty="0">
                <a:solidFill>
                  <a:schemeClr val="tx2"/>
                </a:solidFill>
              </a:rPr>
              <a:t>სად: MediatR handler (US-05)</a:t>
            </a:r>
            <a:endParaRPr lang="en-US" sz="1500" dirty="0"/>
          </a:p>
        </p:txBody>
      </p:sp>
      <p:sp>
        <p:nvSpPr>
          <p:cNvPr id="28" name="box-200"/>
          <p:cNvSpPr/>
          <p:nvPr/>
        </p:nvSpPr>
        <p:spPr>
          <a:xfrm>
            <a:off x="8138160" y="3840480"/>
            <a:ext cx="3474720" cy="2194560"/>
          </a:xfrm>
          <a:prstGeom prst="roundRect">
            <a:avLst>
              <a:gd name="adj" fmla="val 5000"/>
            </a:avLst>
          </a:prstGeom>
          <a:solidFill>
            <a:schemeClr val="bg2"/>
          </a:solidFill>
          <a:ln/>
        </p:spPr>
      </p:sp>
      <p:sp>
        <p:nvSpPr>
          <p:cNvPr id="29" name="badge-201"/>
          <p:cNvSpPr/>
          <p:nvPr/>
        </p:nvSpPr>
        <p:spPr>
          <a:xfrm>
            <a:off x="8366760" y="4069080"/>
            <a:ext cx="457200" cy="457200"/>
          </a:xfrm>
          <a:prstGeom prst="ellipse">
            <a:avLst/>
          </a:prstGeom>
          <a:solidFill>
            <a:schemeClr val="accent1"/>
          </a:solidFill>
          <a:ln/>
        </p:spPr>
      </p:sp>
      <p:sp>
        <p:nvSpPr>
          <p:cNvPr id="30" name="txt-202"/>
          <p:cNvSpPr txBox="1"/>
          <p:nvPr/>
        </p:nvSpPr>
        <p:spPr>
          <a:xfrm>
            <a:off x="836676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xt-203"/>
          <p:cNvSpPr txBox="1"/>
          <p:nvPr/>
        </p:nvSpPr>
        <p:spPr>
          <a:xfrm>
            <a:off x="9006840" y="406908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Strategy</a:t>
            </a:r>
            <a:endParaRPr lang="en-US" sz="1700" dirty="0"/>
          </a:p>
        </p:txBody>
      </p:sp>
      <p:sp>
        <p:nvSpPr>
          <p:cNvPr id="32" name="txt-204"/>
          <p:cNvSpPr txBox="1"/>
          <p:nvPr/>
        </p:nvSpPr>
        <p:spPr>
          <a:xfrm>
            <a:off x="8366760" y="4663440"/>
            <a:ext cx="3017520" cy="1188720"/>
          </a:xfrm>
          <a:prstGeom prst="rect">
            <a:avLst/>
          </a:prstGeom>
          <a:noFill/>
          <a:ln/>
        </p:spPr>
        <p:txBody>
          <a:bodyPr wrap="square" lIns="0" tIns="0" rIns="0" bIns="0" rtlCol="0" anchor="t"/>
          <a:lstStyle/>
          <a:p>
            <a:pPr indent="0" marL="0">
              <a:buNone/>
            </a:pPr>
            <a:r>
              <a:rPr lang="en-US" sz="1500" dirty="0">
                <a:solidFill>
                  <a:schemeClr val="tx2"/>
                </a:solidFill>
              </a:rPr>
              <a:t>IFileStorage: ლოკალური დისკი ან S3.</a:t>
            </a:r>
            <a:endParaRPr lang="en-US" sz="1500" dirty="0"/>
          </a:p>
          <a:p>
            <a:pPr indent="0" marL="0">
              <a:buNone/>
            </a:pPr>
            <a:r>
              <a:rPr lang="en-US" sz="1500" dirty="0">
                <a:solidFill>
                  <a:schemeClr val="tx2"/>
                </a:solidFill>
              </a:rPr>
              <a:t>სად: appsettings.json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State pattern: შეტყობინების სასიცოცხლო ციკლი</a:t>
            </a:r>
            <a:endParaRPr lang="en-US" sz="3200" dirty="0"/>
          </a:p>
        </p:txBody>
      </p:sp>
      <p:sp>
        <p:nvSpPr>
          <p:cNvPr id="3" name="box-205"/>
          <p:cNvSpPr/>
          <p:nvPr/>
        </p:nvSpPr>
        <p:spPr>
          <a:xfrm>
            <a:off x="731520" y="1828800"/>
            <a:ext cx="2194560" cy="1188720"/>
          </a:xfrm>
          <a:prstGeom prst="roundRect">
            <a:avLst>
              <a:gd name="adj" fmla="val 15385"/>
            </a:avLst>
          </a:prstGeom>
          <a:solidFill>
            <a:schemeClr val="accent6"/>
          </a:solidFill>
          <a:ln/>
        </p:spPr>
      </p:sp>
      <p:sp>
        <p:nvSpPr>
          <p:cNvPr id="4" name="txt-206"/>
          <p:cNvSpPr txBox="1"/>
          <p:nvPr/>
        </p:nvSpPr>
        <p:spPr>
          <a:xfrm>
            <a:off x="731520" y="1965960"/>
            <a:ext cx="2194560" cy="457200"/>
          </a:xfrm>
          <a:prstGeom prst="rect">
            <a:avLst/>
          </a:prstGeom>
          <a:noFill/>
          <a:ln/>
        </p:spPr>
        <p:txBody>
          <a:bodyPr wrap="square" lIns="0" tIns="0" rIns="0" bIns="0" rtlCol="0" anchor="t"/>
          <a:lstStyle/>
          <a:p>
            <a:pPr algn="ctr" indent="0" marL="0">
              <a:buNone/>
            </a:pPr>
            <a:r>
              <a:rPr lang="en-US" sz="2000" b="1" dirty="0">
                <a:solidFill>
                  <a:schemeClr val="bg1"/>
                </a:solidFill>
              </a:rPr>
              <a:t>ახალი</a:t>
            </a:r>
            <a:endParaRPr lang="en-US" sz="2000" dirty="0"/>
          </a:p>
        </p:txBody>
      </p:sp>
      <p:sp>
        <p:nvSpPr>
          <p:cNvPr id="5" name="txt-207"/>
          <p:cNvSpPr txBox="1"/>
          <p:nvPr/>
        </p:nvSpPr>
        <p:spPr>
          <a:xfrm>
            <a:off x="731520" y="2468880"/>
            <a:ext cx="2194560" cy="365760"/>
          </a:xfrm>
          <a:prstGeom prst="rect">
            <a:avLst/>
          </a:prstGeom>
          <a:noFill/>
          <a:ln/>
        </p:spPr>
        <p:txBody>
          <a:bodyPr wrap="square" lIns="0" tIns="0" rIns="0" bIns="0" rtlCol="0" anchor="t"/>
          <a:lstStyle/>
          <a:p>
            <a:pPr algn="ctr" indent="0" marL="0">
              <a:buNone/>
            </a:pPr>
            <a:r>
              <a:rPr lang="en-US" sz="1400" dirty="0">
                <a:solidFill>
                  <a:schemeClr val="bg1"/>
                </a:solidFill>
              </a:rPr>
              <a:t>New</a:t>
            </a:r>
            <a:endParaRPr lang="en-US" sz="1400" dirty="0"/>
          </a:p>
        </p:txBody>
      </p:sp>
      <p:sp>
        <p:nvSpPr>
          <p:cNvPr id="6" name="arrow-208"/>
          <p:cNvSpPr/>
          <p:nvPr/>
        </p:nvSpPr>
        <p:spPr>
          <a:xfrm>
            <a:off x="2926080" y="2423160"/>
            <a:ext cx="685800" cy="914"/>
          </a:xfrm>
          <a:prstGeom prst="line">
            <a:avLst/>
          </a:prstGeom>
          <a:noFill/>
          <a:ln w="28575">
            <a:solidFill>
              <a:schemeClr val="tx1"/>
            </a:solidFill>
            <a:prstDash val="solid"/>
            <a:tailEnd type="triangle"/>
          </a:ln>
        </p:spPr>
      </p:sp>
      <p:sp>
        <p:nvSpPr>
          <p:cNvPr id="7" name="box-209"/>
          <p:cNvSpPr/>
          <p:nvPr/>
        </p:nvSpPr>
        <p:spPr>
          <a:xfrm>
            <a:off x="3611880" y="1828800"/>
            <a:ext cx="2194560" cy="1188720"/>
          </a:xfrm>
          <a:prstGeom prst="roundRect">
            <a:avLst>
              <a:gd name="adj" fmla="val 15385"/>
            </a:avLst>
          </a:prstGeom>
          <a:solidFill>
            <a:schemeClr val="accent2"/>
          </a:solidFill>
          <a:ln/>
        </p:spPr>
      </p:sp>
      <p:sp>
        <p:nvSpPr>
          <p:cNvPr id="8" name="txt-210"/>
          <p:cNvSpPr txBox="1"/>
          <p:nvPr/>
        </p:nvSpPr>
        <p:spPr>
          <a:xfrm>
            <a:off x="3611880" y="1965960"/>
            <a:ext cx="2194560" cy="457200"/>
          </a:xfrm>
          <a:prstGeom prst="rect">
            <a:avLst/>
          </a:prstGeom>
          <a:noFill/>
          <a:ln/>
        </p:spPr>
        <p:txBody>
          <a:bodyPr wrap="square" lIns="0" tIns="0" rIns="0" bIns="0" rtlCol="0" anchor="t"/>
          <a:lstStyle/>
          <a:p>
            <a:pPr algn="ctr" indent="0" marL="0">
              <a:buNone/>
            </a:pPr>
            <a:r>
              <a:rPr lang="en-US" sz="2000" b="1" dirty="0">
                <a:solidFill>
                  <a:schemeClr val="bg1"/>
                </a:solidFill>
              </a:rPr>
              <a:t>მიღებული</a:t>
            </a:r>
            <a:endParaRPr lang="en-US" sz="2000" dirty="0"/>
          </a:p>
        </p:txBody>
      </p:sp>
      <p:sp>
        <p:nvSpPr>
          <p:cNvPr id="9" name="txt-211"/>
          <p:cNvSpPr txBox="1"/>
          <p:nvPr/>
        </p:nvSpPr>
        <p:spPr>
          <a:xfrm>
            <a:off x="3611880" y="2468880"/>
            <a:ext cx="2194560" cy="365760"/>
          </a:xfrm>
          <a:prstGeom prst="rect">
            <a:avLst/>
          </a:prstGeom>
          <a:noFill/>
          <a:ln/>
        </p:spPr>
        <p:txBody>
          <a:bodyPr wrap="square" lIns="0" tIns="0" rIns="0" bIns="0" rtlCol="0" anchor="t"/>
          <a:lstStyle/>
          <a:p>
            <a:pPr algn="ctr" indent="0" marL="0">
              <a:buNone/>
            </a:pPr>
            <a:r>
              <a:rPr lang="en-US" sz="1400" dirty="0">
                <a:solidFill>
                  <a:schemeClr val="bg1"/>
                </a:solidFill>
              </a:rPr>
              <a:t>Accepted</a:t>
            </a:r>
            <a:endParaRPr lang="en-US" sz="1400" dirty="0"/>
          </a:p>
        </p:txBody>
      </p:sp>
      <p:sp>
        <p:nvSpPr>
          <p:cNvPr id="10" name="arrow-212"/>
          <p:cNvSpPr/>
          <p:nvPr/>
        </p:nvSpPr>
        <p:spPr>
          <a:xfrm>
            <a:off x="5806440" y="2423160"/>
            <a:ext cx="685800" cy="914"/>
          </a:xfrm>
          <a:prstGeom prst="line">
            <a:avLst/>
          </a:prstGeom>
          <a:noFill/>
          <a:ln w="28575">
            <a:solidFill>
              <a:schemeClr val="tx1"/>
            </a:solidFill>
            <a:prstDash val="solid"/>
            <a:tailEnd type="triangle"/>
          </a:ln>
        </p:spPr>
      </p:sp>
      <p:sp>
        <p:nvSpPr>
          <p:cNvPr id="11" name="box-213"/>
          <p:cNvSpPr/>
          <p:nvPr/>
        </p:nvSpPr>
        <p:spPr>
          <a:xfrm>
            <a:off x="6492240" y="1828800"/>
            <a:ext cx="2194560" cy="1188720"/>
          </a:xfrm>
          <a:prstGeom prst="roundRect">
            <a:avLst>
              <a:gd name="adj" fmla="val 15385"/>
            </a:avLst>
          </a:prstGeom>
          <a:solidFill>
            <a:schemeClr val="accent5"/>
          </a:solidFill>
          <a:ln/>
        </p:spPr>
      </p:sp>
      <p:sp>
        <p:nvSpPr>
          <p:cNvPr id="12" name="txt-214"/>
          <p:cNvSpPr txBox="1"/>
          <p:nvPr/>
        </p:nvSpPr>
        <p:spPr>
          <a:xfrm>
            <a:off x="6492240" y="1965960"/>
            <a:ext cx="2194560" cy="457200"/>
          </a:xfrm>
          <a:prstGeom prst="rect">
            <a:avLst/>
          </a:prstGeom>
          <a:noFill/>
          <a:ln/>
        </p:spPr>
        <p:txBody>
          <a:bodyPr wrap="square" lIns="0" tIns="0" rIns="0" bIns="0" rtlCol="0" anchor="t"/>
          <a:lstStyle/>
          <a:p>
            <a:pPr algn="ctr" indent="0" marL="0">
              <a:buNone/>
            </a:pPr>
            <a:r>
              <a:rPr lang="en-US" sz="2000" b="1" dirty="0">
                <a:solidFill>
                  <a:schemeClr val="bg1"/>
                </a:solidFill>
              </a:rPr>
              <a:t>მუშავდება</a:t>
            </a:r>
            <a:endParaRPr lang="en-US" sz="2000" dirty="0"/>
          </a:p>
        </p:txBody>
      </p:sp>
      <p:sp>
        <p:nvSpPr>
          <p:cNvPr id="13" name="txt-215"/>
          <p:cNvSpPr txBox="1"/>
          <p:nvPr/>
        </p:nvSpPr>
        <p:spPr>
          <a:xfrm>
            <a:off x="6492240" y="2468880"/>
            <a:ext cx="2194560" cy="365760"/>
          </a:xfrm>
          <a:prstGeom prst="rect">
            <a:avLst/>
          </a:prstGeom>
          <a:noFill/>
          <a:ln/>
        </p:spPr>
        <p:txBody>
          <a:bodyPr wrap="square" lIns="0" tIns="0" rIns="0" bIns="0" rtlCol="0" anchor="t"/>
          <a:lstStyle/>
          <a:p>
            <a:pPr algn="ctr" indent="0" marL="0">
              <a:buNone/>
            </a:pPr>
            <a:r>
              <a:rPr lang="en-US" sz="1400" dirty="0">
                <a:solidFill>
                  <a:schemeClr val="bg1"/>
                </a:solidFill>
              </a:rPr>
              <a:t>InProgress</a:t>
            </a:r>
            <a:endParaRPr lang="en-US" sz="1400" dirty="0"/>
          </a:p>
        </p:txBody>
      </p:sp>
      <p:sp>
        <p:nvSpPr>
          <p:cNvPr id="14" name="arrow-216"/>
          <p:cNvSpPr/>
          <p:nvPr/>
        </p:nvSpPr>
        <p:spPr>
          <a:xfrm>
            <a:off x="8686800" y="2423160"/>
            <a:ext cx="685800" cy="914"/>
          </a:xfrm>
          <a:prstGeom prst="line">
            <a:avLst/>
          </a:prstGeom>
          <a:noFill/>
          <a:ln w="28575">
            <a:solidFill>
              <a:schemeClr val="tx1"/>
            </a:solidFill>
            <a:prstDash val="solid"/>
            <a:tailEnd type="triangle"/>
          </a:ln>
        </p:spPr>
      </p:sp>
      <p:sp>
        <p:nvSpPr>
          <p:cNvPr id="15" name="box-217"/>
          <p:cNvSpPr/>
          <p:nvPr/>
        </p:nvSpPr>
        <p:spPr>
          <a:xfrm>
            <a:off x="9372600" y="1828800"/>
            <a:ext cx="2194560" cy="1188720"/>
          </a:xfrm>
          <a:prstGeom prst="roundRect">
            <a:avLst>
              <a:gd name="adj" fmla="val 15385"/>
            </a:avLst>
          </a:prstGeom>
          <a:solidFill>
            <a:schemeClr val="accent3"/>
          </a:solidFill>
          <a:ln/>
        </p:spPr>
      </p:sp>
      <p:sp>
        <p:nvSpPr>
          <p:cNvPr id="16" name="txt-218"/>
          <p:cNvSpPr txBox="1"/>
          <p:nvPr/>
        </p:nvSpPr>
        <p:spPr>
          <a:xfrm>
            <a:off x="9372600" y="1965960"/>
            <a:ext cx="2194560" cy="457200"/>
          </a:xfrm>
          <a:prstGeom prst="rect">
            <a:avLst/>
          </a:prstGeom>
          <a:noFill/>
          <a:ln/>
        </p:spPr>
        <p:txBody>
          <a:bodyPr wrap="square" lIns="0" tIns="0" rIns="0" bIns="0" rtlCol="0" anchor="t"/>
          <a:lstStyle/>
          <a:p>
            <a:pPr algn="ctr" indent="0" marL="0">
              <a:buNone/>
            </a:pPr>
            <a:r>
              <a:rPr lang="en-US" sz="2000" b="1" dirty="0">
                <a:solidFill>
                  <a:schemeClr val="bg1"/>
                </a:solidFill>
              </a:rPr>
              <a:t>გადაჭრილი</a:t>
            </a:r>
            <a:endParaRPr lang="en-US" sz="2000" dirty="0"/>
          </a:p>
        </p:txBody>
      </p:sp>
      <p:sp>
        <p:nvSpPr>
          <p:cNvPr id="17" name="txt-219"/>
          <p:cNvSpPr txBox="1"/>
          <p:nvPr/>
        </p:nvSpPr>
        <p:spPr>
          <a:xfrm>
            <a:off x="9372600" y="2468880"/>
            <a:ext cx="2194560" cy="365760"/>
          </a:xfrm>
          <a:prstGeom prst="rect">
            <a:avLst/>
          </a:prstGeom>
          <a:noFill/>
          <a:ln/>
        </p:spPr>
        <p:txBody>
          <a:bodyPr wrap="square" lIns="0" tIns="0" rIns="0" bIns="0" rtlCol="0" anchor="t"/>
          <a:lstStyle/>
          <a:p>
            <a:pPr algn="ctr" indent="0" marL="0">
              <a:buNone/>
            </a:pPr>
            <a:r>
              <a:rPr lang="en-US" sz="1400" dirty="0">
                <a:solidFill>
                  <a:schemeClr val="bg1"/>
                </a:solidFill>
              </a:rPr>
              <a:t>Resolved</a:t>
            </a:r>
            <a:endParaRPr lang="en-US" sz="1400" dirty="0"/>
          </a:p>
        </p:txBody>
      </p:sp>
      <p:sp>
        <p:nvSpPr>
          <p:cNvPr id="18" name="box-220"/>
          <p:cNvSpPr/>
          <p:nvPr/>
        </p:nvSpPr>
        <p:spPr>
          <a:xfrm>
            <a:off x="731520" y="4160520"/>
            <a:ext cx="3931920" cy="1188720"/>
          </a:xfrm>
          <a:prstGeom prst="roundRect">
            <a:avLst>
              <a:gd name="adj" fmla="val 15385"/>
            </a:avLst>
          </a:prstGeom>
          <a:solidFill>
            <a:schemeClr val="accent4"/>
          </a:solidFill>
          <a:ln/>
        </p:spPr>
      </p:sp>
      <p:sp>
        <p:nvSpPr>
          <p:cNvPr id="19" name="txt-221"/>
          <p:cNvSpPr txBox="1"/>
          <p:nvPr/>
        </p:nvSpPr>
        <p:spPr>
          <a:xfrm>
            <a:off x="731520" y="4297680"/>
            <a:ext cx="3931920" cy="457200"/>
          </a:xfrm>
          <a:prstGeom prst="rect">
            <a:avLst/>
          </a:prstGeom>
          <a:noFill/>
          <a:ln/>
        </p:spPr>
        <p:txBody>
          <a:bodyPr wrap="square" lIns="0" tIns="0" rIns="0" bIns="0" rtlCol="0" anchor="t"/>
          <a:lstStyle/>
          <a:p>
            <a:pPr algn="ctr" indent="0" marL="0">
              <a:buNone/>
            </a:pPr>
            <a:r>
              <a:rPr lang="en-US" sz="2000" b="1" dirty="0">
                <a:solidFill>
                  <a:schemeClr val="bg1"/>
                </a:solidFill>
              </a:rPr>
              <a:t>უარყოფილი</a:t>
            </a:r>
            <a:endParaRPr lang="en-US" sz="2000" dirty="0"/>
          </a:p>
        </p:txBody>
      </p:sp>
      <p:sp>
        <p:nvSpPr>
          <p:cNvPr id="20" name="txt-222"/>
          <p:cNvSpPr txBox="1"/>
          <p:nvPr/>
        </p:nvSpPr>
        <p:spPr>
          <a:xfrm>
            <a:off x="731520" y="4800600"/>
            <a:ext cx="3931920" cy="365760"/>
          </a:xfrm>
          <a:prstGeom prst="rect">
            <a:avLst/>
          </a:prstGeom>
          <a:noFill/>
          <a:ln/>
        </p:spPr>
        <p:txBody>
          <a:bodyPr wrap="square" lIns="0" tIns="0" rIns="0" bIns="0" rtlCol="0" anchor="t"/>
          <a:lstStyle/>
          <a:p>
            <a:pPr algn="ctr" indent="0" marL="0">
              <a:buNone/>
            </a:pPr>
            <a:r>
              <a:rPr lang="en-US" sz="1400" dirty="0">
                <a:solidFill>
                  <a:schemeClr val="bg1"/>
                </a:solidFill>
              </a:rPr>
              <a:t>Rejected</a:t>
            </a:r>
            <a:endParaRPr lang="en-US" sz="1400" dirty="0"/>
          </a:p>
        </p:txBody>
      </p:sp>
      <p:sp>
        <p:nvSpPr>
          <p:cNvPr id="21" name="arrow-223"/>
          <p:cNvSpPr/>
          <p:nvPr/>
        </p:nvSpPr>
        <p:spPr>
          <a:xfrm>
            <a:off x="1828800" y="3017520"/>
            <a:ext cx="914" cy="1143000"/>
          </a:xfrm>
          <a:prstGeom prst="line">
            <a:avLst/>
          </a:prstGeom>
          <a:noFill/>
          <a:ln w="25400">
            <a:solidFill>
              <a:schemeClr val="accent4"/>
            </a:solidFill>
            <a:prstDash val="solid"/>
            <a:tailEnd type="triangle"/>
          </a:ln>
        </p:spPr>
      </p:sp>
      <p:sp>
        <p:nvSpPr>
          <p:cNvPr id="22" name="arrow-224"/>
          <p:cNvSpPr/>
          <p:nvPr/>
        </p:nvSpPr>
        <p:spPr>
          <a:xfrm>
            <a:off x="4206240" y="3017520"/>
            <a:ext cx="914" cy="1143000"/>
          </a:xfrm>
          <a:prstGeom prst="line">
            <a:avLst/>
          </a:prstGeom>
          <a:noFill/>
          <a:ln w="25400">
            <a:solidFill>
              <a:schemeClr val="accent4"/>
            </a:solidFill>
            <a:prstDash val="solid"/>
            <a:tailEnd type="triangle"/>
          </a:ln>
        </p:spPr>
      </p:sp>
      <p:sp>
        <p:nvSpPr>
          <p:cNvPr id="23" name="arrow-225"/>
          <p:cNvSpPr/>
          <p:nvPr/>
        </p:nvSpPr>
        <p:spPr>
          <a:xfrm>
            <a:off x="10287000" y="3017520"/>
            <a:ext cx="914" cy="457200"/>
          </a:xfrm>
          <a:prstGeom prst="line">
            <a:avLst/>
          </a:prstGeom>
          <a:noFill/>
          <a:ln w="25400">
            <a:solidFill>
              <a:schemeClr val="accent3"/>
            </a:solidFill>
            <a:prstDash val="dash"/>
          </a:ln>
        </p:spPr>
      </p:sp>
      <p:sp>
        <p:nvSpPr>
          <p:cNvPr id="24" name="arrow-226"/>
          <p:cNvSpPr/>
          <p:nvPr/>
        </p:nvSpPr>
        <p:spPr>
          <a:xfrm flipH="1">
            <a:off x="5120640" y="3474720"/>
            <a:ext cx="5166360" cy="914"/>
          </a:xfrm>
          <a:prstGeom prst="line">
            <a:avLst/>
          </a:prstGeom>
          <a:noFill/>
          <a:ln w="25400">
            <a:solidFill>
              <a:schemeClr val="accent3"/>
            </a:solidFill>
            <a:prstDash val="dash"/>
          </a:ln>
        </p:spPr>
      </p:sp>
      <p:sp>
        <p:nvSpPr>
          <p:cNvPr id="25" name="arrow-227"/>
          <p:cNvSpPr/>
          <p:nvPr/>
        </p:nvSpPr>
        <p:spPr>
          <a:xfrm flipV="1">
            <a:off x="5120640" y="3017520"/>
            <a:ext cx="914" cy="457200"/>
          </a:xfrm>
          <a:prstGeom prst="line">
            <a:avLst/>
          </a:prstGeom>
          <a:noFill/>
          <a:ln w="25400">
            <a:solidFill>
              <a:schemeClr val="accent3"/>
            </a:solidFill>
            <a:prstDash val="dash"/>
            <a:tailEnd type="triangle"/>
          </a:ln>
        </p:spPr>
      </p:sp>
      <p:sp>
        <p:nvSpPr>
          <p:cNvPr id="26" name="txt-228"/>
          <p:cNvSpPr txBox="1"/>
          <p:nvPr/>
        </p:nvSpPr>
        <p:spPr>
          <a:xfrm>
            <a:off x="6400800" y="3547872"/>
            <a:ext cx="2926080" cy="320040"/>
          </a:xfrm>
          <a:prstGeom prst="rect">
            <a:avLst/>
          </a:prstGeom>
          <a:noFill/>
          <a:ln/>
        </p:spPr>
        <p:txBody>
          <a:bodyPr wrap="square" lIns="0" tIns="0" rIns="0" bIns="0" rtlCol="0" anchor="t"/>
          <a:lstStyle/>
          <a:p>
            <a:pPr algn="ctr" indent="0" marL="0">
              <a:buNone/>
            </a:pPr>
            <a:r>
              <a:rPr lang="en-US" sz="1400" b="1" dirty="0">
                <a:solidFill>
                  <a:schemeClr val="accent3"/>
                </a:solidFill>
              </a:rPr>
              <a:t>ხელახლა გახსნა (US-16)</a:t>
            </a:r>
            <a:endParaRPr lang="en-US" sz="1400" dirty="0"/>
          </a:p>
        </p:txBody>
      </p:sp>
      <p:sp>
        <p:nvSpPr>
          <p:cNvPr id="27" name="box-229"/>
          <p:cNvSpPr/>
          <p:nvPr/>
        </p:nvSpPr>
        <p:spPr>
          <a:xfrm>
            <a:off x="5486400" y="4160520"/>
            <a:ext cx="5943600" cy="1188720"/>
          </a:xfrm>
          <a:prstGeom prst="roundRect">
            <a:avLst>
              <a:gd name="adj" fmla="val 9231"/>
            </a:avLst>
          </a:prstGeom>
          <a:solidFill>
            <a:schemeClr val="bg2"/>
          </a:solidFill>
          <a:ln/>
        </p:spPr>
      </p:sp>
      <p:sp>
        <p:nvSpPr>
          <p:cNvPr id="28" name="txt-230"/>
          <p:cNvSpPr txBox="1"/>
          <p:nvPr/>
        </p:nvSpPr>
        <p:spPr>
          <a:xfrm>
            <a:off x="5760720" y="4297680"/>
            <a:ext cx="5394960" cy="960120"/>
          </a:xfrm>
          <a:prstGeom prst="rect">
            <a:avLst/>
          </a:prstGeom>
          <a:noFill/>
          <a:ln/>
        </p:spPr>
        <p:txBody>
          <a:bodyPr wrap="square" lIns="0" tIns="0" rIns="0" bIns="0" rtlCol="0" anchor="t"/>
          <a:lstStyle/>
          <a:p>
            <a:pPr indent="0" marL="0">
              <a:buNone/>
            </a:pPr>
            <a:r>
              <a:rPr lang="en-US" sz="1600" b="1" dirty="0">
                <a:solidFill>
                  <a:schemeClr val="tx1"/>
                </a:solidFill>
              </a:rPr>
              <a:t>New → Resolved შეუძლებელია</a:t>
            </a:r>
            <a:endParaRPr lang="en-US" sz="1400" dirty="0"/>
          </a:p>
          <a:p>
            <a:pPr indent="0" marL="0">
              <a:buNone/>
            </a:pPr>
            <a:r>
              <a:rPr lang="en-US" sz="1400" dirty="0">
                <a:solidFill>
                  <a:schemeClr val="tx2"/>
                </a:solidFill>
              </a:rPr>
              <a:t>მდგომარეობის კლასი თავად ამოწმებს გადასვლას: დაუშვებელზე 409 Conflict, Resolved ფოტოს გარეშე 400 (US-12).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Frontend (Razor View-ები): Design Pattern-ები</a:t>
            </a:r>
            <a:endParaRPr lang="en-US" sz="3200" dirty="0"/>
          </a:p>
        </p:txBody>
      </p:sp>
      <p:sp>
        <p:nvSpPr>
          <p:cNvPr id="3" name="box-231"/>
          <p:cNvSpPr/>
          <p:nvPr/>
        </p:nvSpPr>
        <p:spPr>
          <a:xfrm>
            <a:off x="548640" y="1371600"/>
            <a:ext cx="3108960" cy="2240280"/>
          </a:xfrm>
          <a:prstGeom prst="roundRect">
            <a:avLst>
              <a:gd name="adj" fmla="val 4898"/>
            </a:avLst>
          </a:prstGeom>
          <a:solidFill>
            <a:schemeClr val="bg2"/>
          </a:solidFill>
          <a:ln/>
        </p:spPr>
      </p:sp>
      <p:sp>
        <p:nvSpPr>
          <p:cNvPr id="4" name="badge-232"/>
          <p:cNvSpPr/>
          <p:nvPr/>
        </p:nvSpPr>
        <p:spPr>
          <a:xfrm>
            <a:off x="777240" y="1600200"/>
            <a:ext cx="457200" cy="457200"/>
          </a:xfrm>
          <a:prstGeom prst="ellipse">
            <a:avLst/>
          </a:prstGeom>
          <a:solidFill>
            <a:schemeClr val="accent1"/>
          </a:solidFill>
          <a:ln/>
        </p:spPr>
      </p:sp>
      <p:sp>
        <p:nvSpPr>
          <p:cNvPr id="5" name="txt-23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xt-234"/>
          <p:cNvSpPr txBox="1"/>
          <p:nvPr/>
        </p:nvSpPr>
        <p:spPr>
          <a:xfrm>
            <a:off x="1417320" y="1600200"/>
            <a:ext cx="2011680" cy="457200"/>
          </a:xfrm>
          <a:prstGeom prst="rect">
            <a:avLst/>
          </a:prstGeom>
          <a:noFill/>
          <a:ln/>
        </p:spPr>
        <p:txBody>
          <a:bodyPr wrap="square" lIns="0" tIns="0" rIns="0" bIns="0" rtlCol="0" anchor="ctr"/>
          <a:lstStyle/>
          <a:p>
            <a:pPr indent="0" marL="0">
              <a:buNone/>
            </a:pPr>
            <a:r>
              <a:rPr lang="en-US" sz="1700" b="1" dirty="0">
                <a:solidFill>
                  <a:schemeClr val="tx1"/>
                </a:solidFill>
              </a:rPr>
              <a:t>ViewModel</a:t>
            </a:r>
            <a:endParaRPr lang="en-US" sz="1700" dirty="0"/>
          </a:p>
        </p:txBody>
      </p:sp>
      <p:sp>
        <p:nvSpPr>
          <p:cNvPr id="7" name="txt-235"/>
          <p:cNvSpPr txBox="1"/>
          <p:nvPr/>
        </p:nvSpPr>
        <p:spPr>
          <a:xfrm>
            <a:off x="777240" y="2194560"/>
            <a:ext cx="2651760" cy="1234440"/>
          </a:xfrm>
          <a:prstGeom prst="rect">
            <a:avLst/>
          </a:prstGeom>
          <a:noFill/>
          <a:ln/>
        </p:spPr>
        <p:txBody>
          <a:bodyPr wrap="square" lIns="0" tIns="0" rIns="0" bIns="0" rtlCol="0" anchor="t"/>
          <a:lstStyle/>
          <a:p>
            <a:pPr indent="0" marL="0">
              <a:buNone/>
            </a:pPr>
            <a:r>
              <a:rPr lang="en-US" sz="1400" dirty="0">
                <a:solidFill>
                  <a:schemeClr val="tx2"/>
                </a:solidFill>
              </a:rPr>
              <a:t>View იღებს მხოლოდ საჭირო ველებს; კონტაქტი ჩანს მხოლოდ თანამშრომლისთვის</a:t>
            </a:r>
            <a:endParaRPr lang="en-US" sz="1400" dirty="0"/>
          </a:p>
        </p:txBody>
      </p:sp>
      <p:sp>
        <p:nvSpPr>
          <p:cNvPr id="8" name="box-236"/>
          <p:cNvSpPr/>
          <p:nvPr/>
        </p:nvSpPr>
        <p:spPr>
          <a:xfrm>
            <a:off x="3886200" y="1371600"/>
            <a:ext cx="3108960" cy="2240280"/>
          </a:xfrm>
          <a:prstGeom prst="roundRect">
            <a:avLst>
              <a:gd name="adj" fmla="val 4898"/>
            </a:avLst>
          </a:prstGeom>
          <a:solidFill>
            <a:schemeClr val="bg2"/>
          </a:solidFill>
          <a:ln/>
        </p:spPr>
      </p:sp>
      <p:sp>
        <p:nvSpPr>
          <p:cNvPr id="9" name="badge-237"/>
          <p:cNvSpPr/>
          <p:nvPr/>
        </p:nvSpPr>
        <p:spPr>
          <a:xfrm>
            <a:off x="4114800" y="1600200"/>
            <a:ext cx="457200" cy="457200"/>
          </a:xfrm>
          <a:prstGeom prst="ellipse">
            <a:avLst/>
          </a:prstGeom>
          <a:solidFill>
            <a:schemeClr val="accent1"/>
          </a:solidFill>
          <a:ln/>
        </p:spPr>
      </p:sp>
      <p:sp>
        <p:nvSpPr>
          <p:cNvPr id="10" name="txt-238"/>
          <p:cNvSpPr txBox="1"/>
          <p:nvPr/>
        </p:nvSpPr>
        <p:spPr>
          <a:xfrm>
            <a:off x="411480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xt-239"/>
          <p:cNvSpPr txBox="1"/>
          <p:nvPr/>
        </p:nvSpPr>
        <p:spPr>
          <a:xfrm>
            <a:off x="4754880" y="1600200"/>
            <a:ext cx="2011680" cy="457200"/>
          </a:xfrm>
          <a:prstGeom prst="rect">
            <a:avLst/>
          </a:prstGeom>
          <a:noFill/>
          <a:ln/>
        </p:spPr>
        <p:txBody>
          <a:bodyPr wrap="square" lIns="0" tIns="0" rIns="0" bIns="0" rtlCol="0" anchor="ctr"/>
          <a:lstStyle/>
          <a:p>
            <a:pPr indent="0" marL="0">
              <a:buNone/>
            </a:pPr>
            <a:r>
              <a:rPr lang="en-US" sz="1700" b="1" dirty="0">
                <a:solidFill>
                  <a:schemeClr val="tx1"/>
                </a:solidFill>
              </a:rPr>
              <a:t>Layout + Partial View</a:t>
            </a:r>
            <a:endParaRPr lang="en-US" sz="1700" dirty="0"/>
          </a:p>
        </p:txBody>
      </p:sp>
      <p:sp>
        <p:nvSpPr>
          <p:cNvPr id="12" name="txt-240"/>
          <p:cNvSpPr txBox="1"/>
          <p:nvPr/>
        </p:nvSpPr>
        <p:spPr>
          <a:xfrm>
            <a:off x="4114800" y="2194560"/>
            <a:ext cx="2651760" cy="1234440"/>
          </a:xfrm>
          <a:prstGeom prst="rect">
            <a:avLst/>
          </a:prstGeom>
          <a:noFill/>
          <a:ln/>
        </p:spPr>
        <p:txBody>
          <a:bodyPr wrap="square" lIns="0" tIns="0" rIns="0" bIns="0" rtlCol="0" anchor="t"/>
          <a:lstStyle/>
          <a:p>
            <a:pPr indent="0" marL="0">
              <a:buNone/>
            </a:pPr>
            <a:r>
              <a:rPr lang="en-US" sz="1400" dirty="0">
                <a:solidFill>
                  <a:schemeClr val="tx2"/>
                </a:solidFill>
              </a:rPr>
              <a:t>_Layout ერთი ნავიგაციით; _ReportCard სამ როლთან მეორდება</a:t>
            </a:r>
            <a:endParaRPr lang="en-US" sz="1400" dirty="0"/>
          </a:p>
        </p:txBody>
      </p:sp>
      <p:sp>
        <p:nvSpPr>
          <p:cNvPr id="13" name="box-241"/>
          <p:cNvSpPr/>
          <p:nvPr/>
        </p:nvSpPr>
        <p:spPr>
          <a:xfrm>
            <a:off x="548640" y="3840480"/>
            <a:ext cx="3108960" cy="2240280"/>
          </a:xfrm>
          <a:prstGeom prst="roundRect">
            <a:avLst>
              <a:gd name="adj" fmla="val 4898"/>
            </a:avLst>
          </a:prstGeom>
          <a:solidFill>
            <a:schemeClr val="bg2"/>
          </a:solidFill>
          <a:ln/>
        </p:spPr>
      </p:sp>
      <p:sp>
        <p:nvSpPr>
          <p:cNvPr id="14" name="badge-242"/>
          <p:cNvSpPr/>
          <p:nvPr/>
        </p:nvSpPr>
        <p:spPr>
          <a:xfrm>
            <a:off x="777240" y="4069080"/>
            <a:ext cx="457200" cy="457200"/>
          </a:xfrm>
          <a:prstGeom prst="ellipse">
            <a:avLst/>
          </a:prstGeom>
          <a:solidFill>
            <a:schemeClr val="accent1"/>
          </a:solidFill>
          <a:ln/>
        </p:spPr>
      </p:sp>
      <p:sp>
        <p:nvSpPr>
          <p:cNvPr id="15" name="txt-243"/>
          <p:cNvSpPr txBox="1"/>
          <p:nvPr/>
        </p:nvSpPr>
        <p:spPr>
          <a:xfrm>
            <a:off x="77724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xt-244"/>
          <p:cNvSpPr txBox="1"/>
          <p:nvPr/>
        </p:nvSpPr>
        <p:spPr>
          <a:xfrm>
            <a:off x="1417320" y="4069080"/>
            <a:ext cx="2011680" cy="457200"/>
          </a:xfrm>
          <a:prstGeom prst="rect">
            <a:avLst/>
          </a:prstGeom>
          <a:noFill/>
          <a:ln/>
        </p:spPr>
        <p:txBody>
          <a:bodyPr wrap="square" lIns="0" tIns="0" rIns="0" bIns="0" rtlCol="0" anchor="ctr"/>
          <a:lstStyle/>
          <a:p>
            <a:pPr indent="0" marL="0">
              <a:buNone/>
            </a:pPr>
            <a:r>
              <a:rPr lang="en-US" sz="1700" b="1" dirty="0">
                <a:solidFill>
                  <a:schemeClr val="tx1"/>
                </a:solidFill>
              </a:rPr>
              <a:t>View Component</a:t>
            </a:r>
            <a:endParaRPr lang="en-US" sz="1700" dirty="0"/>
          </a:p>
        </p:txBody>
      </p:sp>
      <p:sp>
        <p:nvSpPr>
          <p:cNvPr id="17" name="txt-245"/>
          <p:cNvSpPr txBox="1"/>
          <p:nvPr/>
        </p:nvSpPr>
        <p:spPr>
          <a:xfrm>
            <a:off x="777240" y="4663440"/>
            <a:ext cx="2651760" cy="1234440"/>
          </a:xfrm>
          <a:prstGeom prst="rect">
            <a:avLst/>
          </a:prstGeom>
          <a:noFill/>
          <a:ln/>
        </p:spPr>
        <p:txBody>
          <a:bodyPr wrap="square" lIns="0" tIns="0" rIns="0" bIns="0" rtlCol="0" anchor="t"/>
          <a:lstStyle/>
          <a:p>
            <a:pPr indent="0" marL="0">
              <a:buNone/>
            </a:pPr>
            <a:r>
              <a:rPr lang="en-US" sz="1400" dirty="0">
                <a:solidFill>
                  <a:schemeClr val="tx2"/>
                </a:solidFill>
              </a:rPr>
              <a:t>აქტიური ამოცანების მთვლელი მენიუში, საკუთარი ლოგიკით</a:t>
            </a:r>
            <a:endParaRPr lang="en-US" sz="1400" dirty="0"/>
          </a:p>
        </p:txBody>
      </p:sp>
      <p:sp>
        <p:nvSpPr>
          <p:cNvPr id="18" name="box-246"/>
          <p:cNvSpPr/>
          <p:nvPr/>
        </p:nvSpPr>
        <p:spPr>
          <a:xfrm>
            <a:off x="3886200" y="3840480"/>
            <a:ext cx="3108960" cy="2240280"/>
          </a:xfrm>
          <a:prstGeom prst="roundRect">
            <a:avLst>
              <a:gd name="adj" fmla="val 4898"/>
            </a:avLst>
          </a:prstGeom>
          <a:solidFill>
            <a:schemeClr val="bg2"/>
          </a:solidFill>
          <a:ln/>
        </p:spPr>
      </p:sp>
      <p:sp>
        <p:nvSpPr>
          <p:cNvPr id="19" name="badge-247"/>
          <p:cNvSpPr/>
          <p:nvPr/>
        </p:nvSpPr>
        <p:spPr>
          <a:xfrm>
            <a:off x="4114800" y="4069080"/>
            <a:ext cx="457200" cy="457200"/>
          </a:xfrm>
          <a:prstGeom prst="ellipse">
            <a:avLst/>
          </a:prstGeom>
          <a:solidFill>
            <a:schemeClr val="accent1"/>
          </a:solidFill>
          <a:ln/>
        </p:spPr>
      </p:sp>
      <p:sp>
        <p:nvSpPr>
          <p:cNvPr id="20" name="txt-248"/>
          <p:cNvSpPr txBox="1"/>
          <p:nvPr/>
        </p:nvSpPr>
        <p:spPr>
          <a:xfrm>
            <a:off x="411480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xt-249"/>
          <p:cNvSpPr txBox="1"/>
          <p:nvPr/>
        </p:nvSpPr>
        <p:spPr>
          <a:xfrm>
            <a:off x="4754880" y="4069080"/>
            <a:ext cx="2011680" cy="457200"/>
          </a:xfrm>
          <a:prstGeom prst="rect">
            <a:avLst/>
          </a:prstGeom>
          <a:noFill/>
          <a:ln/>
        </p:spPr>
        <p:txBody>
          <a:bodyPr wrap="square" lIns="0" tIns="0" rIns="0" bIns="0" rtlCol="0" anchor="ctr"/>
          <a:lstStyle/>
          <a:p>
            <a:pPr indent="0" marL="0">
              <a:buNone/>
            </a:pPr>
            <a:r>
              <a:rPr lang="en-US" sz="1700" b="1" dirty="0">
                <a:solidFill>
                  <a:schemeClr val="tx1"/>
                </a:solidFill>
              </a:rPr>
              <a:t>Tag Helper</a:t>
            </a:r>
            <a:endParaRPr lang="en-US" sz="1700" dirty="0"/>
          </a:p>
        </p:txBody>
      </p:sp>
      <p:sp>
        <p:nvSpPr>
          <p:cNvPr id="22" name="txt-250"/>
          <p:cNvSpPr txBox="1"/>
          <p:nvPr/>
        </p:nvSpPr>
        <p:spPr>
          <a:xfrm>
            <a:off x="4114800" y="4663440"/>
            <a:ext cx="2651760" cy="1234440"/>
          </a:xfrm>
          <a:prstGeom prst="rect">
            <a:avLst/>
          </a:prstGeom>
          <a:noFill/>
          <a:ln/>
        </p:spPr>
        <p:txBody>
          <a:bodyPr wrap="square" lIns="0" tIns="0" rIns="0" bIns="0" rtlCol="0" anchor="t"/>
          <a:lstStyle/>
          <a:p>
            <a:pPr indent="0" marL="0">
              <a:buNone/>
            </a:pPr>
            <a:r>
              <a:rPr lang="en-US" sz="1400" dirty="0">
                <a:solidFill>
                  <a:schemeClr val="tx2"/>
                </a:solidFill>
              </a:rPr>
              <a:t>asp-action, asp-validation-for: მარშრუტი, CSRF, ვალიდაცია</a:t>
            </a:r>
            <a:endParaRPr lang="en-US" sz="1400" dirty="0"/>
          </a:p>
        </p:txBody>
      </p:sp>
      <p:sp>
        <p:nvSpPr>
          <p:cNvPr id="23" name="box-251"/>
          <p:cNvSpPr/>
          <p:nvPr/>
        </p:nvSpPr>
        <p:spPr>
          <a:xfrm>
            <a:off x="7360920" y="1371600"/>
            <a:ext cx="4251960" cy="4709160"/>
          </a:xfrm>
          <a:prstGeom prst="roundRect">
            <a:avLst>
              <a:gd name="adj" fmla="val 2151"/>
            </a:avLst>
          </a:prstGeom>
          <a:solidFill>
            <a:schemeClr val="tx1"/>
          </a:solidFill>
          <a:ln/>
        </p:spPr>
      </p:sp>
      <p:sp>
        <p:nvSpPr>
          <p:cNvPr id="24" name="txt-252"/>
          <p:cNvSpPr txBox="1"/>
          <p:nvPr/>
        </p:nvSpPr>
        <p:spPr>
          <a:xfrm>
            <a:off x="7635240" y="1554480"/>
            <a:ext cx="3657600" cy="320040"/>
          </a:xfrm>
          <a:prstGeom prst="rect">
            <a:avLst/>
          </a:prstGeom>
          <a:noFill/>
          <a:ln/>
        </p:spPr>
        <p:txBody>
          <a:bodyPr wrap="square" lIns="0" tIns="0" rIns="0" bIns="0" rtlCol="0" anchor="t"/>
          <a:lstStyle/>
          <a:p>
            <a:pPr indent="0" marL="0">
              <a:buNone/>
            </a:pPr>
            <a:r>
              <a:rPr lang="en-US" sz="1300" b="1" dirty="0">
                <a:solidFill>
                  <a:schemeClr val="accent1"/>
                </a:solidFill>
              </a:rPr>
              <a:t>Create.cshtml</a:t>
            </a:r>
            <a:endParaRPr lang="en-US" sz="1300" dirty="0"/>
          </a:p>
        </p:txBody>
      </p:sp>
      <p:sp>
        <p:nvSpPr>
          <p:cNvPr id="25" name="txt-253"/>
          <p:cNvSpPr txBox="1"/>
          <p:nvPr/>
        </p:nvSpPr>
        <p:spPr>
          <a:xfrm>
            <a:off x="7635240" y="2011680"/>
            <a:ext cx="3749040" cy="3931920"/>
          </a:xfrm>
          <a:prstGeom prst="rect">
            <a:avLst/>
          </a:prstGeom>
          <a:noFill/>
          <a:ln/>
        </p:spPr>
        <p:txBody>
          <a:bodyPr wrap="square" lIns="0" tIns="0" rIns="0" bIns="0" rtlCol="0" anchor="t"/>
          <a:lstStyle/>
          <a:p>
            <a:pPr indent="0" marL="0">
              <a:buNone/>
            </a:pPr>
            <a:r>
              <a:rPr lang="en-US" sz="1300" dirty="0">
                <a:solidFill>
                  <a:schemeClr val="bg2"/>
                </a:solidFill>
                <a:latin typeface="Consolas" pitchFamily="34" charset="0"/>
                <a:ea typeface="Consolas" pitchFamily="34" charset="-122"/>
                <a:cs typeface="Consolas" pitchFamily="34" charset="-120"/>
              </a:rPr>
              <a:t>@model ReportCreateViewModel</a:t>
            </a:r>
            <a:endParaRPr lang="en-US" sz="1300" dirty="0"/>
          </a:p>
          <a:p>
            <a:pPr indent="0" marL="0">
              <a:buNone/>
            </a:pP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&lt;form asp-action="Create"</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enctype="multipart/form-data"&gt;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&lt;select asp-for="CategoryId"</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asp-items="Model.Categories"&gt;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&lt;/select&gt;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&lt;textarea asp-for="Description"&gt;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&lt;/textarea&gt;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&lt;span asp-validation-for=</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"Description"&gt;&lt;/span&gt;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&lt;partial name="_MapPicker" /&gt;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&lt;button&gt;გაგზავნა&lt;/button&gt;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&lt;/form&gt;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Endpoint-ები: Controller-ის action-ები</a:t>
            </a:r>
            <a:endParaRPr lang="en-US" sz="3200" dirty="0"/>
          </a:p>
        </p:txBody>
      </p:sp>
      <p:graphicFrame>
        <p:nvGraphicFramePr>
          <p:cNvPr id="11" name="table-254"/>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
                <a:gridCol w="3566160"/>
                <a:gridCol w="2377440"/>
                <a:gridCol w="1920240"/>
                <a:gridCol w="2743200"/>
              </a:tblGrid>
              <a:tr h="5029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მარშრუტი</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Controller.Action</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ვის</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აბრუნებს</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 /reports/create</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Reports.Create</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მოქალაქე</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Redirect / View შეცდომებით</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/reports?status=&amp;mine=</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Reports.Index</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ავტორიზებული</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View: სია ფილტრებით</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/reports/{id}</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Reports.Details</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ავტორიზებული</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View: დეტალები, ისტორია</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 /manage/reports/{id}/assign</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Manage.Assign</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მენეჯერი</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Redirect სიაზე</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 /tasks/{id}/status</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Tasks.UpdateStatus</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მენეჯერი, ბრიგადა</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Redirect / 400 / 403 / 409</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/api/map/reports?bbox=</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MapApi.Get</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ყველა</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JSON რუკისთვის</a:t>
                      </a:r>
                      <a:endParaRPr lang="en-US" sz="1400" dirty="0">
                        <a:latin typeface="Calibri" charset="0"/>
                        <a:ea typeface="Calibri" charset="0"/>
                        <a:cs typeface="Calibri" charset="0"/>
                      </a:endParaRPr>
                    </a:p>
                  </a:txBody>
                  <a:tcPr marL="91440" marR="91440" marT="0" marB="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bl>
          </a:graphicData>
        </a:graphic>
      </p:graphicFrame>
      <p:sp>
        <p:nvSpPr>
          <p:cNvPr id="4" name="txt-255"/>
          <p:cNvSpPr txBox="1"/>
          <p:nvPr/>
        </p:nvSpPr>
        <p:spPr>
          <a:xfrm>
            <a:off x="548640" y="5120640"/>
            <a:ext cx="11064240" cy="731520"/>
          </a:xfrm>
          <a:prstGeom prst="rect">
            <a:avLst/>
          </a:prstGeom>
          <a:noFill/>
          <a:ln/>
        </p:spPr>
        <p:txBody>
          <a:bodyPr wrap="square" lIns="0" tIns="0" rIns="0" bIns="0" rtlCol="0" anchor="t"/>
          <a:lstStyle/>
          <a:p>
            <a:pPr indent="0" marL="0">
              <a:buNone/>
            </a:pPr>
            <a:r>
              <a:rPr lang="en-US" sz="1400" dirty="0">
                <a:solidFill>
                  <a:schemeClr val="tx2"/>
                </a:solidFill>
              </a:rPr>
              <a:t>წვდომა: [Authorize(Roles = "...")] · ფორმები: [ValidateAntiForgeryToken] · რუკის JSON-ში ავტორის მონაცემები არ ბრუნდება</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ბაზა: PostgreSQL + PostGIS (SQL)</a:t>
            </a:r>
            <a:endParaRPr lang="en-US" sz="3200" dirty="0"/>
          </a:p>
        </p:txBody>
      </p:sp>
      <p:sp>
        <p:nvSpPr>
          <p:cNvPr id="3" name="badge-256"/>
          <p:cNvSpPr/>
          <p:nvPr/>
        </p:nvSpPr>
        <p:spPr>
          <a:xfrm>
            <a:off x="548640" y="1371600"/>
            <a:ext cx="457200" cy="457200"/>
          </a:xfrm>
          <a:prstGeom prst="ellipse">
            <a:avLst/>
          </a:prstGeom>
          <a:solidFill>
            <a:schemeClr val="accent1"/>
          </a:solidFill>
          <a:ln/>
        </p:spPr>
      </p:sp>
      <p:sp>
        <p:nvSpPr>
          <p:cNvPr id="4" name="txt-257"/>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xt-258"/>
          <p:cNvSpPr txBox="1"/>
          <p:nvPr/>
        </p:nvSpPr>
        <p:spPr>
          <a:xfrm>
            <a:off x="1188720" y="1371600"/>
            <a:ext cx="3840480" cy="411480"/>
          </a:xfrm>
          <a:prstGeom prst="rect">
            <a:avLst/>
          </a:prstGeom>
          <a:noFill/>
          <a:ln/>
        </p:spPr>
        <p:txBody>
          <a:bodyPr wrap="square" lIns="0" tIns="0" rIns="0" bIns="0" rtlCol="0" anchor="ctr"/>
          <a:lstStyle/>
          <a:p>
            <a:pPr indent="0" marL="0">
              <a:buNone/>
            </a:pPr>
            <a:r>
              <a:rPr lang="en-US" sz="1700" b="1" dirty="0">
                <a:solidFill>
                  <a:schemeClr val="tx1"/>
                </a:solidFill>
              </a:rPr>
              <a:t>რელაციური მონაცემები</a:t>
            </a:r>
            <a:endParaRPr lang="en-US" sz="1700" dirty="0"/>
          </a:p>
        </p:txBody>
      </p:sp>
      <p:sp>
        <p:nvSpPr>
          <p:cNvPr id="6" name="txt-259"/>
          <p:cNvSpPr txBox="1"/>
          <p:nvPr/>
        </p:nvSpPr>
        <p:spPr>
          <a:xfrm>
            <a:off x="1188720" y="1828800"/>
            <a:ext cx="3840480" cy="548640"/>
          </a:xfrm>
          <a:prstGeom prst="rect">
            <a:avLst/>
          </a:prstGeom>
          <a:noFill/>
          <a:ln/>
        </p:spPr>
        <p:txBody>
          <a:bodyPr wrap="square" lIns="0" tIns="0" rIns="0" bIns="0" rtlCol="0" anchor="t"/>
          <a:lstStyle/>
          <a:p>
            <a:pPr indent="0" marL="0">
              <a:buNone/>
            </a:pPr>
            <a:r>
              <a:rPr lang="en-US" sz="1400" dirty="0">
                <a:solidFill>
                  <a:schemeClr val="tx2"/>
                </a:solidFill>
              </a:rPr>
              <a:t>მომხმარებელი, შეტყობინება, ისტორია, უწყება</a:t>
            </a:r>
            <a:endParaRPr lang="en-US" sz="1400" dirty="0"/>
          </a:p>
        </p:txBody>
      </p:sp>
      <p:sp>
        <p:nvSpPr>
          <p:cNvPr id="7" name="badge-260"/>
          <p:cNvSpPr/>
          <p:nvPr/>
        </p:nvSpPr>
        <p:spPr>
          <a:xfrm>
            <a:off x="548640" y="2560320"/>
            <a:ext cx="457200" cy="457200"/>
          </a:xfrm>
          <a:prstGeom prst="ellipse">
            <a:avLst/>
          </a:prstGeom>
          <a:solidFill>
            <a:schemeClr val="accent1"/>
          </a:solidFill>
          <a:ln/>
        </p:spPr>
      </p:sp>
      <p:sp>
        <p:nvSpPr>
          <p:cNvPr id="8" name="txt-261"/>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xt-262"/>
          <p:cNvSpPr txBox="1"/>
          <p:nvPr/>
        </p:nvSpPr>
        <p:spPr>
          <a:xfrm>
            <a:off x="1188720" y="2560320"/>
            <a:ext cx="3840480" cy="411480"/>
          </a:xfrm>
          <a:prstGeom prst="rect">
            <a:avLst/>
          </a:prstGeom>
          <a:noFill/>
          <a:ln/>
        </p:spPr>
        <p:txBody>
          <a:bodyPr wrap="square" lIns="0" tIns="0" rIns="0" bIns="0" rtlCol="0" anchor="ctr"/>
          <a:lstStyle/>
          <a:p>
            <a:pPr indent="0" marL="0">
              <a:buNone/>
            </a:pPr>
            <a:r>
              <a:rPr lang="en-US" sz="1700" b="1" dirty="0">
                <a:solidFill>
                  <a:schemeClr val="tx1"/>
                </a:solidFill>
              </a:rPr>
              <a:t>ACID ტრანზაქციები</a:t>
            </a:r>
            <a:endParaRPr lang="en-US" sz="1700" dirty="0"/>
          </a:p>
        </p:txBody>
      </p:sp>
      <p:sp>
        <p:nvSpPr>
          <p:cNvPr id="10" name="txt-263"/>
          <p:cNvSpPr txBox="1"/>
          <p:nvPr/>
        </p:nvSpPr>
        <p:spPr>
          <a:xfrm>
            <a:off x="1188720" y="3017520"/>
            <a:ext cx="3840480" cy="548640"/>
          </a:xfrm>
          <a:prstGeom prst="rect">
            <a:avLst/>
          </a:prstGeom>
          <a:noFill/>
          <a:ln/>
        </p:spPr>
        <p:txBody>
          <a:bodyPr wrap="square" lIns="0" tIns="0" rIns="0" bIns="0" rtlCol="0" anchor="t"/>
          <a:lstStyle/>
          <a:p>
            <a:pPr indent="0" marL="0">
              <a:buNone/>
            </a:pPr>
            <a:r>
              <a:rPr lang="en-US" sz="1400" dirty="0">
                <a:solidFill>
                  <a:schemeClr val="tx2"/>
                </a:solidFill>
              </a:rPr>
              <a:t>სტატუსი და ისტორია ერთად ინახება</a:t>
            </a:r>
            <a:endParaRPr lang="en-US" sz="1400" dirty="0"/>
          </a:p>
        </p:txBody>
      </p:sp>
      <p:sp>
        <p:nvSpPr>
          <p:cNvPr id="11" name="badge-264"/>
          <p:cNvSpPr/>
          <p:nvPr/>
        </p:nvSpPr>
        <p:spPr>
          <a:xfrm>
            <a:off x="548640" y="3749040"/>
            <a:ext cx="457200" cy="457200"/>
          </a:xfrm>
          <a:prstGeom prst="ellipse">
            <a:avLst/>
          </a:prstGeom>
          <a:solidFill>
            <a:schemeClr val="accent1"/>
          </a:solidFill>
          <a:ln/>
        </p:spPr>
      </p:sp>
      <p:sp>
        <p:nvSpPr>
          <p:cNvPr id="12" name="txt-265"/>
          <p:cNvSpPr txBox="1"/>
          <p:nvPr/>
        </p:nvSpPr>
        <p:spPr>
          <a:xfrm>
            <a:off x="548640" y="3749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xt-266"/>
          <p:cNvSpPr txBox="1"/>
          <p:nvPr/>
        </p:nvSpPr>
        <p:spPr>
          <a:xfrm>
            <a:off x="1188720" y="3749040"/>
            <a:ext cx="3840480" cy="411480"/>
          </a:xfrm>
          <a:prstGeom prst="rect">
            <a:avLst/>
          </a:prstGeom>
          <a:noFill/>
          <a:ln/>
        </p:spPr>
        <p:txBody>
          <a:bodyPr wrap="square" lIns="0" tIns="0" rIns="0" bIns="0" rtlCol="0" anchor="ctr"/>
          <a:lstStyle/>
          <a:p>
            <a:pPr indent="0" marL="0">
              <a:buNone/>
            </a:pPr>
            <a:r>
              <a:rPr lang="en-US" sz="1700" b="1" dirty="0">
                <a:solidFill>
                  <a:schemeClr val="tx1"/>
                </a:solidFill>
              </a:rPr>
              <a:t>EF Core + Identity</a:t>
            </a:r>
            <a:endParaRPr lang="en-US" sz="1700" dirty="0"/>
          </a:p>
        </p:txBody>
      </p:sp>
      <p:sp>
        <p:nvSpPr>
          <p:cNvPr id="14" name="txt-267"/>
          <p:cNvSpPr txBox="1"/>
          <p:nvPr/>
        </p:nvSpPr>
        <p:spPr>
          <a:xfrm>
            <a:off x="1188720" y="4206240"/>
            <a:ext cx="3840480" cy="548640"/>
          </a:xfrm>
          <a:prstGeom prst="rect">
            <a:avLst/>
          </a:prstGeom>
          <a:noFill/>
          <a:ln/>
        </p:spPr>
        <p:txBody>
          <a:bodyPr wrap="square" lIns="0" tIns="0" rIns="0" bIns="0" rtlCol="0" anchor="t"/>
          <a:lstStyle/>
          <a:p>
            <a:pPr indent="0" marL="0">
              <a:buNone/>
            </a:pPr>
            <a:r>
              <a:rPr lang="en-US" sz="1400" dirty="0">
                <a:solidFill>
                  <a:schemeClr val="tx2"/>
                </a:solidFill>
              </a:rPr>
              <a:t>მიგრაციები და როლები მზად</a:t>
            </a:r>
            <a:endParaRPr lang="en-US" sz="1400" dirty="0"/>
          </a:p>
        </p:txBody>
      </p:sp>
      <p:sp>
        <p:nvSpPr>
          <p:cNvPr id="15" name="badge-268"/>
          <p:cNvSpPr/>
          <p:nvPr/>
        </p:nvSpPr>
        <p:spPr>
          <a:xfrm>
            <a:off x="548640" y="4937760"/>
            <a:ext cx="457200" cy="457200"/>
          </a:xfrm>
          <a:prstGeom prst="ellipse">
            <a:avLst/>
          </a:prstGeom>
          <a:solidFill>
            <a:schemeClr val="accent1"/>
          </a:solidFill>
          <a:ln/>
        </p:spPr>
      </p:sp>
      <p:sp>
        <p:nvSpPr>
          <p:cNvPr id="16" name="txt-269"/>
          <p:cNvSpPr txBox="1"/>
          <p:nvPr/>
        </p:nvSpPr>
        <p:spPr>
          <a:xfrm>
            <a:off x="548640" y="4937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xt-270"/>
          <p:cNvSpPr txBox="1"/>
          <p:nvPr/>
        </p:nvSpPr>
        <p:spPr>
          <a:xfrm>
            <a:off x="1188720" y="4937760"/>
            <a:ext cx="3840480" cy="411480"/>
          </a:xfrm>
          <a:prstGeom prst="rect">
            <a:avLst/>
          </a:prstGeom>
          <a:noFill/>
          <a:ln/>
        </p:spPr>
        <p:txBody>
          <a:bodyPr wrap="square" lIns="0" tIns="0" rIns="0" bIns="0" rtlCol="0" anchor="ctr"/>
          <a:lstStyle/>
          <a:p>
            <a:pPr indent="0" marL="0">
              <a:buNone/>
            </a:pPr>
            <a:r>
              <a:rPr lang="en-US" sz="1700" b="1" dirty="0">
                <a:solidFill>
                  <a:schemeClr val="tx1"/>
                </a:solidFill>
              </a:rPr>
              <a:t>PostGIS</a:t>
            </a:r>
            <a:endParaRPr lang="en-US" sz="1700" dirty="0"/>
          </a:p>
        </p:txBody>
      </p:sp>
      <p:sp>
        <p:nvSpPr>
          <p:cNvPr id="18" name="txt-271"/>
          <p:cNvSpPr txBox="1"/>
          <p:nvPr/>
        </p:nvSpPr>
        <p:spPr>
          <a:xfrm>
            <a:off x="1188720" y="5394960"/>
            <a:ext cx="3840480" cy="548640"/>
          </a:xfrm>
          <a:prstGeom prst="rect">
            <a:avLst/>
          </a:prstGeom>
          <a:noFill/>
          <a:ln/>
        </p:spPr>
        <p:txBody>
          <a:bodyPr wrap="square" lIns="0" tIns="0" rIns="0" bIns="0" rtlCol="0" anchor="t"/>
          <a:lstStyle/>
          <a:p>
            <a:pPr indent="0" marL="0">
              <a:buNone/>
            </a:pPr>
            <a:r>
              <a:rPr lang="en-US" sz="1400" dirty="0">
                <a:solidFill>
                  <a:schemeClr val="tx2"/>
                </a:solidFill>
              </a:rPr>
              <a:t>რუკის არე, დუბლიკატები 50 მ-ში</a:t>
            </a:r>
            <a:endParaRPr lang="en-US" sz="1400" dirty="0"/>
          </a:p>
        </p:txBody>
      </p:sp>
      <p:sp>
        <p:nvSpPr>
          <p:cNvPr id="19" name="box-272"/>
          <p:cNvSpPr/>
          <p:nvPr/>
        </p:nvSpPr>
        <p:spPr>
          <a:xfrm>
            <a:off x="7818120" y="1371600"/>
            <a:ext cx="2377440" cy="2468880"/>
          </a:xfrm>
          <a:prstGeom prst="roundRect">
            <a:avLst>
              <a:gd name="adj" fmla="val 2308"/>
            </a:avLst>
          </a:prstGeom>
          <a:solidFill>
            <a:schemeClr val="bg1"/>
          </a:solidFill>
          <a:ln w="19050">
            <a:solidFill>
              <a:srgbClr val="E8772E"/>
            </a:solidFill>
            <a:prstDash val="solid"/>
          </a:ln>
        </p:spPr>
      </p:sp>
      <p:sp>
        <p:nvSpPr>
          <p:cNvPr id="20" name="thead-273"/>
          <p:cNvSpPr/>
          <p:nvPr/>
        </p:nvSpPr>
        <p:spPr>
          <a:xfrm>
            <a:off x="7836408" y="1389888"/>
            <a:ext cx="2340864" cy="384048"/>
          </a:xfrm>
          <a:prstGeom prst="rect">
            <a:avLst/>
          </a:prstGeom>
          <a:solidFill>
            <a:srgbClr val="E8772E"/>
          </a:solidFill>
          <a:ln/>
        </p:spPr>
      </p:sp>
      <p:sp>
        <p:nvSpPr>
          <p:cNvPr id="21" name="txt-274"/>
          <p:cNvSpPr txBox="1"/>
          <p:nvPr/>
        </p:nvSpPr>
        <p:spPr>
          <a:xfrm>
            <a:off x="7927848" y="1408176"/>
            <a:ext cx="2157984" cy="347472"/>
          </a:xfrm>
          <a:prstGeom prst="rect">
            <a:avLst/>
          </a:prstGeom>
          <a:noFill/>
          <a:ln/>
        </p:spPr>
        <p:txBody>
          <a:bodyPr wrap="square" lIns="0" tIns="0" rIns="0" bIns="0" rtlCol="0" anchor="ctr"/>
          <a:lstStyle/>
          <a:p>
            <a:pPr indent="0" marL="0">
              <a:buNone/>
            </a:pPr>
            <a:r>
              <a:rPr lang="en-US" sz="1400" b="1" dirty="0">
                <a:solidFill>
                  <a:schemeClr val="bg1"/>
                </a:solidFill>
              </a:rPr>
              <a:t>Reports</a:t>
            </a:r>
            <a:endParaRPr lang="en-US" sz="1400" dirty="0"/>
          </a:p>
        </p:txBody>
      </p:sp>
      <p:sp>
        <p:nvSpPr>
          <p:cNvPr id="22" name="txt-275"/>
          <p:cNvSpPr txBox="1"/>
          <p:nvPr/>
        </p:nvSpPr>
        <p:spPr>
          <a:xfrm>
            <a:off x="7927848" y="1847088"/>
            <a:ext cx="2157984" cy="1920240"/>
          </a:xfrm>
          <a:prstGeom prst="rect">
            <a:avLst/>
          </a:prstGeom>
          <a:noFill/>
          <a:ln/>
        </p:spPr>
        <p:txBody>
          <a:bodyPr wrap="square" lIns="0" tIns="0" rIns="0" bIns="0" rtlCol="0" anchor="t"/>
          <a:lstStyle/>
          <a:p>
            <a:pPr indent="0" marL="0">
              <a:buNone/>
            </a:pPr>
            <a:r>
              <a:rPr lang="en-US" sz="1200" dirty="0">
                <a:solidFill>
                  <a:schemeClr val="tx1"/>
                </a:solidFill>
              </a:rPr>
              <a:t>Id PK</a:t>
            </a:r>
            <a:endParaRPr lang="en-US" sz="1200" dirty="0"/>
          </a:p>
          <a:p>
            <a:pPr indent="0" marL="0">
              <a:buNone/>
            </a:pPr>
            <a:r>
              <a:rPr lang="en-US" sz="1200" dirty="0">
                <a:solidFill>
                  <a:schemeClr val="tx1"/>
                </a:solidFill>
              </a:rPr>
              <a:t>AuthorId FK</a:t>
            </a:r>
            <a:endParaRPr lang="en-US" sz="1200" dirty="0"/>
          </a:p>
          <a:p>
            <a:pPr indent="0" marL="0">
              <a:buNone/>
            </a:pPr>
            <a:r>
              <a:rPr lang="en-US" sz="1200" dirty="0">
                <a:solidFill>
                  <a:schemeClr val="tx1"/>
                </a:solidFill>
              </a:rPr>
              <a:t>CategoryId FK</a:t>
            </a:r>
            <a:endParaRPr lang="en-US" sz="1200" dirty="0"/>
          </a:p>
          <a:p>
            <a:pPr indent="0" marL="0">
              <a:buNone/>
            </a:pPr>
            <a:r>
              <a:rPr lang="en-US" sz="1200" dirty="0">
                <a:solidFill>
                  <a:schemeClr val="tx1"/>
                </a:solidFill>
              </a:rPr>
              <a:t>Location (Point)</a:t>
            </a:r>
            <a:endParaRPr lang="en-US" sz="1200" dirty="0"/>
          </a:p>
          <a:p>
            <a:pPr indent="0" marL="0">
              <a:buNone/>
            </a:pPr>
            <a:r>
              <a:rPr lang="en-US" sz="1200" dirty="0">
                <a:solidFill>
                  <a:schemeClr val="tx1"/>
                </a:solidFill>
              </a:rPr>
              <a:t>Status</a:t>
            </a:r>
            <a:endParaRPr lang="en-US" sz="1200" dirty="0"/>
          </a:p>
          <a:p>
            <a:pPr indent="0" marL="0">
              <a:buNone/>
            </a:pPr>
            <a:r>
              <a:rPr lang="en-US" sz="1200" dirty="0">
                <a:solidFill>
                  <a:schemeClr val="tx1"/>
                </a:solidFill>
              </a:rPr>
              <a:t>AssigneeId FK</a:t>
            </a:r>
            <a:endParaRPr lang="en-US" sz="1200" dirty="0"/>
          </a:p>
          <a:p>
            <a:pPr indent="0" marL="0">
              <a:buNone/>
            </a:pPr>
            <a:r>
              <a:rPr lang="en-US" sz="1200" dirty="0">
                <a:solidFill>
                  <a:schemeClr val="tx1"/>
                </a:solidFill>
              </a:rPr>
              <a:t>CreatedAt</a:t>
            </a:r>
            <a:endParaRPr lang="en-US" sz="1200" dirty="0"/>
          </a:p>
        </p:txBody>
      </p:sp>
      <p:sp>
        <p:nvSpPr>
          <p:cNvPr id="23" name="box-276"/>
          <p:cNvSpPr/>
          <p:nvPr/>
        </p:nvSpPr>
        <p:spPr>
          <a:xfrm>
            <a:off x="5349240" y="1371600"/>
            <a:ext cx="2011680" cy="1371600"/>
          </a:xfrm>
          <a:prstGeom prst="roundRect">
            <a:avLst>
              <a:gd name="adj" fmla="val 4000"/>
            </a:avLst>
          </a:prstGeom>
          <a:solidFill>
            <a:schemeClr val="bg1"/>
          </a:solidFill>
          <a:ln w="19050">
            <a:solidFill>
              <a:srgbClr val="7A8B94"/>
            </a:solidFill>
            <a:prstDash val="solid"/>
          </a:ln>
        </p:spPr>
      </p:sp>
      <p:sp>
        <p:nvSpPr>
          <p:cNvPr id="24" name="thead-277"/>
          <p:cNvSpPr/>
          <p:nvPr/>
        </p:nvSpPr>
        <p:spPr>
          <a:xfrm>
            <a:off x="5367528" y="1389888"/>
            <a:ext cx="1975104" cy="384048"/>
          </a:xfrm>
          <a:prstGeom prst="rect">
            <a:avLst/>
          </a:prstGeom>
          <a:solidFill>
            <a:srgbClr val="7A8B94"/>
          </a:solidFill>
          <a:ln/>
        </p:spPr>
      </p:sp>
      <p:sp>
        <p:nvSpPr>
          <p:cNvPr id="25" name="txt-278"/>
          <p:cNvSpPr txBox="1"/>
          <p:nvPr/>
        </p:nvSpPr>
        <p:spPr>
          <a:xfrm>
            <a:off x="5458968" y="1408176"/>
            <a:ext cx="1792224" cy="347472"/>
          </a:xfrm>
          <a:prstGeom prst="rect">
            <a:avLst/>
          </a:prstGeom>
          <a:noFill/>
          <a:ln/>
        </p:spPr>
        <p:txBody>
          <a:bodyPr wrap="square" lIns="0" tIns="0" rIns="0" bIns="0" rtlCol="0" anchor="ctr"/>
          <a:lstStyle/>
          <a:p>
            <a:pPr indent="0" marL="0">
              <a:buNone/>
            </a:pPr>
            <a:r>
              <a:rPr lang="en-US" sz="1400" b="1" dirty="0">
                <a:solidFill>
                  <a:schemeClr val="bg1"/>
                </a:solidFill>
              </a:rPr>
              <a:t>Users (Identity)</a:t>
            </a:r>
            <a:endParaRPr lang="en-US" sz="1400" dirty="0"/>
          </a:p>
        </p:txBody>
      </p:sp>
      <p:sp>
        <p:nvSpPr>
          <p:cNvPr id="26" name="txt-279"/>
          <p:cNvSpPr txBox="1"/>
          <p:nvPr/>
        </p:nvSpPr>
        <p:spPr>
          <a:xfrm>
            <a:off x="5458968" y="1847088"/>
            <a:ext cx="1792224" cy="822960"/>
          </a:xfrm>
          <a:prstGeom prst="rect">
            <a:avLst/>
          </a:prstGeom>
          <a:noFill/>
          <a:ln/>
        </p:spPr>
        <p:txBody>
          <a:bodyPr wrap="square" lIns="0" tIns="0" rIns="0" bIns="0" rtlCol="0" anchor="t"/>
          <a:lstStyle/>
          <a:p>
            <a:pPr indent="0" marL="0">
              <a:buNone/>
            </a:pPr>
            <a:r>
              <a:rPr lang="en-US" sz="1200" dirty="0">
                <a:solidFill>
                  <a:schemeClr val="tx1"/>
                </a:solidFill>
              </a:rPr>
              <a:t>Id PK</a:t>
            </a:r>
            <a:endParaRPr lang="en-US" sz="1200" dirty="0"/>
          </a:p>
          <a:p>
            <a:pPr indent="0" marL="0">
              <a:buNone/>
            </a:pPr>
            <a:r>
              <a:rPr lang="en-US" sz="1200" dirty="0">
                <a:solidFill>
                  <a:schemeClr val="tx1"/>
                </a:solidFill>
              </a:rPr>
              <a:t>Email</a:t>
            </a:r>
            <a:endParaRPr lang="en-US" sz="1200" dirty="0"/>
          </a:p>
          <a:p>
            <a:pPr indent="0" marL="0">
              <a:buNone/>
            </a:pPr>
            <a:r>
              <a:rPr lang="en-US" sz="1200" dirty="0">
                <a:solidFill>
                  <a:schemeClr val="tx1"/>
                </a:solidFill>
              </a:rPr>
              <a:t>DepartmentId FK</a:t>
            </a:r>
            <a:endParaRPr lang="en-US" sz="1200" dirty="0"/>
          </a:p>
        </p:txBody>
      </p:sp>
      <p:sp>
        <p:nvSpPr>
          <p:cNvPr id="27" name="box-280"/>
          <p:cNvSpPr/>
          <p:nvPr/>
        </p:nvSpPr>
        <p:spPr>
          <a:xfrm>
            <a:off x="5349240" y="3291840"/>
            <a:ext cx="2011680" cy="1371600"/>
          </a:xfrm>
          <a:prstGeom prst="roundRect">
            <a:avLst>
              <a:gd name="adj" fmla="val 4000"/>
            </a:avLst>
          </a:prstGeom>
          <a:solidFill>
            <a:schemeClr val="bg1"/>
          </a:solidFill>
          <a:ln w="19050">
            <a:solidFill>
              <a:srgbClr val="7A8B94"/>
            </a:solidFill>
            <a:prstDash val="solid"/>
          </a:ln>
        </p:spPr>
      </p:sp>
      <p:sp>
        <p:nvSpPr>
          <p:cNvPr id="28" name="thead-281"/>
          <p:cNvSpPr/>
          <p:nvPr/>
        </p:nvSpPr>
        <p:spPr>
          <a:xfrm>
            <a:off x="5367528" y="3310128"/>
            <a:ext cx="1975104" cy="384048"/>
          </a:xfrm>
          <a:prstGeom prst="rect">
            <a:avLst/>
          </a:prstGeom>
          <a:solidFill>
            <a:srgbClr val="7A8B94"/>
          </a:solidFill>
          <a:ln/>
        </p:spPr>
      </p:sp>
      <p:sp>
        <p:nvSpPr>
          <p:cNvPr id="29" name="txt-282"/>
          <p:cNvSpPr txBox="1"/>
          <p:nvPr/>
        </p:nvSpPr>
        <p:spPr>
          <a:xfrm>
            <a:off x="5458968" y="3328416"/>
            <a:ext cx="1792224" cy="347472"/>
          </a:xfrm>
          <a:prstGeom prst="rect">
            <a:avLst/>
          </a:prstGeom>
          <a:noFill/>
          <a:ln/>
        </p:spPr>
        <p:txBody>
          <a:bodyPr wrap="square" lIns="0" tIns="0" rIns="0" bIns="0" rtlCol="0" anchor="ctr"/>
          <a:lstStyle/>
          <a:p>
            <a:pPr indent="0" marL="0">
              <a:buNone/>
            </a:pPr>
            <a:r>
              <a:rPr lang="en-US" sz="1400" b="1" dirty="0">
                <a:solidFill>
                  <a:schemeClr val="bg1"/>
                </a:solidFill>
              </a:rPr>
              <a:t>Categories</a:t>
            </a:r>
            <a:endParaRPr lang="en-US" sz="1400" dirty="0"/>
          </a:p>
        </p:txBody>
      </p:sp>
      <p:sp>
        <p:nvSpPr>
          <p:cNvPr id="30" name="txt-283"/>
          <p:cNvSpPr txBox="1"/>
          <p:nvPr/>
        </p:nvSpPr>
        <p:spPr>
          <a:xfrm>
            <a:off x="5458968" y="3767328"/>
            <a:ext cx="1792224" cy="822960"/>
          </a:xfrm>
          <a:prstGeom prst="rect">
            <a:avLst/>
          </a:prstGeom>
          <a:noFill/>
          <a:ln/>
        </p:spPr>
        <p:txBody>
          <a:bodyPr wrap="square" lIns="0" tIns="0" rIns="0" bIns="0" rtlCol="0" anchor="t"/>
          <a:lstStyle/>
          <a:p>
            <a:pPr indent="0" marL="0">
              <a:buNone/>
            </a:pPr>
            <a:r>
              <a:rPr lang="en-US" sz="1200" dirty="0">
                <a:solidFill>
                  <a:schemeClr val="tx1"/>
                </a:solidFill>
              </a:rPr>
              <a:t>Id PK</a:t>
            </a:r>
            <a:endParaRPr lang="en-US" sz="1200" dirty="0"/>
          </a:p>
          <a:p>
            <a:pPr indent="0" marL="0">
              <a:buNone/>
            </a:pPr>
            <a:r>
              <a:rPr lang="en-US" sz="1200" dirty="0">
                <a:solidFill>
                  <a:schemeClr val="tx1"/>
                </a:solidFill>
              </a:rPr>
              <a:t>Name</a:t>
            </a:r>
            <a:endParaRPr lang="en-US" sz="1200" dirty="0"/>
          </a:p>
          <a:p>
            <a:pPr indent="0" marL="0">
              <a:buNone/>
            </a:pPr>
            <a:r>
              <a:rPr lang="en-US" sz="1200" dirty="0">
                <a:solidFill>
                  <a:schemeClr val="tx1"/>
                </a:solidFill>
              </a:rPr>
              <a:t>DepartmentId FK</a:t>
            </a:r>
            <a:endParaRPr lang="en-US" sz="1200" dirty="0"/>
          </a:p>
        </p:txBody>
      </p:sp>
      <p:sp>
        <p:nvSpPr>
          <p:cNvPr id="31" name="box-284"/>
          <p:cNvSpPr/>
          <p:nvPr/>
        </p:nvSpPr>
        <p:spPr>
          <a:xfrm>
            <a:off x="10058400" y="4343400"/>
            <a:ext cx="1600200" cy="1371600"/>
          </a:xfrm>
          <a:prstGeom prst="roundRect">
            <a:avLst>
              <a:gd name="adj" fmla="val 4000"/>
            </a:avLst>
          </a:prstGeom>
          <a:solidFill>
            <a:schemeClr val="bg1"/>
          </a:solidFill>
          <a:ln w="19050">
            <a:solidFill>
              <a:srgbClr val="7A8B94"/>
            </a:solidFill>
            <a:prstDash val="solid"/>
          </a:ln>
        </p:spPr>
      </p:sp>
      <p:sp>
        <p:nvSpPr>
          <p:cNvPr id="32" name="thead-285"/>
          <p:cNvSpPr/>
          <p:nvPr/>
        </p:nvSpPr>
        <p:spPr>
          <a:xfrm>
            <a:off x="10076688" y="4361688"/>
            <a:ext cx="1563624" cy="384048"/>
          </a:xfrm>
          <a:prstGeom prst="rect">
            <a:avLst/>
          </a:prstGeom>
          <a:solidFill>
            <a:srgbClr val="7A8B94"/>
          </a:solidFill>
          <a:ln/>
        </p:spPr>
      </p:sp>
      <p:sp>
        <p:nvSpPr>
          <p:cNvPr id="33" name="txt-286"/>
          <p:cNvSpPr txBox="1"/>
          <p:nvPr/>
        </p:nvSpPr>
        <p:spPr>
          <a:xfrm>
            <a:off x="10168128" y="4379976"/>
            <a:ext cx="1380744" cy="347472"/>
          </a:xfrm>
          <a:prstGeom prst="rect">
            <a:avLst/>
          </a:prstGeom>
          <a:noFill/>
          <a:ln/>
        </p:spPr>
        <p:txBody>
          <a:bodyPr wrap="square" lIns="0" tIns="0" rIns="0" bIns="0" rtlCol="0" anchor="ctr"/>
          <a:lstStyle/>
          <a:p>
            <a:pPr indent="0" marL="0">
              <a:buNone/>
            </a:pPr>
            <a:r>
              <a:rPr lang="en-US" sz="1400" b="1" dirty="0">
                <a:solidFill>
                  <a:schemeClr val="bg1"/>
                </a:solidFill>
              </a:rPr>
              <a:t>History</a:t>
            </a:r>
            <a:endParaRPr lang="en-US" sz="1400" dirty="0"/>
          </a:p>
        </p:txBody>
      </p:sp>
      <p:sp>
        <p:nvSpPr>
          <p:cNvPr id="34" name="txt-287"/>
          <p:cNvSpPr txBox="1"/>
          <p:nvPr/>
        </p:nvSpPr>
        <p:spPr>
          <a:xfrm>
            <a:off x="10168128" y="4818888"/>
            <a:ext cx="1380744" cy="822960"/>
          </a:xfrm>
          <a:prstGeom prst="rect">
            <a:avLst/>
          </a:prstGeom>
          <a:noFill/>
          <a:ln/>
        </p:spPr>
        <p:txBody>
          <a:bodyPr wrap="square" lIns="0" tIns="0" rIns="0" bIns="0" rtlCol="0" anchor="t"/>
          <a:lstStyle/>
          <a:p>
            <a:pPr indent="0" marL="0">
              <a:buNone/>
            </a:pPr>
            <a:r>
              <a:rPr lang="en-US" sz="1200" dirty="0">
                <a:solidFill>
                  <a:schemeClr val="tx1"/>
                </a:solidFill>
              </a:rPr>
              <a:t>ReportId FK</a:t>
            </a:r>
            <a:endParaRPr lang="en-US" sz="1200" dirty="0"/>
          </a:p>
          <a:p>
            <a:pPr indent="0" marL="0">
              <a:buNone/>
            </a:pPr>
            <a:r>
              <a:rPr lang="en-US" sz="1200" dirty="0">
                <a:solidFill>
                  <a:schemeClr val="tx1"/>
                </a:solidFill>
              </a:rPr>
              <a:t>ToStatus</a:t>
            </a:r>
            <a:endParaRPr lang="en-US" sz="1200" dirty="0"/>
          </a:p>
          <a:p>
            <a:pPr indent="0" marL="0">
              <a:buNone/>
            </a:pPr>
            <a:r>
              <a:rPr lang="en-US" sz="1200" dirty="0">
                <a:solidFill>
                  <a:schemeClr val="tx1"/>
                </a:solidFill>
              </a:rPr>
              <a:t>ChangedAt</a:t>
            </a:r>
            <a:endParaRPr lang="en-US" sz="1200" dirty="0"/>
          </a:p>
        </p:txBody>
      </p:sp>
      <p:sp>
        <p:nvSpPr>
          <p:cNvPr id="35" name="box-288"/>
          <p:cNvSpPr/>
          <p:nvPr/>
        </p:nvSpPr>
        <p:spPr>
          <a:xfrm>
            <a:off x="7818120" y="4343400"/>
            <a:ext cx="2057400" cy="1371600"/>
          </a:xfrm>
          <a:prstGeom prst="roundRect">
            <a:avLst>
              <a:gd name="adj" fmla="val 4000"/>
            </a:avLst>
          </a:prstGeom>
          <a:solidFill>
            <a:schemeClr val="bg1"/>
          </a:solidFill>
          <a:ln w="19050">
            <a:solidFill>
              <a:srgbClr val="7A8B94"/>
            </a:solidFill>
            <a:prstDash val="solid"/>
          </a:ln>
        </p:spPr>
      </p:sp>
      <p:sp>
        <p:nvSpPr>
          <p:cNvPr id="36" name="thead-289"/>
          <p:cNvSpPr/>
          <p:nvPr/>
        </p:nvSpPr>
        <p:spPr>
          <a:xfrm>
            <a:off x="7836408" y="4361688"/>
            <a:ext cx="2020824" cy="384048"/>
          </a:xfrm>
          <a:prstGeom prst="rect">
            <a:avLst/>
          </a:prstGeom>
          <a:solidFill>
            <a:srgbClr val="7A8B94"/>
          </a:solidFill>
          <a:ln/>
        </p:spPr>
      </p:sp>
      <p:sp>
        <p:nvSpPr>
          <p:cNvPr id="37" name="txt-290"/>
          <p:cNvSpPr txBox="1"/>
          <p:nvPr/>
        </p:nvSpPr>
        <p:spPr>
          <a:xfrm>
            <a:off x="7927848" y="4379976"/>
            <a:ext cx="1837944" cy="347472"/>
          </a:xfrm>
          <a:prstGeom prst="rect">
            <a:avLst/>
          </a:prstGeom>
          <a:noFill/>
          <a:ln/>
        </p:spPr>
        <p:txBody>
          <a:bodyPr wrap="square" lIns="0" tIns="0" rIns="0" bIns="0" rtlCol="0" anchor="ctr"/>
          <a:lstStyle/>
          <a:p>
            <a:pPr indent="0" marL="0">
              <a:buNone/>
            </a:pPr>
            <a:r>
              <a:rPr lang="en-US" sz="1400" b="1" dirty="0">
                <a:solidFill>
                  <a:schemeClr val="bg1"/>
                </a:solidFill>
              </a:rPr>
              <a:t>ReportPhotos</a:t>
            </a:r>
            <a:endParaRPr lang="en-US" sz="1400" dirty="0"/>
          </a:p>
        </p:txBody>
      </p:sp>
      <p:sp>
        <p:nvSpPr>
          <p:cNvPr id="38" name="txt-291"/>
          <p:cNvSpPr txBox="1"/>
          <p:nvPr/>
        </p:nvSpPr>
        <p:spPr>
          <a:xfrm>
            <a:off x="7927848" y="4818888"/>
            <a:ext cx="1837944" cy="822960"/>
          </a:xfrm>
          <a:prstGeom prst="rect">
            <a:avLst/>
          </a:prstGeom>
          <a:noFill/>
          <a:ln/>
        </p:spPr>
        <p:txBody>
          <a:bodyPr wrap="square" lIns="0" tIns="0" rIns="0" bIns="0" rtlCol="0" anchor="t"/>
          <a:lstStyle/>
          <a:p>
            <a:pPr indent="0" marL="0">
              <a:buNone/>
            </a:pPr>
            <a:r>
              <a:rPr lang="en-US" sz="1200" dirty="0">
                <a:solidFill>
                  <a:schemeClr val="tx1"/>
                </a:solidFill>
              </a:rPr>
              <a:t>ReportId FK</a:t>
            </a:r>
            <a:endParaRPr lang="en-US" sz="1200" dirty="0"/>
          </a:p>
          <a:p>
            <a:pPr indent="0" marL="0">
              <a:buNone/>
            </a:pPr>
            <a:r>
              <a:rPr lang="en-US" sz="1200" dirty="0">
                <a:solidFill>
                  <a:schemeClr val="tx1"/>
                </a:solidFill>
              </a:rPr>
              <a:t>StorageKey</a:t>
            </a:r>
            <a:endParaRPr lang="en-US" sz="1200" dirty="0"/>
          </a:p>
          <a:p>
            <a:pPr indent="0" marL="0">
              <a:buNone/>
            </a:pPr>
            <a:r>
              <a:rPr lang="en-US" sz="1200" dirty="0">
                <a:solidFill>
                  <a:schemeClr val="tx1"/>
                </a:solidFill>
              </a:rPr>
              <a:t>Kind</a:t>
            </a:r>
            <a:endParaRPr lang="en-US" sz="1200" dirty="0"/>
          </a:p>
        </p:txBody>
      </p:sp>
      <p:sp>
        <p:nvSpPr>
          <p:cNvPr id="39" name="box-292"/>
          <p:cNvSpPr/>
          <p:nvPr/>
        </p:nvSpPr>
        <p:spPr>
          <a:xfrm>
            <a:off x="5349240" y="4983480"/>
            <a:ext cx="2011680" cy="1097280"/>
          </a:xfrm>
          <a:prstGeom prst="roundRect">
            <a:avLst>
              <a:gd name="adj" fmla="val 5000"/>
            </a:avLst>
          </a:prstGeom>
          <a:solidFill>
            <a:schemeClr val="bg1"/>
          </a:solidFill>
          <a:ln w="19050">
            <a:solidFill>
              <a:srgbClr val="7A8B94"/>
            </a:solidFill>
            <a:prstDash val="solid"/>
          </a:ln>
        </p:spPr>
      </p:sp>
      <p:sp>
        <p:nvSpPr>
          <p:cNvPr id="40" name="thead-293"/>
          <p:cNvSpPr/>
          <p:nvPr/>
        </p:nvSpPr>
        <p:spPr>
          <a:xfrm>
            <a:off x="5367528" y="5001768"/>
            <a:ext cx="1975104" cy="384048"/>
          </a:xfrm>
          <a:prstGeom prst="rect">
            <a:avLst/>
          </a:prstGeom>
          <a:solidFill>
            <a:srgbClr val="7A8B94"/>
          </a:solidFill>
          <a:ln/>
        </p:spPr>
      </p:sp>
      <p:sp>
        <p:nvSpPr>
          <p:cNvPr id="41" name="txt-294"/>
          <p:cNvSpPr txBox="1"/>
          <p:nvPr/>
        </p:nvSpPr>
        <p:spPr>
          <a:xfrm>
            <a:off x="5458968" y="5020056"/>
            <a:ext cx="1792224" cy="347472"/>
          </a:xfrm>
          <a:prstGeom prst="rect">
            <a:avLst/>
          </a:prstGeom>
          <a:noFill/>
          <a:ln/>
        </p:spPr>
        <p:txBody>
          <a:bodyPr wrap="square" lIns="0" tIns="0" rIns="0" bIns="0" rtlCol="0" anchor="ctr"/>
          <a:lstStyle/>
          <a:p>
            <a:pPr indent="0" marL="0">
              <a:buNone/>
            </a:pPr>
            <a:r>
              <a:rPr lang="en-US" sz="1400" b="1" dirty="0">
                <a:solidFill>
                  <a:schemeClr val="bg1"/>
                </a:solidFill>
              </a:rPr>
              <a:t>Departments</a:t>
            </a:r>
            <a:endParaRPr lang="en-US" sz="1400" dirty="0"/>
          </a:p>
        </p:txBody>
      </p:sp>
      <p:sp>
        <p:nvSpPr>
          <p:cNvPr id="42" name="txt-295"/>
          <p:cNvSpPr txBox="1"/>
          <p:nvPr/>
        </p:nvSpPr>
        <p:spPr>
          <a:xfrm>
            <a:off x="5458968" y="5458968"/>
            <a:ext cx="1792224" cy="548640"/>
          </a:xfrm>
          <a:prstGeom prst="rect">
            <a:avLst/>
          </a:prstGeom>
          <a:noFill/>
          <a:ln/>
        </p:spPr>
        <p:txBody>
          <a:bodyPr wrap="square" lIns="0" tIns="0" rIns="0" bIns="0" rtlCol="0" anchor="t"/>
          <a:lstStyle/>
          <a:p>
            <a:pPr indent="0" marL="0">
              <a:buNone/>
            </a:pPr>
            <a:r>
              <a:rPr lang="en-US" sz="1200" dirty="0">
                <a:solidFill>
                  <a:schemeClr val="tx1"/>
                </a:solidFill>
              </a:rPr>
              <a:t>Id PK</a:t>
            </a:r>
            <a:endParaRPr lang="en-US" sz="1200" dirty="0"/>
          </a:p>
          <a:p>
            <a:pPr indent="0" marL="0">
              <a:buNone/>
            </a:pPr>
            <a:r>
              <a:rPr lang="en-US" sz="1200" dirty="0">
                <a:solidFill>
                  <a:schemeClr val="tx1"/>
                </a:solidFill>
              </a:rPr>
              <a:t>Name</a:t>
            </a:r>
            <a:endParaRPr lang="en-US" sz="1200" dirty="0"/>
          </a:p>
        </p:txBody>
      </p:sp>
      <p:sp>
        <p:nvSpPr>
          <p:cNvPr id="43" name="arrow-296"/>
          <p:cNvSpPr/>
          <p:nvPr/>
        </p:nvSpPr>
        <p:spPr>
          <a:xfrm>
            <a:off x="7360920" y="1828800"/>
            <a:ext cx="457200" cy="914"/>
          </a:xfrm>
          <a:prstGeom prst="line">
            <a:avLst/>
          </a:prstGeom>
          <a:noFill/>
          <a:ln w="22225">
            <a:solidFill>
              <a:schemeClr val="accent6"/>
            </a:solidFill>
            <a:prstDash val="solid"/>
          </a:ln>
        </p:spPr>
      </p:sp>
      <p:sp>
        <p:nvSpPr>
          <p:cNvPr id="44" name="arrow-297"/>
          <p:cNvSpPr/>
          <p:nvPr/>
        </p:nvSpPr>
        <p:spPr>
          <a:xfrm flipV="1">
            <a:off x="7360920" y="2743200"/>
            <a:ext cx="457200" cy="1005840"/>
          </a:xfrm>
          <a:prstGeom prst="line">
            <a:avLst/>
          </a:prstGeom>
          <a:noFill/>
          <a:ln w="22225">
            <a:solidFill>
              <a:schemeClr val="accent6"/>
            </a:solidFill>
            <a:prstDash val="solid"/>
          </a:ln>
        </p:spPr>
      </p:sp>
      <p:sp>
        <p:nvSpPr>
          <p:cNvPr id="45" name="arrow-298"/>
          <p:cNvSpPr/>
          <p:nvPr/>
        </p:nvSpPr>
        <p:spPr>
          <a:xfrm>
            <a:off x="6355080" y="4663440"/>
            <a:ext cx="914" cy="320040"/>
          </a:xfrm>
          <a:prstGeom prst="line">
            <a:avLst/>
          </a:prstGeom>
          <a:noFill/>
          <a:ln w="22225">
            <a:solidFill>
              <a:schemeClr val="accent6"/>
            </a:solidFill>
            <a:prstDash val="solid"/>
          </a:ln>
        </p:spPr>
      </p:sp>
      <p:sp>
        <p:nvSpPr>
          <p:cNvPr id="46" name="arrow-299"/>
          <p:cNvSpPr/>
          <p:nvPr/>
        </p:nvSpPr>
        <p:spPr>
          <a:xfrm>
            <a:off x="8869680" y="3840480"/>
            <a:ext cx="914" cy="502920"/>
          </a:xfrm>
          <a:prstGeom prst="line">
            <a:avLst/>
          </a:prstGeom>
          <a:noFill/>
          <a:ln w="22225">
            <a:solidFill>
              <a:schemeClr val="accent6"/>
            </a:solidFill>
            <a:prstDash val="solid"/>
          </a:ln>
        </p:spPr>
      </p:sp>
      <p:sp>
        <p:nvSpPr>
          <p:cNvPr id="47" name="arrow-300"/>
          <p:cNvSpPr/>
          <p:nvPr/>
        </p:nvSpPr>
        <p:spPr>
          <a:xfrm>
            <a:off x="10195560" y="3291840"/>
            <a:ext cx="640080" cy="1051560"/>
          </a:xfrm>
          <a:prstGeom prst="line">
            <a:avLst/>
          </a:prstGeom>
          <a:noFill/>
          <a:ln w="22225">
            <a:solidFill>
              <a:schemeClr val="accent6"/>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ტექნოლოგიური სტეკი</a:t>
            </a:r>
            <a:endParaRPr lang="en-US" sz="3200" dirty="0"/>
          </a:p>
        </p:txBody>
      </p:sp>
      <p:sp>
        <p:nvSpPr>
          <p:cNvPr id="3" name="box-301"/>
          <p:cNvSpPr/>
          <p:nvPr/>
        </p:nvSpPr>
        <p:spPr>
          <a:xfrm>
            <a:off x="548640" y="1371600"/>
            <a:ext cx="2606040" cy="2148840"/>
          </a:xfrm>
          <a:prstGeom prst="roundRect">
            <a:avLst>
              <a:gd name="adj" fmla="val 5106"/>
            </a:avLst>
          </a:prstGeom>
          <a:solidFill>
            <a:schemeClr val="bg2"/>
          </a:solidFill>
          <a:ln w="19050">
            <a:solidFill>
              <a:srgbClr val="EEF2F4"/>
            </a:solidFill>
            <a:prstDash val="solid"/>
          </a:ln>
        </p:spPr>
      </p:sp>
      <p:sp>
        <p:nvSpPr>
          <p:cNvPr id="4" name="txt-302"/>
          <p:cNvSpPr txBox="1"/>
          <p:nvPr/>
        </p:nvSpPr>
        <p:spPr>
          <a:xfrm>
            <a:off x="777240" y="160020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ფრეიმვორკი</a:t>
            </a:r>
            <a:endParaRPr lang="en-US" sz="1400" dirty="0"/>
          </a:p>
        </p:txBody>
      </p:sp>
      <p:sp>
        <p:nvSpPr>
          <p:cNvPr id="5" name="txt-303"/>
          <p:cNvSpPr txBox="1"/>
          <p:nvPr/>
        </p:nvSpPr>
        <p:spPr>
          <a:xfrm>
            <a:off x="777240" y="2057400"/>
            <a:ext cx="2148840" cy="868680"/>
          </a:xfrm>
          <a:prstGeom prst="rect">
            <a:avLst/>
          </a:prstGeom>
          <a:noFill/>
          <a:ln/>
        </p:spPr>
        <p:txBody>
          <a:bodyPr wrap="square" lIns="0" tIns="0" rIns="0" bIns="0" rtlCol="0" anchor="t"/>
          <a:lstStyle/>
          <a:p>
            <a:pPr indent="0" marL="0">
              <a:buNone/>
            </a:pPr>
            <a:r>
              <a:rPr lang="en-US" sz="1700" b="1" dirty="0">
                <a:solidFill>
                  <a:schemeClr val="tx1"/>
                </a:solidFill>
              </a:rPr>
              <a:t>ASP.NET Core 8 MVC (C#)</a:t>
            </a:r>
            <a:endParaRPr lang="en-US" sz="1700" dirty="0"/>
          </a:p>
        </p:txBody>
      </p:sp>
      <p:sp>
        <p:nvSpPr>
          <p:cNvPr id="6" name="txt-304"/>
          <p:cNvSpPr txBox="1"/>
          <p:nvPr/>
        </p:nvSpPr>
        <p:spPr>
          <a:xfrm>
            <a:off x="777240" y="2971800"/>
            <a:ext cx="2148840" cy="411480"/>
          </a:xfrm>
          <a:prstGeom prst="rect">
            <a:avLst/>
          </a:prstGeom>
          <a:noFill/>
          <a:ln/>
        </p:spPr>
        <p:txBody>
          <a:bodyPr wrap="square" lIns="0" tIns="0" rIns="0" bIns="0" rtlCol="0" anchor="t"/>
          <a:lstStyle/>
          <a:p>
            <a:pPr indent="0" marL="0">
              <a:buNone/>
            </a:pPr>
            <a:r>
              <a:rPr lang="en-US" sz="1400" dirty="0">
                <a:solidFill>
                  <a:schemeClr val="tx2"/>
                </a:solidFill>
              </a:rPr>
              <a:t>LTS, MVC და DI ჩაშენებული</a:t>
            </a:r>
            <a:endParaRPr lang="en-US" sz="1400" dirty="0"/>
          </a:p>
        </p:txBody>
      </p:sp>
      <p:sp>
        <p:nvSpPr>
          <p:cNvPr id="7" name="box-305"/>
          <p:cNvSpPr/>
          <p:nvPr/>
        </p:nvSpPr>
        <p:spPr>
          <a:xfrm>
            <a:off x="3360420" y="1371600"/>
            <a:ext cx="2606040" cy="2148840"/>
          </a:xfrm>
          <a:prstGeom prst="roundRect">
            <a:avLst>
              <a:gd name="adj" fmla="val 5106"/>
            </a:avLst>
          </a:prstGeom>
          <a:solidFill>
            <a:schemeClr val="bg2"/>
          </a:solidFill>
          <a:ln w="19050">
            <a:solidFill>
              <a:srgbClr val="EEF2F4"/>
            </a:solidFill>
            <a:prstDash val="solid"/>
          </a:ln>
        </p:spPr>
      </p:sp>
      <p:sp>
        <p:nvSpPr>
          <p:cNvPr id="8" name="txt-306"/>
          <p:cNvSpPr txBox="1"/>
          <p:nvPr/>
        </p:nvSpPr>
        <p:spPr>
          <a:xfrm>
            <a:off x="3589020" y="160020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View</a:t>
            </a:r>
            <a:endParaRPr lang="en-US" sz="1400" dirty="0"/>
          </a:p>
        </p:txBody>
      </p:sp>
      <p:sp>
        <p:nvSpPr>
          <p:cNvPr id="9" name="txt-307"/>
          <p:cNvSpPr txBox="1"/>
          <p:nvPr/>
        </p:nvSpPr>
        <p:spPr>
          <a:xfrm>
            <a:off x="3589020" y="2057400"/>
            <a:ext cx="2148840" cy="868680"/>
          </a:xfrm>
          <a:prstGeom prst="rect">
            <a:avLst/>
          </a:prstGeom>
          <a:noFill/>
          <a:ln/>
        </p:spPr>
        <p:txBody>
          <a:bodyPr wrap="square" lIns="0" tIns="0" rIns="0" bIns="0" rtlCol="0" anchor="t"/>
          <a:lstStyle/>
          <a:p>
            <a:pPr indent="0" marL="0">
              <a:buNone/>
            </a:pPr>
            <a:r>
              <a:rPr lang="en-US" sz="1700" b="1" dirty="0">
                <a:solidFill>
                  <a:schemeClr val="tx1"/>
                </a:solidFill>
              </a:rPr>
              <a:t>Razor, Bootstrap 5, Tag Helpers</a:t>
            </a:r>
            <a:endParaRPr lang="en-US" sz="1700" dirty="0"/>
          </a:p>
        </p:txBody>
      </p:sp>
      <p:sp>
        <p:nvSpPr>
          <p:cNvPr id="10" name="txt-308"/>
          <p:cNvSpPr txBox="1"/>
          <p:nvPr/>
        </p:nvSpPr>
        <p:spPr>
          <a:xfrm>
            <a:off x="3589020" y="2971800"/>
            <a:ext cx="2148840" cy="411480"/>
          </a:xfrm>
          <a:prstGeom prst="rect">
            <a:avLst/>
          </a:prstGeom>
          <a:noFill/>
          <a:ln/>
        </p:spPr>
        <p:txBody>
          <a:bodyPr wrap="square" lIns="0" tIns="0" rIns="0" bIns="0" rtlCol="0" anchor="t"/>
          <a:lstStyle/>
          <a:p>
            <a:pPr indent="0" marL="0">
              <a:buNone/>
            </a:pPr>
            <a:r>
              <a:rPr lang="en-US" sz="1400" dirty="0">
                <a:solidFill>
                  <a:schemeClr val="tx2"/>
                </a:solidFill>
              </a:rPr>
              <a:t>რესპონსიული 360 px-დან</a:t>
            </a:r>
            <a:endParaRPr lang="en-US" sz="1400" dirty="0"/>
          </a:p>
        </p:txBody>
      </p:sp>
      <p:sp>
        <p:nvSpPr>
          <p:cNvPr id="11" name="box-309"/>
          <p:cNvSpPr/>
          <p:nvPr/>
        </p:nvSpPr>
        <p:spPr>
          <a:xfrm>
            <a:off x="6172200" y="1371600"/>
            <a:ext cx="2606040" cy="2148840"/>
          </a:xfrm>
          <a:prstGeom prst="roundRect">
            <a:avLst>
              <a:gd name="adj" fmla="val 5106"/>
            </a:avLst>
          </a:prstGeom>
          <a:solidFill>
            <a:schemeClr val="bg2"/>
          </a:solidFill>
          <a:ln w="19050">
            <a:solidFill>
              <a:srgbClr val="EEF2F4"/>
            </a:solidFill>
            <a:prstDash val="solid"/>
          </a:ln>
        </p:spPr>
      </p:sp>
      <p:sp>
        <p:nvSpPr>
          <p:cNvPr id="12" name="txt-310"/>
          <p:cNvSpPr txBox="1"/>
          <p:nvPr/>
        </p:nvSpPr>
        <p:spPr>
          <a:xfrm>
            <a:off x="6400800" y="160020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რუკა</a:t>
            </a:r>
            <a:endParaRPr lang="en-US" sz="1400" dirty="0"/>
          </a:p>
        </p:txBody>
      </p:sp>
      <p:sp>
        <p:nvSpPr>
          <p:cNvPr id="13" name="txt-311"/>
          <p:cNvSpPr txBox="1"/>
          <p:nvPr/>
        </p:nvSpPr>
        <p:spPr>
          <a:xfrm>
            <a:off x="6400800" y="2057400"/>
            <a:ext cx="2148840" cy="868680"/>
          </a:xfrm>
          <a:prstGeom prst="rect">
            <a:avLst/>
          </a:prstGeom>
          <a:noFill/>
          <a:ln/>
        </p:spPr>
        <p:txBody>
          <a:bodyPr wrap="square" lIns="0" tIns="0" rIns="0" bIns="0" rtlCol="0" anchor="t"/>
          <a:lstStyle/>
          <a:p>
            <a:pPr indent="0" marL="0">
              <a:buNone/>
            </a:pPr>
            <a:r>
              <a:rPr lang="en-US" sz="1700" b="1" dirty="0">
                <a:solidFill>
                  <a:schemeClr val="tx1"/>
                </a:solidFill>
              </a:rPr>
              <a:t>Leaflet + OpenStreetMap</a:t>
            </a:r>
            <a:endParaRPr lang="en-US" sz="1700" dirty="0"/>
          </a:p>
        </p:txBody>
      </p:sp>
      <p:sp>
        <p:nvSpPr>
          <p:cNvPr id="14" name="txt-312"/>
          <p:cNvSpPr txBox="1"/>
          <p:nvPr/>
        </p:nvSpPr>
        <p:spPr>
          <a:xfrm>
            <a:off x="6400800" y="2971800"/>
            <a:ext cx="2148840" cy="411480"/>
          </a:xfrm>
          <a:prstGeom prst="rect">
            <a:avLst/>
          </a:prstGeom>
          <a:noFill/>
          <a:ln/>
        </p:spPr>
        <p:txBody>
          <a:bodyPr wrap="square" lIns="0" tIns="0" rIns="0" bIns="0" rtlCol="0" anchor="t"/>
          <a:lstStyle/>
          <a:p>
            <a:pPr indent="0" marL="0">
              <a:buNone/>
            </a:pPr>
            <a:r>
              <a:rPr lang="en-US" sz="1400" dirty="0">
                <a:solidFill>
                  <a:schemeClr val="tx2"/>
                </a:solidFill>
              </a:rPr>
              <a:t>უფასო, გასაღების გარეშე</a:t>
            </a:r>
            <a:endParaRPr lang="en-US" sz="1400" dirty="0"/>
          </a:p>
        </p:txBody>
      </p:sp>
      <p:sp>
        <p:nvSpPr>
          <p:cNvPr id="15" name="box-313"/>
          <p:cNvSpPr/>
          <p:nvPr/>
        </p:nvSpPr>
        <p:spPr>
          <a:xfrm>
            <a:off x="8983980" y="1371600"/>
            <a:ext cx="2606040" cy="2148840"/>
          </a:xfrm>
          <a:prstGeom prst="roundRect">
            <a:avLst>
              <a:gd name="adj" fmla="val 5106"/>
            </a:avLst>
          </a:prstGeom>
          <a:solidFill>
            <a:schemeClr val="bg2"/>
          </a:solidFill>
          <a:ln w="19050">
            <a:solidFill>
              <a:srgbClr val="EEF2F4"/>
            </a:solidFill>
            <a:prstDash val="solid"/>
          </a:ln>
        </p:spPr>
      </p:sp>
      <p:sp>
        <p:nvSpPr>
          <p:cNvPr id="16" name="txt-314"/>
          <p:cNvSpPr txBox="1"/>
          <p:nvPr/>
        </p:nvSpPr>
        <p:spPr>
          <a:xfrm>
            <a:off x="9212580" y="160020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ავტორიზაცია</a:t>
            </a:r>
            <a:endParaRPr lang="en-US" sz="1400" dirty="0"/>
          </a:p>
        </p:txBody>
      </p:sp>
      <p:sp>
        <p:nvSpPr>
          <p:cNvPr id="17" name="txt-315"/>
          <p:cNvSpPr txBox="1"/>
          <p:nvPr/>
        </p:nvSpPr>
        <p:spPr>
          <a:xfrm>
            <a:off x="9212580" y="2057400"/>
            <a:ext cx="2148840" cy="868680"/>
          </a:xfrm>
          <a:prstGeom prst="rect">
            <a:avLst/>
          </a:prstGeom>
          <a:noFill/>
          <a:ln/>
        </p:spPr>
        <p:txBody>
          <a:bodyPr wrap="square" lIns="0" tIns="0" rIns="0" bIns="0" rtlCol="0" anchor="t"/>
          <a:lstStyle/>
          <a:p>
            <a:pPr indent="0" marL="0">
              <a:buNone/>
            </a:pPr>
            <a:r>
              <a:rPr lang="en-US" sz="1700" b="1" dirty="0">
                <a:solidFill>
                  <a:schemeClr val="tx1"/>
                </a:solidFill>
              </a:rPr>
              <a:t>ASP.NET Core Identity</a:t>
            </a:r>
            <a:endParaRPr lang="en-US" sz="1700" dirty="0"/>
          </a:p>
        </p:txBody>
      </p:sp>
      <p:sp>
        <p:nvSpPr>
          <p:cNvPr id="18" name="txt-316"/>
          <p:cNvSpPr txBox="1"/>
          <p:nvPr/>
        </p:nvSpPr>
        <p:spPr>
          <a:xfrm>
            <a:off x="9212580" y="2971800"/>
            <a:ext cx="2148840" cy="411480"/>
          </a:xfrm>
          <a:prstGeom prst="rect">
            <a:avLst/>
          </a:prstGeom>
          <a:noFill/>
          <a:ln/>
        </p:spPr>
        <p:txBody>
          <a:bodyPr wrap="square" lIns="0" tIns="0" rIns="0" bIns="0" rtlCol="0" anchor="t"/>
          <a:lstStyle/>
          <a:p>
            <a:pPr indent="0" marL="0">
              <a:buNone/>
            </a:pPr>
            <a:r>
              <a:rPr lang="en-US" sz="1400" dirty="0">
                <a:solidFill>
                  <a:schemeClr val="tx2"/>
                </a:solidFill>
              </a:rPr>
              <a:t>როლები და დაბლოკვა მზად</a:t>
            </a:r>
            <a:endParaRPr lang="en-US" sz="1400" dirty="0"/>
          </a:p>
        </p:txBody>
      </p:sp>
      <p:sp>
        <p:nvSpPr>
          <p:cNvPr id="19" name="box-317"/>
          <p:cNvSpPr/>
          <p:nvPr/>
        </p:nvSpPr>
        <p:spPr>
          <a:xfrm>
            <a:off x="548640" y="3794760"/>
            <a:ext cx="2606040" cy="2148840"/>
          </a:xfrm>
          <a:prstGeom prst="roundRect">
            <a:avLst>
              <a:gd name="adj" fmla="val 5106"/>
            </a:avLst>
          </a:prstGeom>
          <a:solidFill>
            <a:schemeClr val="bg1"/>
          </a:solidFill>
          <a:ln w="19050">
            <a:solidFill>
              <a:srgbClr val="EEF2F4"/>
            </a:solidFill>
            <a:prstDash val="solid"/>
          </a:ln>
        </p:spPr>
      </p:sp>
      <p:sp>
        <p:nvSpPr>
          <p:cNvPr id="20" name="txt-318"/>
          <p:cNvSpPr txBox="1"/>
          <p:nvPr/>
        </p:nvSpPr>
        <p:spPr>
          <a:xfrm>
            <a:off x="777240" y="402336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ORM და ბაზა</a:t>
            </a:r>
            <a:endParaRPr lang="en-US" sz="1400" dirty="0"/>
          </a:p>
        </p:txBody>
      </p:sp>
      <p:sp>
        <p:nvSpPr>
          <p:cNvPr id="21" name="txt-319"/>
          <p:cNvSpPr txBox="1"/>
          <p:nvPr/>
        </p:nvSpPr>
        <p:spPr>
          <a:xfrm>
            <a:off x="777240" y="4480560"/>
            <a:ext cx="2148840" cy="868680"/>
          </a:xfrm>
          <a:prstGeom prst="rect">
            <a:avLst/>
          </a:prstGeom>
          <a:noFill/>
          <a:ln/>
        </p:spPr>
        <p:txBody>
          <a:bodyPr wrap="square" lIns="0" tIns="0" rIns="0" bIns="0" rtlCol="0" anchor="t"/>
          <a:lstStyle/>
          <a:p>
            <a:pPr indent="0" marL="0">
              <a:buNone/>
            </a:pPr>
            <a:r>
              <a:rPr lang="en-US" sz="1700" b="1" dirty="0">
                <a:solidFill>
                  <a:schemeClr val="tx1"/>
                </a:solidFill>
              </a:rPr>
              <a:t>EF Core 8, PostgreSQL 16 + PostGIS</a:t>
            </a:r>
            <a:endParaRPr lang="en-US" sz="1700" dirty="0"/>
          </a:p>
        </p:txBody>
      </p:sp>
      <p:sp>
        <p:nvSpPr>
          <p:cNvPr id="22" name="txt-320"/>
          <p:cNvSpPr txBox="1"/>
          <p:nvPr/>
        </p:nvSpPr>
        <p:spPr>
          <a:xfrm>
            <a:off x="777240" y="5394960"/>
            <a:ext cx="2148840" cy="411480"/>
          </a:xfrm>
          <a:prstGeom prst="rect">
            <a:avLst/>
          </a:prstGeom>
          <a:noFill/>
          <a:ln/>
        </p:spPr>
        <p:txBody>
          <a:bodyPr wrap="square" lIns="0" tIns="0" rIns="0" bIns="0" rtlCol="0" anchor="t"/>
          <a:lstStyle/>
          <a:p>
            <a:pPr indent="0" marL="0">
              <a:buNone/>
            </a:pPr>
            <a:r>
              <a:rPr lang="en-US" sz="1400" dirty="0">
                <a:solidFill>
                  <a:schemeClr val="tx2"/>
                </a:solidFill>
              </a:rPr>
              <a:t>მიგრაციები, გეო-მოთხოვნები</a:t>
            </a:r>
            <a:endParaRPr lang="en-US" sz="1400" dirty="0"/>
          </a:p>
        </p:txBody>
      </p:sp>
      <p:sp>
        <p:nvSpPr>
          <p:cNvPr id="23" name="box-321"/>
          <p:cNvSpPr/>
          <p:nvPr/>
        </p:nvSpPr>
        <p:spPr>
          <a:xfrm>
            <a:off x="3360420" y="3794760"/>
            <a:ext cx="2606040" cy="2148840"/>
          </a:xfrm>
          <a:prstGeom prst="roundRect">
            <a:avLst>
              <a:gd name="adj" fmla="val 5106"/>
            </a:avLst>
          </a:prstGeom>
          <a:solidFill>
            <a:schemeClr val="bg1"/>
          </a:solidFill>
          <a:ln w="19050">
            <a:solidFill>
              <a:srgbClr val="EEF2F4"/>
            </a:solidFill>
            <a:prstDash val="solid"/>
          </a:ln>
        </p:spPr>
      </p:sp>
      <p:sp>
        <p:nvSpPr>
          <p:cNvPr id="24" name="txt-322"/>
          <p:cNvSpPr txBox="1"/>
          <p:nvPr/>
        </p:nvSpPr>
        <p:spPr>
          <a:xfrm>
            <a:off x="3589020" y="402336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ფონური ამოცანები</a:t>
            </a:r>
            <a:endParaRPr lang="en-US" sz="1400" dirty="0"/>
          </a:p>
        </p:txBody>
      </p:sp>
      <p:sp>
        <p:nvSpPr>
          <p:cNvPr id="25" name="txt-323"/>
          <p:cNvSpPr txBox="1"/>
          <p:nvPr/>
        </p:nvSpPr>
        <p:spPr>
          <a:xfrm>
            <a:off x="3589020" y="4480560"/>
            <a:ext cx="2148840" cy="868680"/>
          </a:xfrm>
          <a:prstGeom prst="rect">
            <a:avLst/>
          </a:prstGeom>
          <a:noFill/>
          <a:ln/>
        </p:spPr>
        <p:txBody>
          <a:bodyPr wrap="square" lIns="0" tIns="0" rIns="0" bIns="0" rtlCol="0" anchor="t"/>
          <a:lstStyle/>
          <a:p>
            <a:pPr indent="0" marL="0">
              <a:buNone/>
            </a:pPr>
            <a:r>
              <a:rPr lang="en-US" sz="1700" b="1" dirty="0">
                <a:solidFill>
                  <a:schemeClr val="tx1"/>
                </a:solidFill>
              </a:rPr>
              <a:t>Hangfire, MediatR, ImageSharp, MailKit</a:t>
            </a:r>
            <a:endParaRPr lang="en-US" sz="1700" dirty="0"/>
          </a:p>
        </p:txBody>
      </p:sp>
      <p:sp>
        <p:nvSpPr>
          <p:cNvPr id="26" name="txt-324"/>
          <p:cNvSpPr txBox="1"/>
          <p:nvPr/>
        </p:nvSpPr>
        <p:spPr>
          <a:xfrm>
            <a:off x="3589020" y="5394960"/>
            <a:ext cx="2148840" cy="411480"/>
          </a:xfrm>
          <a:prstGeom prst="rect">
            <a:avLst/>
          </a:prstGeom>
          <a:noFill/>
          <a:ln/>
        </p:spPr>
        <p:txBody>
          <a:bodyPr wrap="square" lIns="0" tIns="0" rIns="0" bIns="0" rtlCol="0" anchor="t"/>
          <a:lstStyle/>
          <a:p>
            <a:pPr indent="0" marL="0">
              <a:buNone/>
            </a:pPr>
            <a:r>
              <a:rPr lang="en-US" sz="1400" dirty="0">
                <a:solidFill>
                  <a:schemeClr val="tx2"/>
                </a:solidFill>
              </a:rPr>
              <a:t>Redis არ სჭირდება</a:t>
            </a:r>
            <a:endParaRPr lang="en-US" sz="1400" dirty="0"/>
          </a:p>
        </p:txBody>
      </p:sp>
      <p:sp>
        <p:nvSpPr>
          <p:cNvPr id="27" name="box-325"/>
          <p:cNvSpPr/>
          <p:nvPr/>
        </p:nvSpPr>
        <p:spPr>
          <a:xfrm>
            <a:off x="6172200" y="3794760"/>
            <a:ext cx="2606040" cy="2148840"/>
          </a:xfrm>
          <a:prstGeom prst="roundRect">
            <a:avLst>
              <a:gd name="adj" fmla="val 5106"/>
            </a:avLst>
          </a:prstGeom>
          <a:solidFill>
            <a:schemeClr val="bg1"/>
          </a:solidFill>
          <a:ln w="19050">
            <a:solidFill>
              <a:srgbClr val="EEF2F4"/>
            </a:solidFill>
            <a:prstDash val="solid"/>
          </a:ln>
        </p:spPr>
      </p:sp>
      <p:sp>
        <p:nvSpPr>
          <p:cNvPr id="28" name="txt-326"/>
          <p:cNvSpPr txBox="1"/>
          <p:nvPr/>
        </p:nvSpPr>
        <p:spPr>
          <a:xfrm>
            <a:off x="6400800" y="402336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ტესტები</a:t>
            </a:r>
            <a:endParaRPr lang="en-US" sz="1400" dirty="0"/>
          </a:p>
        </p:txBody>
      </p:sp>
      <p:sp>
        <p:nvSpPr>
          <p:cNvPr id="29" name="txt-327"/>
          <p:cNvSpPr txBox="1"/>
          <p:nvPr/>
        </p:nvSpPr>
        <p:spPr>
          <a:xfrm>
            <a:off x="6400800" y="4480560"/>
            <a:ext cx="2148840" cy="868680"/>
          </a:xfrm>
          <a:prstGeom prst="rect">
            <a:avLst/>
          </a:prstGeom>
          <a:noFill/>
          <a:ln/>
        </p:spPr>
        <p:txBody>
          <a:bodyPr wrap="square" lIns="0" tIns="0" rIns="0" bIns="0" rtlCol="0" anchor="t"/>
          <a:lstStyle/>
          <a:p>
            <a:pPr indent="0" marL="0">
              <a:buNone/>
            </a:pPr>
            <a:r>
              <a:rPr lang="en-US" sz="1700" b="1" dirty="0">
                <a:solidFill>
                  <a:schemeClr val="tx1"/>
                </a:solidFill>
              </a:rPr>
              <a:t>xUnit, Moq, Playwright, k6</a:t>
            </a:r>
            <a:endParaRPr lang="en-US" sz="1700" dirty="0"/>
          </a:p>
        </p:txBody>
      </p:sp>
      <p:sp>
        <p:nvSpPr>
          <p:cNvPr id="30" name="txt-328"/>
          <p:cNvSpPr txBox="1"/>
          <p:nvPr/>
        </p:nvSpPr>
        <p:spPr>
          <a:xfrm>
            <a:off x="6400800" y="5394960"/>
            <a:ext cx="2148840" cy="411480"/>
          </a:xfrm>
          <a:prstGeom prst="rect">
            <a:avLst/>
          </a:prstGeom>
          <a:noFill/>
          <a:ln/>
        </p:spPr>
        <p:txBody>
          <a:bodyPr wrap="square" lIns="0" tIns="0" rIns="0" bIns="0" rtlCol="0" anchor="t"/>
          <a:lstStyle/>
          <a:p>
            <a:pPr indent="0" marL="0">
              <a:buNone/>
            </a:pPr>
            <a:r>
              <a:rPr lang="en-US" sz="1400" dirty="0">
                <a:solidFill>
                  <a:schemeClr val="tx2"/>
                </a:solidFill>
              </a:rPr>
              <a:t>k6: 500 მომხმარებელი</a:t>
            </a:r>
            <a:endParaRPr lang="en-US" sz="1400" dirty="0"/>
          </a:p>
        </p:txBody>
      </p:sp>
      <p:sp>
        <p:nvSpPr>
          <p:cNvPr id="31" name="box-329"/>
          <p:cNvSpPr/>
          <p:nvPr/>
        </p:nvSpPr>
        <p:spPr>
          <a:xfrm>
            <a:off x="8983980" y="3794760"/>
            <a:ext cx="2606040" cy="2148840"/>
          </a:xfrm>
          <a:prstGeom prst="roundRect">
            <a:avLst>
              <a:gd name="adj" fmla="val 5106"/>
            </a:avLst>
          </a:prstGeom>
          <a:solidFill>
            <a:schemeClr val="bg1"/>
          </a:solidFill>
          <a:ln w="19050">
            <a:solidFill>
              <a:srgbClr val="EEF2F4"/>
            </a:solidFill>
            <a:prstDash val="solid"/>
          </a:ln>
        </p:spPr>
      </p:sp>
      <p:sp>
        <p:nvSpPr>
          <p:cNvPr id="32" name="txt-330"/>
          <p:cNvSpPr txBox="1"/>
          <p:nvPr/>
        </p:nvSpPr>
        <p:spPr>
          <a:xfrm>
            <a:off x="9212580" y="402336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DevOps</a:t>
            </a:r>
            <a:endParaRPr lang="en-US" sz="1400" dirty="0"/>
          </a:p>
        </p:txBody>
      </p:sp>
      <p:sp>
        <p:nvSpPr>
          <p:cNvPr id="33" name="txt-331"/>
          <p:cNvSpPr txBox="1"/>
          <p:nvPr/>
        </p:nvSpPr>
        <p:spPr>
          <a:xfrm>
            <a:off x="9212580" y="4480560"/>
            <a:ext cx="2148840" cy="868680"/>
          </a:xfrm>
          <a:prstGeom prst="rect">
            <a:avLst/>
          </a:prstGeom>
          <a:noFill/>
          <a:ln/>
        </p:spPr>
        <p:txBody>
          <a:bodyPr wrap="square" lIns="0" tIns="0" rIns="0" bIns="0" rtlCol="0" anchor="t"/>
          <a:lstStyle/>
          <a:p>
            <a:pPr indent="0" marL="0">
              <a:buNone/>
            </a:pPr>
            <a:r>
              <a:rPr lang="en-US" sz="1700" b="1" dirty="0">
                <a:solidFill>
                  <a:schemeClr val="tx1"/>
                </a:solidFill>
              </a:rPr>
              <a:t>Docker Compose, GitHub Actions, Nginx</a:t>
            </a:r>
            <a:endParaRPr lang="en-US" sz="1700" dirty="0"/>
          </a:p>
        </p:txBody>
      </p:sp>
      <p:sp>
        <p:nvSpPr>
          <p:cNvPr id="34" name="txt-332"/>
          <p:cNvSpPr txBox="1"/>
          <p:nvPr/>
        </p:nvSpPr>
        <p:spPr>
          <a:xfrm>
            <a:off x="9212580" y="5394960"/>
            <a:ext cx="2148840" cy="411480"/>
          </a:xfrm>
          <a:prstGeom prst="rect">
            <a:avLst/>
          </a:prstGeom>
          <a:noFill/>
          <a:ln/>
        </p:spPr>
        <p:txBody>
          <a:bodyPr wrap="square" lIns="0" tIns="0" rIns="0" bIns="0" rtlCol="0" anchor="t"/>
          <a:lstStyle/>
          <a:p>
            <a:pPr indent="0" marL="0">
              <a:buNone/>
            </a:pPr>
            <a:r>
              <a:rPr lang="en-US" sz="1400" dirty="0">
                <a:solidFill>
                  <a:schemeClr val="tx2"/>
                </a:solidFill>
              </a:rPr>
              <a:t>CI ყოველ PR-ზე</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რისკები და მათი შემცირება</a:t>
            </a:r>
            <a:endParaRPr lang="en-US" sz="3200" dirty="0"/>
          </a:p>
        </p:txBody>
      </p:sp>
      <p:sp>
        <p:nvSpPr>
          <p:cNvPr id="3" name="box-333"/>
          <p:cNvSpPr/>
          <p:nvPr/>
        </p:nvSpPr>
        <p:spPr>
          <a:xfrm>
            <a:off x="548640" y="1371600"/>
            <a:ext cx="3520440" cy="4754880"/>
          </a:xfrm>
          <a:prstGeom prst="roundRect">
            <a:avLst>
              <a:gd name="adj" fmla="val 3117"/>
            </a:avLst>
          </a:prstGeom>
          <a:solidFill>
            <a:schemeClr val="bg2"/>
          </a:solidFill>
          <a:ln/>
        </p:spPr>
      </p:sp>
      <p:sp>
        <p:nvSpPr>
          <p:cNvPr id="4" name="badge-334"/>
          <p:cNvSpPr/>
          <p:nvPr/>
        </p:nvSpPr>
        <p:spPr>
          <a:xfrm>
            <a:off x="822960" y="1600200"/>
            <a:ext cx="457200" cy="457200"/>
          </a:xfrm>
          <a:prstGeom prst="ellipse">
            <a:avLst/>
          </a:prstGeom>
          <a:solidFill>
            <a:schemeClr val="accent4"/>
          </a:solidFill>
          <a:ln/>
        </p:spPr>
      </p:sp>
      <p:sp>
        <p:nvSpPr>
          <p:cNvPr id="5" name="txt-335"/>
          <p:cNvSpPr txBox="1"/>
          <p:nvPr/>
        </p:nvSpPr>
        <p:spPr>
          <a:xfrm>
            <a:off x="82296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xt-336"/>
          <p:cNvSpPr txBox="1"/>
          <p:nvPr/>
        </p:nvSpPr>
        <p:spPr>
          <a:xfrm>
            <a:off x="1417320" y="1600200"/>
            <a:ext cx="2423160" cy="777240"/>
          </a:xfrm>
          <a:prstGeom prst="rect">
            <a:avLst/>
          </a:prstGeom>
          <a:noFill/>
          <a:ln/>
        </p:spPr>
        <p:txBody>
          <a:bodyPr wrap="square" lIns="0" tIns="0" rIns="0" bIns="0" rtlCol="0" anchor="ctr"/>
          <a:lstStyle/>
          <a:p>
            <a:pPr indent="0" marL="0">
              <a:buNone/>
            </a:pPr>
            <a:r>
              <a:rPr lang="en-US" sz="1700" b="1" dirty="0">
                <a:solidFill>
                  <a:schemeClr val="tx1"/>
                </a:solidFill>
              </a:rPr>
              <a:t>„მსუქანი" Controller-ები</a:t>
            </a:r>
            <a:endParaRPr lang="en-US" sz="1700" dirty="0"/>
          </a:p>
        </p:txBody>
      </p:sp>
      <p:sp>
        <p:nvSpPr>
          <p:cNvPr id="7" name="txt-337"/>
          <p:cNvSpPr txBox="1"/>
          <p:nvPr/>
        </p:nvSpPr>
        <p:spPr>
          <a:xfrm>
            <a:off x="822960" y="2514600"/>
            <a:ext cx="2971800" cy="1097280"/>
          </a:xfrm>
          <a:prstGeom prst="rect">
            <a:avLst/>
          </a:prstGeom>
          <a:noFill/>
          <a:ln/>
        </p:spPr>
        <p:txBody>
          <a:bodyPr wrap="square" lIns="0" tIns="0" rIns="0" bIns="0" rtlCol="0" anchor="t"/>
          <a:lstStyle/>
          <a:p>
            <a:pPr indent="0" marL="0">
              <a:buNone/>
            </a:pPr>
            <a:r>
              <a:rPr lang="en-US" sz="1400" dirty="0">
                <a:solidFill>
                  <a:schemeClr val="tx2"/>
                </a:solidFill>
              </a:rPr>
              <a:t>ლოგიკა Controller-ში იწერება და ძნელად იტესტება</a:t>
            </a:r>
            <a:endParaRPr lang="en-US" sz="1400" dirty="0"/>
          </a:p>
        </p:txBody>
      </p:sp>
      <p:sp>
        <p:nvSpPr>
          <p:cNvPr id="8" name="txt-338"/>
          <p:cNvSpPr txBox="1"/>
          <p:nvPr/>
        </p:nvSpPr>
        <p:spPr>
          <a:xfrm>
            <a:off x="822960" y="3703320"/>
            <a:ext cx="2971800" cy="320040"/>
          </a:xfrm>
          <a:prstGeom prst="rect">
            <a:avLst/>
          </a:prstGeom>
          <a:noFill/>
          <a:ln/>
        </p:spPr>
        <p:txBody>
          <a:bodyPr wrap="square" lIns="0" tIns="0" rIns="0" bIns="0" rtlCol="0" anchor="t"/>
          <a:lstStyle/>
          <a:p>
            <a:pPr indent="0" marL="0">
              <a:buNone/>
            </a:pPr>
            <a:r>
              <a:rPr lang="en-US" sz="1400" b="1" dirty="0">
                <a:solidFill>
                  <a:schemeClr val="accent3"/>
                </a:solidFill>
              </a:rPr>
              <a:t>შემცირება</a:t>
            </a:r>
            <a:endParaRPr lang="en-US" sz="1400" dirty="0"/>
          </a:p>
        </p:txBody>
      </p:sp>
      <p:sp>
        <p:nvSpPr>
          <p:cNvPr id="9" name="txt-339"/>
          <p:cNvSpPr txBox="1"/>
          <p:nvPr/>
        </p:nvSpPr>
        <p:spPr>
          <a:xfrm>
            <a:off x="822960" y="4069080"/>
            <a:ext cx="2971800" cy="1874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ლოგიკა მხოლოდ Service-ში</a:t>
            </a:r>
            <a:endParaRPr lang="en-US" sz="1400" dirty="0"/>
          </a:p>
          <a:p>
            <a:pPr marL="342900" indent="-342900">
              <a:spcAft>
                <a:spcPts val="600"/>
              </a:spcAft>
              <a:buSzPct val="100000"/>
              <a:buChar char="•"/>
            </a:pPr>
            <a:r>
              <a:rPr lang="en-US" sz="1400" dirty="0">
                <a:solidFill>
                  <a:schemeClr val="tx1"/>
                </a:solidFill>
              </a:rPr>
              <a:t>action ≤ 15 ხაზი</a:t>
            </a:r>
            <a:endParaRPr lang="en-US" sz="1400" dirty="0"/>
          </a:p>
          <a:p>
            <a:pPr marL="342900" indent="-342900">
              <a:spcAft>
                <a:spcPts val="600"/>
              </a:spcAft>
              <a:buSzPct val="100000"/>
              <a:buChar char="•"/>
            </a:pPr>
            <a:r>
              <a:rPr lang="en-US" sz="1400" dirty="0">
                <a:solidFill>
                  <a:schemeClr val="tx1"/>
                </a:solidFill>
              </a:rPr>
              <a:t>შემოწმება code review-ში</a:t>
            </a:r>
            <a:endParaRPr lang="en-US" sz="1400" dirty="0"/>
          </a:p>
        </p:txBody>
      </p:sp>
      <p:sp>
        <p:nvSpPr>
          <p:cNvPr id="10" name="box-340"/>
          <p:cNvSpPr/>
          <p:nvPr/>
        </p:nvSpPr>
        <p:spPr>
          <a:xfrm>
            <a:off x="4297680" y="1371600"/>
            <a:ext cx="3520440" cy="4754880"/>
          </a:xfrm>
          <a:prstGeom prst="roundRect">
            <a:avLst>
              <a:gd name="adj" fmla="val 3117"/>
            </a:avLst>
          </a:prstGeom>
          <a:solidFill>
            <a:schemeClr val="bg2"/>
          </a:solidFill>
          <a:ln/>
        </p:spPr>
      </p:sp>
      <p:sp>
        <p:nvSpPr>
          <p:cNvPr id="11" name="badge-341"/>
          <p:cNvSpPr/>
          <p:nvPr/>
        </p:nvSpPr>
        <p:spPr>
          <a:xfrm>
            <a:off x="4572000" y="1600200"/>
            <a:ext cx="457200" cy="457200"/>
          </a:xfrm>
          <a:prstGeom prst="ellipse">
            <a:avLst/>
          </a:prstGeom>
          <a:solidFill>
            <a:schemeClr val="accent4"/>
          </a:solidFill>
          <a:ln/>
        </p:spPr>
      </p:sp>
      <p:sp>
        <p:nvSpPr>
          <p:cNvPr id="12" name="txt-342"/>
          <p:cNvSpPr txBox="1"/>
          <p:nvPr/>
        </p:nvSpPr>
        <p:spPr>
          <a:xfrm>
            <a:off x="457200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xt-343"/>
          <p:cNvSpPr txBox="1"/>
          <p:nvPr/>
        </p:nvSpPr>
        <p:spPr>
          <a:xfrm>
            <a:off x="5166360" y="1600200"/>
            <a:ext cx="2423160" cy="777240"/>
          </a:xfrm>
          <a:prstGeom prst="rect">
            <a:avLst/>
          </a:prstGeom>
          <a:noFill/>
          <a:ln/>
        </p:spPr>
        <p:txBody>
          <a:bodyPr wrap="square" lIns="0" tIns="0" rIns="0" bIns="0" rtlCol="0" anchor="ctr"/>
          <a:lstStyle/>
          <a:p>
            <a:pPr indent="0" marL="0">
              <a:buNone/>
            </a:pPr>
            <a:r>
              <a:rPr lang="en-US" sz="1700" b="1" dirty="0">
                <a:solidFill>
                  <a:schemeClr val="tx1"/>
                </a:solidFill>
              </a:rPr>
              <a:t>პერსონალური მონაცემები ფოტოებში</a:t>
            </a:r>
            <a:endParaRPr lang="en-US" sz="1700" dirty="0"/>
          </a:p>
        </p:txBody>
      </p:sp>
      <p:sp>
        <p:nvSpPr>
          <p:cNvPr id="14" name="txt-344"/>
          <p:cNvSpPr txBox="1"/>
          <p:nvPr/>
        </p:nvSpPr>
        <p:spPr>
          <a:xfrm>
            <a:off x="4572000" y="2514600"/>
            <a:ext cx="2971800" cy="1097280"/>
          </a:xfrm>
          <a:prstGeom prst="rect">
            <a:avLst/>
          </a:prstGeom>
          <a:noFill/>
          <a:ln/>
        </p:spPr>
        <p:txBody>
          <a:bodyPr wrap="square" lIns="0" tIns="0" rIns="0" bIns="0" rtlCol="0" anchor="t"/>
          <a:lstStyle/>
          <a:p>
            <a:pPr indent="0" marL="0">
              <a:buNone/>
            </a:pPr>
            <a:r>
              <a:rPr lang="en-US" sz="1400" dirty="0">
                <a:solidFill>
                  <a:schemeClr val="tx2"/>
                </a:solidFill>
              </a:rPr>
              <a:t>EXIF-ში GPS, კადრში სახეები და ნომრები; იურიდიული ვეტოს რისკი</a:t>
            </a:r>
            <a:endParaRPr lang="en-US" sz="1400" dirty="0"/>
          </a:p>
        </p:txBody>
      </p:sp>
      <p:sp>
        <p:nvSpPr>
          <p:cNvPr id="15" name="txt-345"/>
          <p:cNvSpPr txBox="1"/>
          <p:nvPr/>
        </p:nvSpPr>
        <p:spPr>
          <a:xfrm>
            <a:off x="4572000" y="3703320"/>
            <a:ext cx="2971800" cy="320040"/>
          </a:xfrm>
          <a:prstGeom prst="rect">
            <a:avLst/>
          </a:prstGeom>
          <a:noFill/>
          <a:ln/>
        </p:spPr>
        <p:txBody>
          <a:bodyPr wrap="square" lIns="0" tIns="0" rIns="0" bIns="0" rtlCol="0" anchor="t"/>
          <a:lstStyle/>
          <a:p>
            <a:pPr indent="0" marL="0">
              <a:buNone/>
            </a:pPr>
            <a:r>
              <a:rPr lang="en-US" sz="1400" b="1" dirty="0">
                <a:solidFill>
                  <a:schemeClr val="accent3"/>
                </a:solidFill>
              </a:rPr>
              <a:t>შემცირება</a:t>
            </a:r>
            <a:endParaRPr lang="en-US" sz="1400" dirty="0"/>
          </a:p>
        </p:txBody>
      </p:sp>
      <p:sp>
        <p:nvSpPr>
          <p:cNvPr id="16" name="txt-346"/>
          <p:cNvSpPr txBox="1"/>
          <p:nvPr/>
        </p:nvSpPr>
        <p:spPr>
          <a:xfrm>
            <a:off x="4572000" y="4069080"/>
            <a:ext cx="2971800" cy="1874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EXIF-ის წაშლა Hangfire-ში</a:t>
            </a:r>
            <a:endParaRPr lang="en-US" sz="1400" dirty="0"/>
          </a:p>
          <a:p>
            <a:pPr marL="342900" indent="-342900">
              <a:spcAft>
                <a:spcPts val="600"/>
              </a:spcAft>
              <a:buSzPct val="100000"/>
              <a:buChar char="•"/>
            </a:pPr>
            <a:r>
              <a:rPr lang="en-US" sz="1400" dirty="0">
                <a:solidFill>
                  <a:schemeClr val="tx1"/>
                </a:solidFill>
              </a:rPr>
              <a:t>საჯაროდ მხოლოდ მოდერაციის შემდეგ</a:t>
            </a:r>
            <a:endParaRPr lang="en-US" sz="1400" dirty="0"/>
          </a:p>
          <a:p>
            <a:pPr marL="342900" indent="-342900">
              <a:spcAft>
                <a:spcPts val="600"/>
              </a:spcAft>
              <a:buSzPct val="100000"/>
              <a:buChar char="•"/>
            </a:pPr>
            <a:r>
              <a:rPr lang="en-US" sz="1400" dirty="0">
                <a:solidFill>
                  <a:schemeClr val="tx1"/>
                </a:solidFill>
              </a:rPr>
              <a:t>კონტაქტი მხოლოდ თანამშრომლებს</a:t>
            </a:r>
            <a:endParaRPr lang="en-US" sz="1400" dirty="0"/>
          </a:p>
        </p:txBody>
      </p:sp>
      <p:sp>
        <p:nvSpPr>
          <p:cNvPr id="17" name="box-347"/>
          <p:cNvSpPr/>
          <p:nvPr/>
        </p:nvSpPr>
        <p:spPr>
          <a:xfrm>
            <a:off x="8046720" y="1371600"/>
            <a:ext cx="3520440" cy="4754880"/>
          </a:xfrm>
          <a:prstGeom prst="roundRect">
            <a:avLst>
              <a:gd name="adj" fmla="val 3117"/>
            </a:avLst>
          </a:prstGeom>
          <a:solidFill>
            <a:schemeClr val="bg2"/>
          </a:solidFill>
          <a:ln/>
        </p:spPr>
      </p:sp>
      <p:sp>
        <p:nvSpPr>
          <p:cNvPr id="18" name="badge-348"/>
          <p:cNvSpPr/>
          <p:nvPr/>
        </p:nvSpPr>
        <p:spPr>
          <a:xfrm>
            <a:off x="8321040" y="1600200"/>
            <a:ext cx="457200" cy="457200"/>
          </a:xfrm>
          <a:prstGeom prst="ellipse">
            <a:avLst/>
          </a:prstGeom>
          <a:solidFill>
            <a:schemeClr val="accent4"/>
          </a:solidFill>
          <a:ln/>
        </p:spPr>
      </p:sp>
      <p:sp>
        <p:nvSpPr>
          <p:cNvPr id="19" name="txt-349"/>
          <p:cNvSpPr txBox="1"/>
          <p:nvPr/>
        </p:nvSpPr>
        <p:spPr>
          <a:xfrm>
            <a:off x="83210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xt-350"/>
          <p:cNvSpPr txBox="1"/>
          <p:nvPr/>
        </p:nvSpPr>
        <p:spPr>
          <a:xfrm>
            <a:off x="8915400" y="1600200"/>
            <a:ext cx="2423160" cy="777240"/>
          </a:xfrm>
          <a:prstGeom prst="rect">
            <a:avLst/>
          </a:prstGeom>
          <a:noFill/>
          <a:ln/>
        </p:spPr>
        <p:txBody>
          <a:bodyPr wrap="square" lIns="0" tIns="0" rIns="0" bIns="0" rtlCol="0" anchor="ctr"/>
          <a:lstStyle/>
          <a:p>
            <a:pPr indent="0" marL="0">
              <a:buNone/>
            </a:pPr>
            <a:r>
              <a:rPr lang="en-US" sz="1700" b="1" dirty="0">
                <a:solidFill>
                  <a:schemeClr val="tx1"/>
                </a:solidFill>
              </a:rPr>
              <a:t>სისწრაფე და ერთი სერვერი</a:t>
            </a:r>
            <a:endParaRPr lang="en-US" sz="1700" dirty="0"/>
          </a:p>
        </p:txBody>
      </p:sp>
      <p:sp>
        <p:nvSpPr>
          <p:cNvPr id="21" name="txt-351"/>
          <p:cNvSpPr txBox="1"/>
          <p:nvPr/>
        </p:nvSpPr>
        <p:spPr>
          <a:xfrm>
            <a:off x="8321040" y="2514600"/>
            <a:ext cx="2971800" cy="1097280"/>
          </a:xfrm>
          <a:prstGeom prst="rect">
            <a:avLst/>
          </a:prstGeom>
          <a:noFill/>
          <a:ln/>
        </p:spPr>
        <p:txBody>
          <a:bodyPr wrap="square" lIns="0" tIns="0" rIns="0" bIns="0" rtlCol="0" anchor="t"/>
          <a:lstStyle/>
          <a:p>
            <a:pPr indent="0" marL="0">
              <a:buNone/>
            </a:pPr>
            <a:r>
              <a:rPr lang="en-US" sz="1400" dirty="0">
                <a:solidFill>
                  <a:schemeClr val="tx2"/>
                </a:solidFill>
              </a:rPr>
              <a:t>ფილტრი გვერდს თავიდან ტვირთავს; სერვერის გათიშვა ყველაფერს აჩერებს</a:t>
            </a:r>
            <a:endParaRPr lang="en-US" sz="1400" dirty="0"/>
          </a:p>
        </p:txBody>
      </p:sp>
      <p:sp>
        <p:nvSpPr>
          <p:cNvPr id="22" name="txt-352"/>
          <p:cNvSpPr txBox="1"/>
          <p:nvPr/>
        </p:nvSpPr>
        <p:spPr>
          <a:xfrm>
            <a:off x="8321040" y="3703320"/>
            <a:ext cx="2971800" cy="320040"/>
          </a:xfrm>
          <a:prstGeom prst="rect">
            <a:avLst/>
          </a:prstGeom>
          <a:noFill/>
          <a:ln/>
        </p:spPr>
        <p:txBody>
          <a:bodyPr wrap="square" lIns="0" tIns="0" rIns="0" bIns="0" rtlCol="0" anchor="t"/>
          <a:lstStyle/>
          <a:p>
            <a:pPr indent="0" marL="0">
              <a:buNone/>
            </a:pPr>
            <a:r>
              <a:rPr lang="en-US" sz="1400" b="1" dirty="0">
                <a:solidFill>
                  <a:schemeClr val="accent3"/>
                </a:solidFill>
              </a:rPr>
              <a:t>შემცირება</a:t>
            </a:r>
            <a:endParaRPr lang="en-US" sz="1400" dirty="0"/>
          </a:p>
        </p:txBody>
      </p:sp>
      <p:sp>
        <p:nvSpPr>
          <p:cNvPr id="23" name="txt-353"/>
          <p:cNvSpPr txBox="1"/>
          <p:nvPr/>
        </p:nvSpPr>
        <p:spPr>
          <a:xfrm>
            <a:off x="8321040" y="4069080"/>
            <a:ext cx="2971800" cy="1874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Output Caching, ინდექსები</a:t>
            </a:r>
            <a:endParaRPr lang="en-US" sz="1400" dirty="0"/>
          </a:p>
          <a:p>
            <a:pPr marL="342900" indent="-342900">
              <a:spcAft>
                <a:spcPts val="600"/>
              </a:spcAft>
              <a:buSzPct val="100000"/>
              <a:buChar char="•"/>
            </a:pPr>
            <a:r>
              <a:rPr lang="en-US" sz="1400" dirty="0">
                <a:solidFill>
                  <a:schemeClr val="tx1"/>
                </a:solidFill>
              </a:rPr>
              <a:t>health-check, ბექაპი</a:t>
            </a:r>
            <a:endParaRPr lang="en-US" sz="1400" dirty="0"/>
          </a:p>
          <a:p>
            <a:pPr marL="342900" indent="-342900">
              <a:spcAft>
                <a:spcPts val="600"/>
              </a:spcAft>
              <a:buSzPct val="100000"/>
              <a:buChar char="•"/>
            </a:pPr>
            <a:r>
              <a:rPr lang="en-US" sz="1400" dirty="0">
                <a:solidFill>
                  <a:schemeClr val="tx1"/>
                </a:solidFill>
              </a:rPr>
              <a:t>stateless: მეორე ინსტანსი Nginx-ის უკან</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rPr>
              <a:t>კითხვები?</a:t>
            </a: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algn="l" indent="0" marL="0">
              <a:buNone/>
            </a:pPr>
            <a:r>
              <a:rPr lang="en-US" sz="2000" dirty="0">
                <a:solidFill>
                  <a:schemeClr val="bg2"/>
                </a:solidFill>
              </a:rPr>
              <a:t>MVC + ფენოვანი მონოლითი · State და Observer · PostgreSQL + PostGIS</a:t>
            </a:r>
            <a:endParaRPr lang="en-US" sz="2000" dirty="0"/>
          </a:p>
          <a:p>
            <a:pPr algn="l" indent="0" marL="0">
              <a:buNone/>
            </a:pPr>
            <a:r>
              <a:rPr lang="en-US" sz="1600" dirty="0">
                <a:solidFill>
                  <a:schemeClr val="accent1"/>
                </a:solidFill>
              </a:rPr>
              <a:t>github.com/gigigiorgadze10/fixit</a:t>
            </a:r>
            <a:endParaRPr lang="en-US" sz="2000" dirty="0"/>
          </a:p>
        </p:txBody>
      </p:sp>
      <p:sp>
        <p:nvSpPr>
          <p:cNvPr id="4" name="badge-354"/>
          <p:cNvSpPr/>
          <p:nvPr/>
        </p:nvSpPr>
        <p:spPr>
          <a:xfrm>
            <a:off x="731520" y="1097280"/>
            <a:ext cx="640080" cy="640080"/>
          </a:xfrm>
          <a:prstGeom prst="ellipse">
            <a:avLst/>
          </a:prstGeom>
          <a:solidFill>
            <a:schemeClr val="accent1"/>
          </a:solidFill>
          <a:ln/>
        </p:spPr>
      </p:sp>
      <p:sp>
        <p:nvSpPr>
          <p:cNvPr id="5" name="txt-355"/>
          <p:cNvSpPr txBox="1"/>
          <p:nvPr/>
        </p:nvSpPr>
        <p:spPr>
          <a:xfrm>
            <a:off x="731520" y="10972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Tree>
  </p:cSld>
  <p:clrMapOvr>
    <a:masterClrMapping/>
  </p:clrMapOvr>
</p:sld>
</file>

<file path=ppt/theme/theme1.xml><?xml version="1.0" encoding="utf-8"?>
<a:theme xmlns:a="http://schemas.openxmlformats.org/drawingml/2006/main" name="FixIt Asphalt">
  <a:themeElements>
    <a:clrScheme name="FixIt Asphalt">
      <a:dk1>
        <a:srgbClr val="1E272C"/>
      </a:dk1>
      <a:lt1>
        <a:srgbClr val="FFFFFF"/>
      </a:lt1>
      <a:dk2>
        <a:srgbClr val="4E5D66"/>
      </a:dk2>
      <a:lt2>
        <a:srgbClr val="EEF2F4"/>
      </a:lt2>
      <a:accent1>
        <a:srgbClr val="E8772E"/>
      </a:accent1>
      <a:accent2>
        <a:srgbClr val="2F6F8F"/>
      </a:accent2>
      <a:accent3>
        <a:srgbClr val="2E9E6B"/>
      </a:accent3>
      <a:accent4>
        <a:srgbClr val="C8453B"/>
      </a:accent4>
      <a:accent5>
        <a:srgbClr val="F2B33D"/>
      </a:accent5>
      <a:accent6>
        <a:srgbClr val="7A8B94"/>
      </a:accent6>
      <a:hlink>
        <a:srgbClr val="2F6F8F"/>
      </a:hlink>
      <a:folHlink>
        <a:srgbClr val="7A8B94"/>
      </a:folHlink>
    </a:clrScheme>
    <a:fontScheme name="FixIt Asphalt">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FixIt: არქიტექტურა</dc:title>
  <dc:subject>PptxGenJS Presentation</dc:subject>
  <dc:creator>გიგი გიორგაძე</dc:creator>
  <cp:lastModifiedBy>გიგი გიორგაძე</cp:lastModifiedBy>
  <cp:revision>1</cp:revision>
  <dcterms:created xsi:type="dcterms:W3CDTF">2026-10-18T19:15:59Z</dcterms:created>
  <dcterms:modified xsi:type="dcterms:W3CDTF">2026-10-18T19:15:59Z</dcterms:modified>
</cp:coreProperties>
</file>