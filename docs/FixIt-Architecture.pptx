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პრობლემა" id="{bbaa37dd-81ac-a1da-9030-4d8e540ed559}">
          <p14:sldIdLst>
            <p14:sldId id="257"/>
            <p14:sldId id="258"/>
          </p14:sldIdLst>
        </p14:section>
        <p14:section name="Scrum" id="{d5248e05-8a53-316d-964a-63e7bcd9f512}">
          <p14:sldIdLst>
            <p14:sldId id="259"/>
            <p14:sldId id="260"/>
          </p14:sldIdLst>
        </p14:section>
        <p14:section name="არქიტექტურა" id="{7ebac3fd-24d2-019e-798b-4fd7d3da97ae}">
          <p14:sldIdLst>
            <p14:sldId id="261"/>
            <p14:sldId id="262"/>
            <p14:sldId id="263"/>
            <p14:sldId id="264"/>
          </p14:sldIdLst>
        </p14:section>
        <p14:section name="ბაზა" id="{c65f0ede-1bc0-c1c0-ef51-1ae6120420d0}">
          <p14:sldIdLst>
            <p14:sldId id="265"/>
          </p14:sldIdLst>
        </p14:section>
        <p14:section name="სტანდარტები" id="{db56ff07-7744-1788-13b3-98073eea77b6}">
          <p14:sldIdLst>
            <p14:sldId id="266"/>
            <p14:sldId id="267"/>
          </p14:sldIdLst>
        </p14:section>
        <p14:section name="რისკები" id="{130436d4-4a5d-35b0-fa7b-487574a1149f}">
          <p14:sldIdLst>
            <p14:sldId id="268"/>
          </p14:sldIdLst>
        </p14:section>
        <p14:section name="დასკვნა" id="{cc1bb7c0-1834-ae67-df51-9d8c283fe61c}">
          <p14:sldIdLst>
            <p14:sldId id="269"/>
          </p14:sldIdLst>
        </p14:section>
        <p14:section name="Default-1" id="{c6c347c5-75d2-44db-2f5b-97887916554f}">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4262B"/>
                </a:solidFill>
                <a:latin typeface="+mn-lt"/>
              </a:defRPr>
            </a:pPr>
            <a:r>
              <a:rPr sz="1600" b="0" i="0" u="none" strike="noStrike">
                <a:solidFill>
                  <a:srgbClr val="14262B"/>
                </a:solidFill>
                <a:latin typeface="+mn-lt"/>
              </a:rPr>
              <a:t>ქულა სპრინტში</a:t>
            </a:r>
          </a:p>
        </c:rich>
      </c:tx>
      <c:layout/>
      <c:overlay val="0"/>
    </c:title>
    <c:autoTitleDeleted val="0"/>
    <c:plotArea>
      <c:layout/>
      <c:barChart>
        <c:barDir val="col"/>
        <c:grouping val="stacked"/>
        <c:varyColors val="0"/>
        <c:ser>
          <c:idx val="0"/>
          <c:order val="0"/>
          <c:tx>
            <c:strRef>
              <c:f>Sheet1!$B$1</c:f>
              <c:strCache>
                <c:ptCount val="1"/>
                <c:pt idx="0">
                  <c:v>Must have (MVP)</c:v>
                </c:pt>
              </c:strCache>
            </c:strRef>
          </c:tx>
          <c:spPr>
            <a:solidFill>
              <a:srgbClr val="2A9D8F"/>
            </a:solidFill>
            <a:effectLst/>
          </c:spPr>
          <c:invertIfNegative val="0"/>
          <c:dLbls>
            <c:numFmt formatCode="#;;" sourceLinked="0"/>
            <c:txPr>
              <a:bodyPr/>
              <a:lstStyle/>
              <a:p>
                <a:pPr>
                  <a:defRPr b="0" i="0" strike="noStrike" sz="1400" u="none">
                    <a:solidFill>
                      <a:srgbClr val="14262B"/>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Sprint 1</c:v>
                  </c:pt>
                  <c:pt idx="1">
                    <c:v>Sprint 2</c:v>
                  </c:pt>
                  <c:pt idx="2">
                    <c:v>Sprint 3</c:v>
                  </c:pt>
                  <c:pt idx="3">
                    <c:v>Sprint 4</c:v>
                  </c:pt>
                  <c:pt idx="4">
                    <c:v>Sprint 5</c:v>
                  </c:pt>
                  <c:pt idx="5">
                    <c:v>Sprint 6</c:v>
                  </c:pt>
                </c:lvl>
              </c:multiLvlStrCache>
            </c:multiLvlStrRef>
          </c:cat>
          <c:val>
            <c:numRef>
              <c:f>Sheet1!$B$2:$B$7</c:f>
              <c:numCache>
                <c:formatCode>General</c:formatCode>
                <c:ptCount val="6"/>
                <c:pt idx="0">
                  <c:v>8</c:v>
                </c:pt>
                <c:pt idx="1">
                  <c:v>9</c:v>
                </c:pt>
                <c:pt idx="2">
                  <c:v>8</c:v>
                </c:pt>
                <c:pt idx="3">
                  <c:v>6</c:v>
                </c:pt>
                <c:pt idx="4">
                  <c:v>0</c:v>
                </c:pt>
                <c:pt idx="5">
                  <c:v>0</c:v>
                </c:pt>
              </c:numCache>
            </c:numRef>
          </c:val>
        </c:ser>
        <c:ser>
          <c:idx val="1"/>
          <c:order val="1"/>
          <c:tx>
            <c:strRef>
              <c:f>Sheet1!$C$1</c:f>
              <c:strCache>
                <c:ptCount val="1"/>
                <c:pt idx="0">
                  <c:v>Should have</c:v>
                </c:pt>
              </c:strCache>
            </c:strRef>
          </c:tx>
          <c:spPr>
            <a:solidFill>
              <a:srgbClr val="F4A261"/>
            </a:solidFill>
            <a:effectLst/>
          </c:spPr>
          <c:invertIfNegative val="0"/>
          <c:dLbls>
            <c:numFmt formatCode="#;;" sourceLinked="0"/>
            <c:txPr>
              <a:bodyPr/>
              <a:lstStyle/>
              <a:p>
                <a:pPr>
                  <a:defRPr b="0" i="0" strike="noStrike" sz="1400" u="none">
                    <a:solidFill>
                      <a:srgbClr val="14262B"/>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Sprint 1</c:v>
                  </c:pt>
                  <c:pt idx="1">
                    <c:v>Sprint 2</c:v>
                  </c:pt>
                  <c:pt idx="2">
                    <c:v>Sprint 3</c:v>
                  </c:pt>
                  <c:pt idx="3">
                    <c:v>Sprint 4</c:v>
                  </c:pt>
                  <c:pt idx="4">
                    <c:v>Sprint 5</c:v>
                  </c:pt>
                  <c:pt idx="5">
                    <c:v>Sprint 6</c:v>
                  </c:pt>
                </c:lvl>
              </c:multiLvlStrCache>
            </c:multiLvlStrRef>
          </c:cat>
          <c:val>
            <c:numRef>
              <c:f>Sheet1!$C$2:$C$7</c:f>
              <c:numCache>
                <c:formatCode>General</c:formatCode>
                <c:ptCount val="6"/>
                <c:pt idx="0">
                  <c:v>0</c:v>
                </c:pt>
                <c:pt idx="1">
                  <c:v>0</c:v>
                </c:pt>
                <c:pt idx="2">
                  <c:v>0</c:v>
                </c:pt>
                <c:pt idx="3">
                  <c:v>2</c:v>
                </c:pt>
                <c:pt idx="4">
                  <c:v>9</c:v>
                </c:pt>
                <c:pt idx="5">
                  <c:v>5</c:v>
                </c:pt>
              </c:numCache>
            </c:numRef>
          </c:val>
        </c:ser>
        <c:dLbls>
          <c:numFmt formatCode="#;;" sourceLinked="0"/>
          <c:txPr>
            <a:bodyPr/>
            <a:lstStyle/>
            <a:p>
              <a:pPr>
                <a:defRPr b="0" i="0" strike="noStrike" sz="1400" u="none">
                  <a:solidFill>
                    <a:srgbClr val="14262B"/>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4262B"/>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9E2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B70"/>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400">
              <a:solidFill>
                <a:srgbClr val="14262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გამარჯობა. ეს არის FixIt-ის არქიტექტურისა და Scrum გეგმის პრეზენტაცია. გეგმა გათვლილია ერთ ადამიანზე და ეტევა დაახლოებით სამ თვეში: MVP მზადაა დეკემბრის ბოლოს, ყველა დაგეგმილი ფუნქცია კი იანვრის ბოლოს.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პრობლემა მარტივია: მოქალაქეს არ აქვს ერთიანი ადგილი, სადაც პრობლემას შეატყობინებს და მის მდგომარეობას თვალს გაადევნებს. ჩვენი Backlog-ში 19 story-ია, ჯამში 76 ქულა, ხოლო MVP არის 31 ქულა.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ოთხი როლი იყენებს სისტემას: მოქალაქე, მენეჯერი, ბრიგადა და ადმინისტრატორი. მერია იხდის, ამიტომ მისთვის მნიშვნელოვანია დაბალი ხარჯი და მარტივი სტეკი. იურიდიულ სამსახურს აქვს ვეტოს უფლება, ამიტომ გეგმაში ორი სავალდებულო Privacy Check გვაქვს.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Sprint 0 ერთი კვირაა: პროექტი, ბაზა, Identity, CI და staging გარემო. შემდეგ ექვსი ორკვირიანი სპრინტია. MVP, ანუ სრული ციკლი შეტყობინებიდან გადაჭრამდე, მზადაა მეოთხე სპრინტის ბოლოს. ბოლო ორი სპრინტი დღესასწაულებისა და გამოცდების გამო განზრახ მსუბუქია.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დიაგრამაზე ჩანს, რომ ყველა სპრინტი 5-დან 9 ქულამდეა, ანუ ჩვენი სავარაუდო სიჩქარის ფარგლებში. პირველი სპრინტის შემდეგ რეალურ სიჩქარეს შევადარებთ დაგეგმილს და საჭიროების შემთხვევაში Should have story-ებს გადავაადგილებთ.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არჩევანი ASP.NET Core MVC-ზე შემდეგი მიზეზებით გავაკეთეთ: ერთი პროექტი, ერთი deploy, ბევრი რამ მზადაა ჩაშენებული. განვიხილეთ მიკროსერვისები და React-ის ცალკე SPA, მაგრამ ერთი ადამიანისთვის ისინი ზედმეტად რთულია.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აპლიკაცია ერთია. გარედან სამი რამ გვჭირდება: ბაზა, ფოტოების საცავი და ელფოსტა. ორივე უკანასკნელი ინტერფეისის უკან დგას, ამიტომ დეველოპმენტში ლოკალური დისკი და sandbox ელფოსტა გვაქვს, production-ში კი რეალური სერვისები. რუკის ფილებს ბრაუზერი პირდაპირ OpenStreetMap-იდან იღებს.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ეს ცხრილი ყველაზე მნიშვნელოვანია გეგმის რეალისტურობისთვის. არქიტექტურული დოკუმენტი აღწერს სრულ სურათს, მაგრამ ერთ ადამიანს სამ თვეში Hangfire-ის, MediatR-ისა და PostGIS-ის ერთდროულად დანერგვა არ დასჭირდება. თითოეულს მარტივი ანალოგი აქვს და შემდეგ ადვილად შეიცვლება.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ზედა რიგი არის მოთხოვნის გზა MVC-ში. პირადი მონაცემების დასაცავად ფოტოდან EXIF იშლება და ფოტო იკუმშება ≤ 1 MB-მდე. ქვედა რიგი სტატუსებია: ახალი, მიღებული, მუშავდება, გადაჭრილი. უარყოფა შესაძლებელია ახალიდან და მიღებულიდან. სხვა გადასვლა აკრძალულია და სისტემა აბრუნებს 409 შეცდომას.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მონაცემთა მოდელი რელაციურია, რადგან სტატუსის ცვლილება და ისტორიის ჩანაწერი ერთ ტრანზაქციაში უნდა მოხდეს. აუდიტის შემდეგ დავამატეთ District ველი უბნის ფილტრისთვის, NotifyByEmail შეტყობინებების გასათიშად და xmin ვერსიის ველი, რომ ორმა მენეჯერმა ერთი შეტყობინება ერთდროულად ვერ მიანიჭოს. მომხმარებლები არ იშლება, ითიშება, რომ სამუშაოს ისტორია შენარჩუნდეს.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უსაფრთხოება ერთადერთი ადგილია, სადაც იურიდიულ სამსახურს ვეტოს უფლება აქვს, ამიტომ ამას ცალკე სლაიდი ეთმობა. მნიშვნელოვანია, რომ პაროლს Identity PBKDF2-ით ჰეშავს, საჯარო რუკაზე კი ახალი, ჯერ მენეჯერის მიერ არ ნანახი შეტყობინებები არ ჩანს.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99.5% პირველ ვერსიაში წელიწადში დაახლოებით ორ დღეს შეფერხებას ნიშნავდა, ამიტომ 99.9%-ზე გავზარდეთ. ეს თვეში დაახლოებით 43 წუთია. Azure-ის SLA-ს Basic-დან იძლევა, Free და Shared plan-ებზე SLA არ არსებობს, ამიტომ ჩაბარებამდე staging და production Basic-ზე იქნება.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ხუთი მთავარი რისკია. პირველი ტექნიკურია, მეორე იურიდიული, დანარჩენი დროსა და ფოტოს ფორმატს ეხება. თითოეულზე კონკრეტული, შესრულებადი რეაქცია გვაქვს და ის Scrum გეგმაშია ჩაწერილი.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რომ შევაჯამოთ: ერთი მონოლითი, ერთი ბაზა, მკაფიო NFR-ები და გეგმა, რომელიც ერთ ადამიანს რეალურად ეტევა. შემდეგი ნაბიჯია Sprint 0, რომელიც 26 ოქტომბერს იწყება. გმადლობთ. მზად ვარ კითხვებისთვის.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3C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სათაური"/>
          <p:cNvSpPr txBox="1"/>
          <p:nvPr/>
        </p:nvSpPr>
        <p:spPr>
          <a:xfrm>
            <a:off x="731520" y="1371600"/>
            <a:ext cx="10515600" cy="1097280"/>
          </a:xfrm>
          <a:prstGeom prst="rect">
            <a:avLst/>
          </a:prstGeom>
          <a:noFill/>
          <a:ln/>
        </p:spPr>
        <p:txBody>
          <a:bodyPr wrap="square" lIns="0" tIns="0" rIns="0" bIns="0" rtlCol="0" anchor="ctr"/>
          <a:lstStyle/>
          <a:p>
            <a:pPr indent="0" marL="0">
              <a:buNone/>
            </a:pPr>
            <a:r>
              <a:rPr lang="en-US" sz="6600" b="1" dirty="0">
                <a:solidFill>
                  <a:srgbClr val="FFFFFF"/>
                </a:solidFill>
              </a:rPr>
              <a:t>FixIt</a:t>
            </a:r>
            <a:endParaRPr lang="en-US" sz="6600" dirty="0"/>
          </a:p>
        </p:txBody>
      </p:sp>
      <p:sp>
        <p:nvSpPr>
          <p:cNvPr id="3" name="ქვესათაური"/>
          <p:cNvSpPr txBox="1"/>
          <p:nvPr/>
        </p:nvSpPr>
        <p:spPr>
          <a:xfrm>
            <a:off x="731520" y="2560320"/>
            <a:ext cx="10515600" cy="731520"/>
          </a:xfrm>
          <a:prstGeom prst="rect">
            <a:avLst/>
          </a:prstGeom>
          <a:noFill/>
          <a:ln/>
        </p:spPr>
        <p:txBody>
          <a:bodyPr wrap="square" lIns="0" tIns="0" rIns="0" bIns="0" rtlCol="0" anchor="ctr"/>
          <a:lstStyle/>
          <a:p>
            <a:pPr indent="0" marL="0">
              <a:buNone/>
            </a:pPr>
            <a:r>
              <a:rPr lang="en-US" sz="3600" dirty="0">
                <a:solidFill>
                  <a:srgbClr val="F4A261"/>
                </a:solidFill>
              </a:rPr>
              <a:t>MVP არქიტექტურა და Scrum გეგმა</a:t>
            </a:r>
            <a:endParaRPr lang="en-US" sz="3600" dirty="0"/>
          </a:p>
        </p:txBody>
      </p:sp>
      <p:sp>
        <p:nvSpPr>
          <p:cNvPr id="4" name="აღწერა"/>
          <p:cNvSpPr txBox="1"/>
          <p:nvPr/>
        </p:nvSpPr>
        <p:spPr>
          <a:xfrm>
            <a:off x="731520" y="3566160"/>
            <a:ext cx="10515600" cy="548640"/>
          </a:xfrm>
          <a:prstGeom prst="rect">
            <a:avLst/>
          </a:prstGeom>
          <a:noFill/>
          <a:ln/>
        </p:spPr>
        <p:txBody>
          <a:bodyPr wrap="square" lIns="0" tIns="0" rIns="0" bIns="0" rtlCol="0" anchor="ctr"/>
          <a:lstStyle/>
          <a:p>
            <a:pPr indent="0" marL="0">
              <a:buNone/>
            </a:pPr>
            <a:r>
              <a:rPr lang="en-US" sz="1800" dirty="0">
                <a:solidFill>
                  <a:srgbClr val="CFE3E3"/>
                </a:solidFill>
              </a:rPr>
              <a:t>კომუნალური პრობლემების შეტყობინების სისტემა · ASP.NET Core MVC · PostgreSQL · 3 თვე</a:t>
            </a:r>
            <a:endParaRPr lang="en-US" sz="1800" dirty="0"/>
          </a:p>
        </p:txBody>
      </p:sp>
      <p:sp>
        <p:nvSpPr>
          <p:cNvPr id="5" name="ავტორი"/>
          <p:cNvSpPr txBox="1"/>
          <p:nvPr/>
        </p:nvSpPr>
        <p:spPr>
          <a:xfrm>
            <a:off x="731520" y="5669280"/>
            <a:ext cx="10515600" cy="365760"/>
          </a:xfrm>
          <a:prstGeom prst="rect">
            <a:avLst/>
          </a:prstGeom>
          <a:noFill/>
          <a:ln/>
        </p:spPr>
        <p:txBody>
          <a:bodyPr wrap="square" lIns="0" tIns="0" rIns="0" bIns="0" rtlCol="0" anchor="ctr"/>
          <a:lstStyle/>
          <a:p>
            <a:pPr indent="0" marL="0">
              <a:buNone/>
            </a:pPr>
            <a:r>
              <a:rPr lang="en-US" sz="1600" dirty="0">
                <a:solidFill>
                  <a:srgbClr val="CFE3E3"/>
                </a:solidFill>
              </a:rPr>
              <a:t>გიგი გიორგაძე · DevOps And Software Engineering</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lIns="0" tIns="0" rIns="0" bIns="0" rtlCol="0" anchor="ctr"/>
          <a:lstStyle/>
          <a:p>
            <a:pPr indent="0" marL="0">
              <a:buNone/>
            </a:pPr>
            <a:r>
              <a:rPr lang="en-US" sz="3200" b="1" dirty="0">
                <a:solidFill>
                  <a:schemeClr val="tx2"/>
                </a:solidFill>
              </a:rPr>
              <a:t>რა პრობლემას წყვეტს FixIt</a:t>
            </a:r>
            <a:endParaRPr lang="en-US" sz="3200" dirty="0"/>
          </a:p>
        </p:txBody>
      </p:sp>
      <p:sp>
        <p:nvSpPr>
          <p:cNvPr id="3" name="პრობლემის აღწერა"/>
          <p:cNvSpPr txBox="1"/>
          <p:nvPr/>
        </p:nvSpPr>
        <p:spPr>
          <a:xfrm>
            <a:off x="548640" y="1645920"/>
            <a:ext cx="5669280" cy="4206240"/>
          </a:xfrm>
          <a:prstGeom prst="rect">
            <a:avLst/>
          </a:prstGeom>
          <a:noFill/>
          <a:ln/>
        </p:spPr>
        <p:txBody>
          <a:bodyPr wrap="square" lIns="0" tIns="0" rIns="0" bIns="0" rtlCol="0" anchor="t"/>
          <a:lstStyle/>
          <a:p>
            <a:pPr indent="0" marL="0">
              <a:spcAft>
                <a:spcPts val="1400"/>
              </a:spcAft>
              <a:buNone/>
            </a:pPr>
            <a:r>
              <a:rPr lang="en-US" sz="1800" dirty="0">
                <a:solidFill>
                  <a:schemeClr val="tx1"/>
                </a:solidFill>
              </a:rPr>
              <a:t>დღეს მოქალაქე გატეხილი ლამპის, ორმოს ან ნაგვის შესახებ ტელეფონით ან სოციალური ქსელით აცნობებს. ინფორმაცია იკარგება და არავინ ამოწმებს, მოგვარდა თუ არა.</a:t>
            </a:r>
            <a:endParaRPr lang="en-US" sz="1800" dirty="0"/>
          </a:p>
          <a:p>
            <a:pPr indent="0" marL="0">
              <a:buNone/>
            </a:pPr>
            <a:r>
              <a:rPr lang="en-US" sz="1800" dirty="0">
                <a:solidFill>
                  <a:schemeClr val="tx1"/>
                </a:solidFill>
              </a:rPr>
              <a:t>FixIt-ით მოქალაქე ერთ წუთში აგზავნის ფოტოს და ადგილს, მენეჯერი ანაწილებს ბრიგადაზე, ბრიგადა სამუშაოს ფოტოთი ადასტურებს, მოქალაქე კი ყოველ ეტაპზე ხედავს სტატუსს.</a:t>
            </a:r>
            <a:endParaRPr lang="en-US" sz="1800" dirty="0"/>
          </a:p>
        </p:txBody>
      </p:sp>
      <p:sp>
        <p:nvSpPr>
          <p:cNvPr id="4" name="სტატისტიკა stakeholder-ი"/>
          <p:cNvSpPr/>
          <p:nvPr/>
        </p:nvSpPr>
        <p:spPr>
          <a:xfrm>
            <a:off x="6766560" y="1645920"/>
            <a:ext cx="2423160" cy="2011680"/>
          </a:xfrm>
          <a:prstGeom prst="roundRect">
            <a:avLst>
              <a:gd name="adj" fmla="val 4545"/>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რიცხვი stakeholder-ი"/>
          <p:cNvSpPr txBox="1"/>
          <p:nvPr/>
        </p:nvSpPr>
        <p:spPr>
          <a:xfrm>
            <a:off x="6766560" y="1874520"/>
            <a:ext cx="2423160" cy="914400"/>
          </a:xfrm>
          <a:prstGeom prst="rect">
            <a:avLst/>
          </a:prstGeom>
          <a:noFill/>
          <a:ln/>
        </p:spPr>
        <p:txBody>
          <a:bodyPr wrap="square" lIns="0" tIns="0" rIns="0" bIns="0" rtlCol="0" anchor="ctr"/>
          <a:lstStyle/>
          <a:p>
            <a:pPr algn="ctr" indent="0" marL="0">
              <a:buNone/>
            </a:pPr>
            <a:r>
              <a:rPr lang="en-US" sz="5400" b="1" dirty="0">
                <a:solidFill>
                  <a:schemeClr val="accent1"/>
                </a:solidFill>
              </a:rPr>
              <a:t>6</a:t>
            </a:r>
            <a:endParaRPr lang="en-US" sz="5400" dirty="0"/>
          </a:p>
        </p:txBody>
      </p:sp>
      <p:sp>
        <p:nvSpPr>
          <p:cNvPr id="6" name="წარწერა stakeholder-ი"/>
          <p:cNvSpPr txBox="1"/>
          <p:nvPr/>
        </p:nvSpPr>
        <p:spPr>
          <a:xfrm>
            <a:off x="6766560" y="2834640"/>
            <a:ext cx="2423160" cy="548640"/>
          </a:xfrm>
          <a:prstGeom prst="rect">
            <a:avLst/>
          </a:prstGeom>
          <a:noFill/>
          <a:ln/>
        </p:spPr>
        <p:txBody>
          <a:bodyPr wrap="square" lIns="0" tIns="0" rIns="0" bIns="0" rtlCol="0" anchor="ctr"/>
          <a:lstStyle/>
          <a:p>
            <a:pPr algn="ctr" indent="0" marL="0">
              <a:buNone/>
            </a:pPr>
            <a:r>
              <a:rPr lang="en-US" sz="1600" dirty="0">
                <a:solidFill>
                  <a:schemeClr val="tx1"/>
                </a:solidFill>
              </a:rPr>
              <a:t>stakeholder-ი</a:t>
            </a:r>
            <a:endParaRPr lang="en-US" sz="1600" dirty="0"/>
          </a:p>
        </p:txBody>
      </p:sp>
      <p:sp>
        <p:nvSpPr>
          <p:cNvPr id="7" name="სტატისტიკა User Story"/>
          <p:cNvSpPr/>
          <p:nvPr/>
        </p:nvSpPr>
        <p:spPr>
          <a:xfrm>
            <a:off x="9372600" y="1645920"/>
            <a:ext cx="2423160" cy="2011680"/>
          </a:xfrm>
          <a:prstGeom prst="roundRect">
            <a:avLst>
              <a:gd name="adj" fmla="val 4545"/>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8" name="რიცხვი User Story"/>
          <p:cNvSpPr txBox="1"/>
          <p:nvPr/>
        </p:nvSpPr>
        <p:spPr>
          <a:xfrm>
            <a:off x="9372600" y="1874520"/>
            <a:ext cx="2423160" cy="914400"/>
          </a:xfrm>
          <a:prstGeom prst="rect">
            <a:avLst/>
          </a:prstGeom>
          <a:noFill/>
          <a:ln/>
        </p:spPr>
        <p:txBody>
          <a:bodyPr wrap="square" lIns="0" tIns="0" rIns="0" bIns="0" rtlCol="0" anchor="ctr"/>
          <a:lstStyle/>
          <a:p>
            <a:pPr algn="ctr" indent="0" marL="0">
              <a:buNone/>
            </a:pPr>
            <a:r>
              <a:rPr lang="en-US" sz="5400" b="1" dirty="0">
                <a:solidFill>
                  <a:schemeClr val="accent1"/>
                </a:solidFill>
              </a:rPr>
              <a:t>19</a:t>
            </a:r>
            <a:endParaRPr lang="en-US" sz="5400" dirty="0"/>
          </a:p>
        </p:txBody>
      </p:sp>
      <p:sp>
        <p:nvSpPr>
          <p:cNvPr id="9" name="წარწერა User Story"/>
          <p:cNvSpPr txBox="1"/>
          <p:nvPr/>
        </p:nvSpPr>
        <p:spPr>
          <a:xfrm>
            <a:off x="9372600" y="2834640"/>
            <a:ext cx="2423160" cy="548640"/>
          </a:xfrm>
          <a:prstGeom prst="rect">
            <a:avLst/>
          </a:prstGeom>
          <a:noFill/>
          <a:ln/>
        </p:spPr>
        <p:txBody>
          <a:bodyPr wrap="square" lIns="0" tIns="0" rIns="0" bIns="0" rtlCol="0" anchor="ctr"/>
          <a:lstStyle/>
          <a:p>
            <a:pPr algn="ctr" indent="0" marL="0">
              <a:buNone/>
            </a:pPr>
            <a:r>
              <a:rPr lang="en-US" sz="1600" dirty="0">
                <a:solidFill>
                  <a:schemeClr val="tx1"/>
                </a:solidFill>
              </a:rPr>
              <a:t>User Story</a:t>
            </a:r>
            <a:endParaRPr lang="en-US" sz="1600" dirty="0"/>
          </a:p>
        </p:txBody>
      </p:sp>
      <p:sp>
        <p:nvSpPr>
          <p:cNvPr id="10" name="სტატისტიკა ქულა სულ"/>
          <p:cNvSpPr/>
          <p:nvPr/>
        </p:nvSpPr>
        <p:spPr>
          <a:xfrm>
            <a:off x="6766560" y="3840480"/>
            <a:ext cx="2423160" cy="2011680"/>
          </a:xfrm>
          <a:prstGeom prst="roundRect">
            <a:avLst>
              <a:gd name="adj" fmla="val 4545"/>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 name="რიცხვი ქულა სულ"/>
          <p:cNvSpPr txBox="1"/>
          <p:nvPr/>
        </p:nvSpPr>
        <p:spPr>
          <a:xfrm>
            <a:off x="6766560" y="4069080"/>
            <a:ext cx="2423160" cy="914400"/>
          </a:xfrm>
          <a:prstGeom prst="rect">
            <a:avLst/>
          </a:prstGeom>
          <a:noFill/>
          <a:ln/>
        </p:spPr>
        <p:txBody>
          <a:bodyPr wrap="square" lIns="0" tIns="0" rIns="0" bIns="0" rtlCol="0" anchor="ctr"/>
          <a:lstStyle/>
          <a:p>
            <a:pPr algn="ctr" indent="0" marL="0">
              <a:buNone/>
            </a:pPr>
            <a:r>
              <a:rPr lang="en-US" sz="5400" b="1" dirty="0">
                <a:solidFill>
                  <a:schemeClr val="accent1"/>
                </a:solidFill>
              </a:rPr>
              <a:t>76</a:t>
            </a:r>
            <a:endParaRPr lang="en-US" sz="5400" dirty="0"/>
          </a:p>
        </p:txBody>
      </p:sp>
      <p:sp>
        <p:nvSpPr>
          <p:cNvPr id="12" name="წარწერა ქულა სულ"/>
          <p:cNvSpPr txBox="1"/>
          <p:nvPr/>
        </p:nvSpPr>
        <p:spPr>
          <a:xfrm>
            <a:off x="6766560" y="5029200"/>
            <a:ext cx="2423160" cy="548640"/>
          </a:xfrm>
          <a:prstGeom prst="rect">
            <a:avLst/>
          </a:prstGeom>
          <a:noFill/>
          <a:ln/>
        </p:spPr>
        <p:txBody>
          <a:bodyPr wrap="square" lIns="0" tIns="0" rIns="0" bIns="0" rtlCol="0" anchor="ctr"/>
          <a:lstStyle/>
          <a:p>
            <a:pPr algn="ctr" indent="0" marL="0">
              <a:buNone/>
            </a:pPr>
            <a:r>
              <a:rPr lang="en-US" sz="1600" dirty="0">
                <a:solidFill>
                  <a:schemeClr val="tx1"/>
                </a:solidFill>
              </a:rPr>
              <a:t>ქულა სულ</a:t>
            </a:r>
            <a:endParaRPr lang="en-US" sz="1600" dirty="0"/>
          </a:p>
        </p:txBody>
      </p:sp>
      <p:sp>
        <p:nvSpPr>
          <p:cNvPr id="13" name="სტატისტიკა ქულა MVP-ში"/>
          <p:cNvSpPr/>
          <p:nvPr/>
        </p:nvSpPr>
        <p:spPr>
          <a:xfrm>
            <a:off x="9372600" y="3840480"/>
            <a:ext cx="2423160" cy="2011680"/>
          </a:xfrm>
          <a:prstGeom prst="roundRect">
            <a:avLst>
              <a:gd name="adj" fmla="val 4545"/>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რიცხვი ქულა MVP-ში"/>
          <p:cNvSpPr txBox="1"/>
          <p:nvPr/>
        </p:nvSpPr>
        <p:spPr>
          <a:xfrm>
            <a:off x="9372600" y="4069080"/>
            <a:ext cx="2423160" cy="914400"/>
          </a:xfrm>
          <a:prstGeom prst="rect">
            <a:avLst/>
          </a:prstGeom>
          <a:noFill/>
          <a:ln/>
        </p:spPr>
        <p:txBody>
          <a:bodyPr wrap="square" lIns="0" tIns="0" rIns="0" bIns="0" rtlCol="0" anchor="ctr"/>
          <a:lstStyle/>
          <a:p>
            <a:pPr algn="ctr" indent="0" marL="0">
              <a:buNone/>
            </a:pPr>
            <a:r>
              <a:rPr lang="en-US" sz="5400" b="1" dirty="0">
                <a:solidFill>
                  <a:schemeClr val="accent1"/>
                </a:solidFill>
              </a:rPr>
              <a:t>31</a:t>
            </a:r>
            <a:endParaRPr lang="en-US" sz="5400" dirty="0"/>
          </a:p>
        </p:txBody>
      </p:sp>
      <p:sp>
        <p:nvSpPr>
          <p:cNvPr id="15" name="წარწერა ქულა MVP-ში"/>
          <p:cNvSpPr txBox="1"/>
          <p:nvPr/>
        </p:nvSpPr>
        <p:spPr>
          <a:xfrm>
            <a:off x="9372600" y="5029200"/>
            <a:ext cx="2423160" cy="548640"/>
          </a:xfrm>
          <a:prstGeom prst="rect">
            <a:avLst/>
          </a:prstGeom>
          <a:noFill/>
          <a:ln/>
        </p:spPr>
        <p:txBody>
          <a:bodyPr wrap="square" lIns="0" tIns="0" rIns="0" bIns="0" rtlCol="0" anchor="ctr"/>
          <a:lstStyle/>
          <a:p>
            <a:pPr algn="ctr" indent="0" marL="0">
              <a:buNone/>
            </a:pPr>
            <a:r>
              <a:rPr lang="en-US" sz="1600" dirty="0">
                <a:solidFill>
                  <a:schemeClr val="tx1"/>
                </a:solidFill>
              </a:rPr>
              <a:t>ქულა MVP-ში</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lIns="0" tIns="0" rIns="0" bIns="0" rtlCol="0" anchor="ctr"/>
          <a:lstStyle/>
          <a:p>
            <a:pPr indent="0" marL="0">
              <a:buNone/>
            </a:pPr>
            <a:r>
              <a:rPr lang="en-US" sz="3200" b="1" dirty="0">
                <a:solidFill>
                  <a:schemeClr val="tx2"/>
                </a:solidFill>
              </a:rPr>
              <a:t>ვინ არიან stakeholder-ები</a:t>
            </a:r>
            <a:endParaRPr lang="en-US" sz="3200" dirty="0"/>
          </a:p>
        </p:txBody>
      </p:sp>
      <p:sp>
        <p:nvSpPr>
          <p:cNvPr id="3" name="stakeholder მოქალაქე"/>
          <p:cNvSpPr/>
          <p:nvPr/>
        </p:nvSpPr>
        <p:spPr>
          <a:xfrm>
            <a:off x="548640" y="155448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სახელი მოქალაქე"/>
          <p:cNvSpPr txBox="1"/>
          <p:nvPr/>
        </p:nvSpPr>
        <p:spPr>
          <a:xfrm>
            <a:off x="777240" y="1737360"/>
            <a:ext cx="3108960" cy="640080"/>
          </a:xfrm>
          <a:prstGeom prst="rect">
            <a:avLst/>
          </a:prstGeom>
          <a:noFill/>
          <a:ln/>
        </p:spPr>
        <p:txBody>
          <a:bodyPr wrap="square" lIns="0" tIns="0" rIns="0" bIns="0" rtlCol="0" anchor="t"/>
          <a:lstStyle/>
          <a:p>
            <a:pPr indent="0" marL="0">
              <a:buNone/>
            </a:pPr>
            <a:r>
              <a:rPr lang="en-US" sz="1800" b="1" dirty="0">
                <a:solidFill>
                  <a:schemeClr val="tx2"/>
                </a:solidFill>
              </a:rPr>
              <a:t>მოქალაქე</a:t>
            </a:r>
            <a:endParaRPr lang="en-US" sz="1800" dirty="0"/>
          </a:p>
        </p:txBody>
      </p:sp>
      <p:sp>
        <p:nvSpPr>
          <p:cNvPr id="5" name="ტიპი მოქალაქე ფონი"/>
          <p:cNvSpPr/>
          <p:nvPr/>
        </p:nvSpPr>
        <p:spPr>
          <a:xfrm>
            <a:off x="777240" y="2423160"/>
            <a:ext cx="1188720" cy="274320"/>
          </a:xfrm>
          <a:prstGeom prst="roundRect">
            <a:avLst>
              <a:gd name="adj" fmla="val 50000"/>
            </a:avLst>
          </a:prstGeom>
          <a:solidFill>
            <a:schemeClr val="accent1"/>
          </a:solidFill>
          <a:ln w="12700">
            <a:solidFill>
              <a:schemeClr val="accent1"/>
            </a:solidFill>
            <a:prstDash val="solid"/>
          </a:ln>
        </p:spPr>
      </p:sp>
      <p:sp>
        <p:nvSpPr>
          <p:cNvPr id="6" name="ტიპი მოქალაქე"/>
          <p:cNvSpPr txBox="1"/>
          <p:nvPr/>
        </p:nvSpPr>
        <p:spPr>
          <a:xfrm>
            <a:off x="777240" y="2423160"/>
            <a:ext cx="1188720" cy="274320"/>
          </a:xfrm>
          <a:prstGeom prst="rect">
            <a:avLst/>
          </a:prstGeom>
          <a:noFill/>
          <a:ln/>
        </p:spPr>
        <p:txBody>
          <a:bodyPr wrap="square" lIns="0" tIns="0" rIns="0" bIns="0" rtlCol="0" anchor="ctr"/>
          <a:lstStyle/>
          <a:p>
            <a:pPr algn="ctr" indent="0" marL="0">
              <a:buNone/>
            </a:pPr>
            <a:r>
              <a:rPr lang="en-US" sz="1200" b="1" dirty="0">
                <a:solidFill>
                  <a:srgbClr val="FFFFFF"/>
                </a:solidFill>
              </a:rPr>
              <a:t>იყენებს</a:t>
            </a:r>
            <a:endParaRPr lang="en-US" sz="1200" dirty="0"/>
          </a:p>
        </p:txBody>
      </p:sp>
      <p:sp>
        <p:nvSpPr>
          <p:cNvPr id="7" name="ინტერესი მოქალაქე"/>
          <p:cNvSpPr txBox="1"/>
          <p:nvPr/>
        </p:nvSpPr>
        <p:spPr>
          <a:xfrm>
            <a:off x="777240" y="2788920"/>
            <a:ext cx="3108960" cy="868680"/>
          </a:xfrm>
          <a:prstGeom prst="rect">
            <a:avLst/>
          </a:prstGeom>
          <a:noFill/>
          <a:ln/>
        </p:spPr>
        <p:txBody>
          <a:bodyPr wrap="square" lIns="0" tIns="0" rIns="0" bIns="0" rtlCol="0" anchor="t"/>
          <a:lstStyle/>
          <a:p>
            <a:pPr indent="0" marL="0">
              <a:buNone/>
            </a:pPr>
            <a:r>
              <a:rPr lang="en-US" sz="1400" dirty="0">
                <a:solidFill>
                  <a:schemeClr val="tx1"/>
                </a:solidFill>
              </a:rPr>
              <a:t>სწრაფად შეატყობინოს და ნახოს, მოგვარდა თუ არა</a:t>
            </a:r>
            <a:endParaRPr lang="en-US" sz="1400" dirty="0"/>
          </a:p>
        </p:txBody>
      </p:sp>
      <p:sp>
        <p:nvSpPr>
          <p:cNvPr id="8" name="stakeholder მენეჯერი (დისპეჩერი)"/>
          <p:cNvSpPr/>
          <p:nvPr/>
        </p:nvSpPr>
        <p:spPr>
          <a:xfrm>
            <a:off x="4297680" y="155448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სახელი მენეჯერი (დისპეჩერი)"/>
          <p:cNvSpPr txBox="1"/>
          <p:nvPr/>
        </p:nvSpPr>
        <p:spPr>
          <a:xfrm>
            <a:off x="4526280" y="1737360"/>
            <a:ext cx="3108960" cy="640080"/>
          </a:xfrm>
          <a:prstGeom prst="rect">
            <a:avLst/>
          </a:prstGeom>
          <a:noFill/>
          <a:ln/>
        </p:spPr>
        <p:txBody>
          <a:bodyPr wrap="square" lIns="0" tIns="0" rIns="0" bIns="0" rtlCol="0" anchor="t"/>
          <a:lstStyle/>
          <a:p>
            <a:pPr indent="0" marL="0">
              <a:buNone/>
            </a:pPr>
            <a:r>
              <a:rPr lang="en-US" sz="1800" b="1" dirty="0">
                <a:solidFill>
                  <a:schemeClr val="tx2"/>
                </a:solidFill>
              </a:rPr>
              <a:t>მენეჯერი (დისპეჩერი)</a:t>
            </a:r>
            <a:endParaRPr lang="en-US" sz="1800" dirty="0"/>
          </a:p>
        </p:txBody>
      </p:sp>
      <p:sp>
        <p:nvSpPr>
          <p:cNvPr id="10" name="ტიპი მენეჯერი (დისპეჩერი) ფონი"/>
          <p:cNvSpPr/>
          <p:nvPr/>
        </p:nvSpPr>
        <p:spPr>
          <a:xfrm>
            <a:off x="4526280" y="2423160"/>
            <a:ext cx="1188720" cy="274320"/>
          </a:xfrm>
          <a:prstGeom prst="roundRect">
            <a:avLst>
              <a:gd name="adj" fmla="val 50000"/>
            </a:avLst>
          </a:prstGeom>
          <a:solidFill>
            <a:schemeClr val="accent1"/>
          </a:solidFill>
          <a:ln w="12700">
            <a:solidFill>
              <a:schemeClr val="accent1"/>
            </a:solidFill>
            <a:prstDash val="solid"/>
          </a:ln>
        </p:spPr>
      </p:sp>
      <p:sp>
        <p:nvSpPr>
          <p:cNvPr id="11" name="ტიპი მენეჯერი (დისპეჩერი)"/>
          <p:cNvSpPr txBox="1"/>
          <p:nvPr/>
        </p:nvSpPr>
        <p:spPr>
          <a:xfrm>
            <a:off x="4526280" y="2423160"/>
            <a:ext cx="1188720" cy="274320"/>
          </a:xfrm>
          <a:prstGeom prst="rect">
            <a:avLst/>
          </a:prstGeom>
          <a:noFill/>
          <a:ln/>
        </p:spPr>
        <p:txBody>
          <a:bodyPr wrap="square" lIns="0" tIns="0" rIns="0" bIns="0" rtlCol="0" anchor="ctr"/>
          <a:lstStyle/>
          <a:p>
            <a:pPr algn="ctr" indent="0" marL="0">
              <a:buNone/>
            </a:pPr>
            <a:r>
              <a:rPr lang="en-US" sz="1200" b="1" dirty="0">
                <a:solidFill>
                  <a:srgbClr val="FFFFFF"/>
                </a:solidFill>
              </a:rPr>
              <a:t>იყენებს</a:t>
            </a:r>
            <a:endParaRPr lang="en-US" sz="1200" dirty="0"/>
          </a:p>
        </p:txBody>
      </p:sp>
      <p:sp>
        <p:nvSpPr>
          <p:cNvPr id="12" name="ინტერესი მენეჯერი (დისპეჩერი)"/>
          <p:cNvSpPr txBox="1"/>
          <p:nvPr/>
        </p:nvSpPr>
        <p:spPr>
          <a:xfrm>
            <a:off x="4526280" y="2788920"/>
            <a:ext cx="3108960" cy="868680"/>
          </a:xfrm>
          <a:prstGeom prst="rect">
            <a:avLst/>
          </a:prstGeom>
          <a:noFill/>
          <a:ln/>
        </p:spPr>
        <p:txBody>
          <a:bodyPr wrap="square" lIns="0" tIns="0" rIns="0" bIns="0" rtlCol="0" anchor="t"/>
          <a:lstStyle/>
          <a:p>
            <a:pPr indent="0" marL="0">
              <a:buNone/>
            </a:pPr>
            <a:r>
              <a:rPr lang="en-US" sz="1400" dirty="0">
                <a:solidFill>
                  <a:schemeClr val="tx1"/>
                </a:solidFill>
              </a:rPr>
              <a:t>ერთ სიაში დაალაგოს და ბრიგადებზე გადაანაწილოს</a:t>
            </a:r>
            <a:endParaRPr lang="en-US" sz="1400" dirty="0"/>
          </a:p>
        </p:txBody>
      </p:sp>
      <p:sp>
        <p:nvSpPr>
          <p:cNvPr id="13" name="stakeholder ბრიგადა"/>
          <p:cNvSpPr/>
          <p:nvPr/>
        </p:nvSpPr>
        <p:spPr>
          <a:xfrm>
            <a:off x="8046720" y="155448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სახელი ბრიგადა"/>
          <p:cNvSpPr txBox="1"/>
          <p:nvPr/>
        </p:nvSpPr>
        <p:spPr>
          <a:xfrm>
            <a:off x="8275320" y="1737360"/>
            <a:ext cx="3108960" cy="640080"/>
          </a:xfrm>
          <a:prstGeom prst="rect">
            <a:avLst/>
          </a:prstGeom>
          <a:noFill/>
          <a:ln/>
        </p:spPr>
        <p:txBody>
          <a:bodyPr wrap="square" lIns="0" tIns="0" rIns="0" bIns="0" rtlCol="0" anchor="t"/>
          <a:lstStyle/>
          <a:p>
            <a:pPr indent="0" marL="0">
              <a:buNone/>
            </a:pPr>
            <a:r>
              <a:rPr lang="en-US" sz="1800" b="1" dirty="0">
                <a:solidFill>
                  <a:schemeClr val="tx2"/>
                </a:solidFill>
              </a:rPr>
              <a:t>ბრიგადა</a:t>
            </a:r>
            <a:endParaRPr lang="en-US" sz="1800" dirty="0"/>
          </a:p>
        </p:txBody>
      </p:sp>
      <p:sp>
        <p:nvSpPr>
          <p:cNvPr id="15" name="ტიპი ბრიგადა ფონი"/>
          <p:cNvSpPr/>
          <p:nvPr/>
        </p:nvSpPr>
        <p:spPr>
          <a:xfrm>
            <a:off x="8275320" y="2423160"/>
            <a:ext cx="1188720" cy="274320"/>
          </a:xfrm>
          <a:prstGeom prst="roundRect">
            <a:avLst>
              <a:gd name="adj" fmla="val 50000"/>
            </a:avLst>
          </a:prstGeom>
          <a:solidFill>
            <a:schemeClr val="accent1"/>
          </a:solidFill>
          <a:ln w="12700">
            <a:solidFill>
              <a:schemeClr val="accent1"/>
            </a:solidFill>
            <a:prstDash val="solid"/>
          </a:ln>
        </p:spPr>
      </p:sp>
      <p:sp>
        <p:nvSpPr>
          <p:cNvPr id="16" name="ტიპი ბრიგადა"/>
          <p:cNvSpPr txBox="1"/>
          <p:nvPr/>
        </p:nvSpPr>
        <p:spPr>
          <a:xfrm>
            <a:off x="8275320" y="2423160"/>
            <a:ext cx="1188720" cy="274320"/>
          </a:xfrm>
          <a:prstGeom prst="rect">
            <a:avLst/>
          </a:prstGeom>
          <a:noFill/>
          <a:ln/>
        </p:spPr>
        <p:txBody>
          <a:bodyPr wrap="square" lIns="0" tIns="0" rIns="0" bIns="0" rtlCol="0" anchor="ctr"/>
          <a:lstStyle/>
          <a:p>
            <a:pPr algn="ctr" indent="0" marL="0">
              <a:buNone/>
            </a:pPr>
            <a:r>
              <a:rPr lang="en-US" sz="1200" b="1" dirty="0">
                <a:solidFill>
                  <a:srgbClr val="FFFFFF"/>
                </a:solidFill>
              </a:rPr>
              <a:t>იყენებს</a:t>
            </a:r>
            <a:endParaRPr lang="en-US" sz="1200" dirty="0"/>
          </a:p>
        </p:txBody>
      </p:sp>
      <p:sp>
        <p:nvSpPr>
          <p:cNvPr id="17" name="ინტერესი ბრიგადა"/>
          <p:cNvSpPr txBox="1"/>
          <p:nvPr/>
        </p:nvSpPr>
        <p:spPr>
          <a:xfrm>
            <a:off x="8275320" y="2788920"/>
            <a:ext cx="3108960" cy="868680"/>
          </a:xfrm>
          <a:prstGeom prst="rect">
            <a:avLst/>
          </a:prstGeom>
          <a:noFill/>
          <a:ln/>
        </p:spPr>
        <p:txBody>
          <a:bodyPr wrap="square" lIns="0" tIns="0" rIns="0" bIns="0" rtlCol="0" anchor="t"/>
          <a:lstStyle/>
          <a:p>
            <a:pPr indent="0" marL="0">
              <a:buNone/>
            </a:pPr>
            <a:r>
              <a:rPr lang="en-US" sz="1400" dirty="0">
                <a:solidFill>
                  <a:schemeClr val="tx1"/>
                </a:solidFill>
              </a:rPr>
              <a:t>ტელეფონიდან ნახოს ამოცანა და დასრულება ფოტოთი დაადასტუროს</a:t>
            </a:r>
            <a:endParaRPr lang="en-US" sz="1400" dirty="0"/>
          </a:p>
        </p:txBody>
      </p:sp>
      <p:sp>
        <p:nvSpPr>
          <p:cNvPr id="18" name="stakeholder ადმინისტრატორი"/>
          <p:cNvSpPr/>
          <p:nvPr/>
        </p:nvSpPr>
        <p:spPr>
          <a:xfrm>
            <a:off x="548640" y="397764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სახელი ადმინისტრატორი"/>
          <p:cNvSpPr txBox="1"/>
          <p:nvPr/>
        </p:nvSpPr>
        <p:spPr>
          <a:xfrm>
            <a:off x="777240" y="4160520"/>
            <a:ext cx="3108960" cy="640080"/>
          </a:xfrm>
          <a:prstGeom prst="rect">
            <a:avLst/>
          </a:prstGeom>
          <a:noFill/>
          <a:ln/>
        </p:spPr>
        <p:txBody>
          <a:bodyPr wrap="square" lIns="0" tIns="0" rIns="0" bIns="0" rtlCol="0" anchor="t"/>
          <a:lstStyle/>
          <a:p>
            <a:pPr indent="0" marL="0">
              <a:buNone/>
            </a:pPr>
            <a:r>
              <a:rPr lang="en-US" sz="1800" b="1" dirty="0">
                <a:solidFill>
                  <a:schemeClr val="tx2"/>
                </a:solidFill>
              </a:rPr>
              <a:t>ადმინისტრატორი</a:t>
            </a:r>
            <a:endParaRPr lang="en-US" sz="1800" dirty="0"/>
          </a:p>
        </p:txBody>
      </p:sp>
      <p:sp>
        <p:nvSpPr>
          <p:cNvPr id="20" name="ტიპი ადმინისტრატორი ფონი"/>
          <p:cNvSpPr/>
          <p:nvPr/>
        </p:nvSpPr>
        <p:spPr>
          <a:xfrm>
            <a:off x="777240" y="4846320"/>
            <a:ext cx="1188720" cy="274320"/>
          </a:xfrm>
          <a:prstGeom prst="roundRect">
            <a:avLst>
              <a:gd name="adj" fmla="val 50000"/>
            </a:avLst>
          </a:prstGeom>
          <a:solidFill>
            <a:schemeClr val="accent1"/>
          </a:solidFill>
          <a:ln w="12700">
            <a:solidFill>
              <a:schemeClr val="accent1"/>
            </a:solidFill>
            <a:prstDash val="solid"/>
          </a:ln>
        </p:spPr>
      </p:sp>
      <p:sp>
        <p:nvSpPr>
          <p:cNvPr id="21" name="ტიპი ადმინისტრატორი"/>
          <p:cNvSpPr txBox="1"/>
          <p:nvPr/>
        </p:nvSpPr>
        <p:spPr>
          <a:xfrm>
            <a:off x="777240" y="4846320"/>
            <a:ext cx="1188720" cy="274320"/>
          </a:xfrm>
          <a:prstGeom prst="rect">
            <a:avLst/>
          </a:prstGeom>
          <a:noFill/>
          <a:ln/>
        </p:spPr>
        <p:txBody>
          <a:bodyPr wrap="square" lIns="0" tIns="0" rIns="0" bIns="0" rtlCol="0" anchor="ctr"/>
          <a:lstStyle/>
          <a:p>
            <a:pPr algn="ctr" indent="0" marL="0">
              <a:buNone/>
            </a:pPr>
            <a:r>
              <a:rPr lang="en-US" sz="1200" b="1" dirty="0">
                <a:solidFill>
                  <a:srgbClr val="FFFFFF"/>
                </a:solidFill>
              </a:rPr>
              <a:t>იყენებს</a:t>
            </a:r>
            <a:endParaRPr lang="en-US" sz="1200" dirty="0"/>
          </a:p>
        </p:txBody>
      </p:sp>
      <p:sp>
        <p:nvSpPr>
          <p:cNvPr id="22" name="ინტერესი ადმინისტრატორი"/>
          <p:cNvSpPr txBox="1"/>
          <p:nvPr/>
        </p:nvSpPr>
        <p:spPr>
          <a:xfrm>
            <a:off x="777240" y="5212080"/>
            <a:ext cx="3108960" cy="868680"/>
          </a:xfrm>
          <a:prstGeom prst="rect">
            <a:avLst/>
          </a:prstGeom>
          <a:noFill/>
          <a:ln/>
        </p:spPr>
        <p:txBody>
          <a:bodyPr wrap="square" lIns="0" tIns="0" rIns="0" bIns="0" rtlCol="0" anchor="t"/>
          <a:lstStyle/>
          <a:p>
            <a:pPr indent="0" marL="0">
              <a:buNone/>
            </a:pPr>
            <a:r>
              <a:rPr lang="en-US" sz="1400" dirty="0">
                <a:solidFill>
                  <a:schemeClr val="tx1"/>
                </a:solidFill>
              </a:rPr>
              <a:t>მართოს ანგარიშები, როლები და კატეგორიები</a:t>
            </a:r>
            <a:endParaRPr lang="en-US" sz="1400" dirty="0"/>
          </a:p>
        </p:txBody>
      </p:sp>
      <p:sp>
        <p:nvSpPr>
          <p:cNvPr id="23" name="stakeholder მერია"/>
          <p:cNvSpPr/>
          <p:nvPr/>
        </p:nvSpPr>
        <p:spPr>
          <a:xfrm>
            <a:off x="4297680" y="397764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სახელი მერია"/>
          <p:cNvSpPr txBox="1"/>
          <p:nvPr/>
        </p:nvSpPr>
        <p:spPr>
          <a:xfrm>
            <a:off x="4526280" y="4160520"/>
            <a:ext cx="3108960" cy="640080"/>
          </a:xfrm>
          <a:prstGeom prst="rect">
            <a:avLst/>
          </a:prstGeom>
          <a:noFill/>
          <a:ln/>
        </p:spPr>
        <p:txBody>
          <a:bodyPr wrap="square" lIns="0" tIns="0" rIns="0" bIns="0" rtlCol="0" anchor="t"/>
          <a:lstStyle/>
          <a:p>
            <a:pPr indent="0" marL="0">
              <a:buNone/>
            </a:pPr>
            <a:r>
              <a:rPr lang="en-US" sz="1800" b="1" dirty="0">
                <a:solidFill>
                  <a:schemeClr val="tx2"/>
                </a:solidFill>
              </a:rPr>
              <a:t>მერია</a:t>
            </a:r>
            <a:endParaRPr lang="en-US" sz="1800" dirty="0"/>
          </a:p>
        </p:txBody>
      </p:sp>
      <p:sp>
        <p:nvSpPr>
          <p:cNvPr id="25" name="ტიპი მერია ფონი"/>
          <p:cNvSpPr/>
          <p:nvPr/>
        </p:nvSpPr>
        <p:spPr>
          <a:xfrm>
            <a:off x="4526280" y="4846320"/>
            <a:ext cx="1188720" cy="274320"/>
          </a:xfrm>
          <a:prstGeom prst="roundRect">
            <a:avLst>
              <a:gd name="adj" fmla="val 50000"/>
            </a:avLst>
          </a:prstGeom>
          <a:solidFill>
            <a:schemeClr val="accent2"/>
          </a:solidFill>
          <a:ln w="12700">
            <a:solidFill>
              <a:schemeClr val="accent2"/>
            </a:solidFill>
            <a:prstDash val="solid"/>
          </a:ln>
        </p:spPr>
      </p:sp>
      <p:sp>
        <p:nvSpPr>
          <p:cNvPr id="26" name="ტიპი მერია"/>
          <p:cNvSpPr txBox="1"/>
          <p:nvPr/>
        </p:nvSpPr>
        <p:spPr>
          <a:xfrm>
            <a:off x="4526280" y="4846320"/>
            <a:ext cx="1188720" cy="274320"/>
          </a:xfrm>
          <a:prstGeom prst="rect">
            <a:avLst/>
          </a:prstGeom>
          <a:noFill/>
          <a:ln/>
        </p:spPr>
        <p:txBody>
          <a:bodyPr wrap="square" lIns="0" tIns="0" rIns="0" bIns="0" rtlCol="0" anchor="ctr"/>
          <a:lstStyle/>
          <a:p>
            <a:pPr algn="ctr" indent="0" marL="0">
              <a:buNone/>
            </a:pPr>
            <a:r>
              <a:rPr lang="en-US" sz="1200" b="1" dirty="0">
                <a:solidFill>
                  <a:srgbClr val="FFFFFF"/>
                </a:solidFill>
              </a:rPr>
              <a:t>იხდის</a:t>
            </a:r>
            <a:endParaRPr lang="en-US" sz="1200" dirty="0"/>
          </a:p>
        </p:txBody>
      </p:sp>
      <p:sp>
        <p:nvSpPr>
          <p:cNvPr id="27" name="ინტერესი მერია"/>
          <p:cNvSpPr txBox="1"/>
          <p:nvPr/>
        </p:nvSpPr>
        <p:spPr>
          <a:xfrm>
            <a:off x="4526280" y="5212080"/>
            <a:ext cx="3108960" cy="868680"/>
          </a:xfrm>
          <a:prstGeom prst="rect">
            <a:avLst/>
          </a:prstGeom>
          <a:noFill/>
          <a:ln/>
        </p:spPr>
        <p:txBody>
          <a:bodyPr wrap="square" lIns="0" tIns="0" rIns="0" bIns="0" rtlCol="0" anchor="t"/>
          <a:lstStyle/>
          <a:p>
            <a:pPr indent="0" marL="0">
              <a:buNone/>
            </a:pPr>
            <a:r>
              <a:rPr lang="en-US" sz="1400" dirty="0">
                <a:solidFill>
                  <a:schemeClr val="tx1"/>
                </a:solidFill>
              </a:rPr>
              <a:t>ნაკლები ხარჯი, სწრაფი გადაჭრა, სტატისტიკა</a:t>
            </a:r>
            <a:endParaRPr lang="en-US" sz="1400" dirty="0"/>
          </a:p>
        </p:txBody>
      </p:sp>
      <p:sp>
        <p:nvSpPr>
          <p:cNvPr id="28" name="stakeholder იურიდიული / პმდ ოფიცერი"/>
          <p:cNvSpPr/>
          <p:nvPr/>
        </p:nvSpPr>
        <p:spPr>
          <a:xfrm>
            <a:off x="8046720" y="397764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9" name="სახელი იურიდიული / პმდ ოფიცერი"/>
          <p:cNvSpPr txBox="1"/>
          <p:nvPr/>
        </p:nvSpPr>
        <p:spPr>
          <a:xfrm>
            <a:off x="8275320" y="4160520"/>
            <a:ext cx="3108960" cy="640080"/>
          </a:xfrm>
          <a:prstGeom prst="rect">
            <a:avLst/>
          </a:prstGeom>
          <a:noFill/>
          <a:ln/>
        </p:spPr>
        <p:txBody>
          <a:bodyPr wrap="square" lIns="0" tIns="0" rIns="0" bIns="0" rtlCol="0" anchor="t"/>
          <a:lstStyle/>
          <a:p>
            <a:pPr indent="0" marL="0">
              <a:buNone/>
            </a:pPr>
            <a:r>
              <a:rPr lang="en-US" sz="1800" b="1" dirty="0">
                <a:solidFill>
                  <a:schemeClr val="tx2"/>
                </a:solidFill>
              </a:rPr>
              <a:t>იურიდიული / პმდ ოფიცერი</a:t>
            </a:r>
            <a:endParaRPr lang="en-US" sz="1800" dirty="0"/>
          </a:p>
        </p:txBody>
      </p:sp>
      <p:sp>
        <p:nvSpPr>
          <p:cNvPr id="30" name="ტიპი იურიდიული / პმდ ოფიცერი ფონი"/>
          <p:cNvSpPr/>
          <p:nvPr/>
        </p:nvSpPr>
        <p:spPr>
          <a:xfrm>
            <a:off x="8275320" y="4846320"/>
            <a:ext cx="1188720" cy="274320"/>
          </a:xfrm>
          <a:prstGeom prst="roundRect">
            <a:avLst>
              <a:gd name="adj" fmla="val 50000"/>
            </a:avLst>
          </a:prstGeom>
          <a:solidFill>
            <a:schemeClr val="accent3"/>
          </a:solidFill>
          <a:ln w="12700">
            <a:solidFill>
              <a:schemeClr val="accent3"/>
            </a:solidFill>
            <a:prstDash val="solid"/>
          </a:ln>
        </p:spPr>
      </p:sp>
      <p:sp>
        <p:nvSpPr>
          <p:cNvPr id="31" name="ტიპი იურიდიული / პმდ ოფიცერი"/>
          <p:cNvSpPr txBox="1"/>
          <p:nvPr/>
        </p:nvSpPr>
        <p:spPr>
          <a:xfrm>
            <a:off x="8275320" y="4846320"/>
            <a:ext cx="1188720" cy="274320"/>
          </a:xfrm>
          <a:prstGeom prst="rect">
            <a:avLst/>
          </a:prstGeom>
          <a:noFill/>
          <a:ln/>
        </p:spPr>
        <p:txBody>
          <a:bodyPr wrap="square" lIns="0" tIns="0" rIns="0" bIns="0" rtlCol="0" anchor="ctr"/>
          <a:lstStyle/>
          <a:p>
            <a:pPr algn="ctr" indent="0" marL="0">
              <a:buNone/>
            </a:pPr>
            <a:r>
              <a:rPr lang="en-US" sz="1200" b="1" dirty="0">
                <a:solidFill>
                  <a:srgbClr val="FFFFFF"/>
                </a:solidFill>
              </a:rPr>
              <a:t>ვეტო</a:t>
            </a:r>
            <a:endParaRPr lang="en-US" sz="1200" dirty="0"/>
          </a:p>
        </p:txBody>
      </p:sp>
      <p:sp>
        <p:nvSpPr>
          <p:cNvPr id="32" name="ინტერესი იურიდიული / პმდ ოფიცერი"/>
          <p:cNvSpPr txBox="1"/>
          <p:nvPr/>
        </p:nvSpPr>
        <p:spPr>
          <a:xfrm>
            <a:off x="8275320" y="5212080"/>
            <a:ext cx="3108960" cy="868680"/>
          </a:xfrm>
          <a:prstGeom prst="rect">
            <a:avLst/>
          </a:prstGeom>
          <a:noFill/>
          <a:ln/>
        </p:spPr>
        <p:txBody>
          <a:bodyPr wrap="square" lIns="0" tIns="0" rIns="0" bIns="0" rtlCol="0" anchor="t"/>
          <a:lstStyle/>
          <a:p>
            <a:pPr indent="0" marL="0">
              <a:buNone/>
            </a:pPr>
            <a:r>
              <a:rPr lang="en-US" sz="1400" dirty="0">
                <a:solidFill>
                  <a:schemeClr val="tx1"/>
                </a:solidFill>
              </a:rPr>
              <a:t>პერსონალური მონაცემები კანონის შესაბამისად მუშავდებოდეს</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lIns="0" tIns="0" rIns="0" bIns="0" rtlCol="0" anchor="ctr"/>
          <a:lstStyle/>
          <a:p>
            <a:pPr indent="0" marL="0">
              <a:buNone/>
            </a:pPr>
            <a:r>
              <a:rPr lang="en-US" sz="3200" b="1" dirty="0">
                <a:solidFill>
                  <a:schemeClr val="tx2"/>
                </a:solidFill>
              </a:rPr>
              <a:t>Scrum: 7 სპრინტი, 13 კვირა</a:t>
            </a:r>
            <a:endParaRPr lang="en-US" sz="3200" dirty="0"/>
          </a:p>
        </p:txBody>
      </p:sp>
      <p:sp>
        <p:nvSpPr>
          <p:cNvPr id="3" name="სპრინტი Sprint 0"/>
          <p:cNvSpPr/>
          <p:nvPr/>
        </p:nvSpPr>
        <p:spPr>
          <a:xfrm>
            <a:off x="548640" y="1645920"/>
            <a:ext cx="1463040" cy="3383280"/>
          </a:xfrm>
          <a:prstGeom prst="roundRect">
            <a:avLst>
              <a:gd name="adj" fmla="val 625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Sprint 0 სახელი"/>
          <p:cNvSpPr txBox="1"/>
          <p:nvPr/>
        </p:nvSpPr>
        <p:spPr>
          <a:xfrm>
            <a:off x="548640" y="178308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Sprint 0</a:t>
            </a:r>
            <a:endParaRPr lang="en-US" sz="1600" dirty="0"/>
          </a:p>
        </p:txBody>
      </p:sp>
      <p:sp>
        <p:nvSpPr>
          <p:cNvPr id="5" name="Sprint 0 თარიღი"/>
          <p:cNvSpPr txBox="1"/>
          <p:nvPr/>
        </p:nvSpPr>
        <p:spPr>
          <a:xfrm>
            <a:off x="548640" y="2194560"/>
            <a:ext cx="1463040" cy="548640"/>
          </a:xfrm>
          <a:prstGeom prst="rect">
            <a:avLst/>
          </a:prstGeom>
          <a:noFill/>
          <a:ln/>
        </p:spPr>
        <p:txBody>
          <a:bodyPr wrap="square" lIns="0" tIns="0" rIns="0" bIns="0" rtlCol="0" anchor="ctr"/>
          <a:lstStyle/>
          <a:p>
            <a:pPr algn="ctr" indent="0" marL="0">
              <a:buNone/>
            </a:pPr>
            <a:r>
              <a:rPr lang="en-US" sz="1200" dirty="0">
                <a:solidFill>
                  <a:schemeClr val="tx1"/>
                </a:solidFill>
              </a:rPr>
              <a:t>26 ოქტ – 1 ნოე</a:t>
            </a:r>
            <a:endParaRPr lang="en-US" sz="1200" dirty="0"/>
          </a:p>
        </p:txBody>
      </p:sp>
      <p:sp>
        <p:nvSpPr>
          <p:cNvPr id="6" name="Sprint 0 მიზანი"/>
          <p:cNvSpPr txBox="1"/>
          <p:nvPr/>
        </p:nvSpPr>
        <p:spPr>
          <a:xfrm>
            <a:off x="640080" y="2788920"/>
            <a:ext cx="1280160" cy="1371600"/>
          </a:xfrm>
          <a:prstGeom prst="rect">
            <a:avLst/>
          </a:prstGeom>
          <a:noFill/>
          <a:ln/>
        </p:spPr>
        <p:txBody>
          <a:bodyPr wrap="square" lIns="0" tIns="0" rIns="0" bIns="0" rtlCol="0" anchor="t"/>
          <a:lstStyle/>
          <a:p>
            <a:pPr algn="ctr" indent="0" marL="0">
              <a:buNone/>
            </a:pPr>
            <a:r>
              <a:rPr lang="en-US" sz="1400" dirty="0">
                <a:solidFill>
                  <a:schemeClr val="tx1"/>
                </a:solidFill>
              </a:rPr>
              <a:t>პროექტი, CI, staging</a:t>
            </a:r>
            <a:endParaRPr lang="en-US" sz="1400" dirty="0"/>
          </a:p>
        </p:txBody>
      </p:sp>
      <p:sp>
        <p:nvSpPr>
          <p:cNvPr id="7" name="Sprint 0 ქულა"/>
          <p:cNvSpPr txBox="1"/>
          <p:nvPr/>
        </p:nvSpPr>
        <p:spPr>
          <a:xfrm>
            <a:off x="548640" y="4343400"/>
            <a:ext cx="1463040" cy="457200"/>
          </a:xfrm>
          <a:prstGeom prst="rect">
            <a:avLst/>
          </a:prstGeom>
          <a:noFill/>
          <a:ln/>
        </p:spPr>
        <p:txBody>
          <a:bodyPr wrap="square" lIns="0" tIns="0" rIns="0" bIns="0" rtlCol="0" anchor="ctr"/>
          <a:lstStyle/>
          <a:p>
            <a:pPr algn="ctr" indent="0" marL="0">
              <a:buNone/>
            </a:pPr>
            <a:r>
              <a:rPr lang="en-US" sz="1600" b="1" dirty="0">
                <a:solidFill>
                  <a:schemeClr val="accent1"/>
                </a:solidFill>
              </a:rPr>
              <a:t>ქულის გარეშე</a:t>
            </a:r>
            <a:endParaRPr lang="en-US" sz="1600" dirty="0"/>
          </a:p>
        </p:txBody>
      </p:sp>
      <p:sp>
        <p:nvSpPr>
          <p:cNvPr id="8" name="სპრინტი Sprint 1"/>
          <p:cNvSpPr/>
          <p:nvPr/>
        </p:nvSpPr>
        <p:spPr>
          <a:xfrm>
            <a:off x="2148840" y="1645920"/>
            <a:ext cx="1463040" cy="3383280"/>
          </a:xfrm>
          <a:prstGeom prst="roundRect">
            <a:avLst>
              <a:gd name="adj" fmla="val 625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Sprint 1 სახელი"/>
          <p:cNvSpPr txBox="1"/>
          <p:nvPr/>
        </p:nvSpPr>
        <p:spPr>
          <a:xfrm>
            <a:off x="2148840" y="178308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Sprint 1</a:t>
            </a:r>
            <a:endParaRPr lang="en-US" sz="1600" dirty="0"/>
          </a:p>
        </p:txBody>
      </p:sp>
      <p:sp>
        <p:nvSpPr>
          <p:cNvPr id="10" name="Sprint 1 თარიღი"/>
          <p:cNvSpPr txBox="1"/>
          <p:nvPr/>
        </p:nvSpPr>
        <p:spPr>
          <a:xfrm>
            <a:off x="2148840" y="2194560"/>
            <a:ext cx="1463040" cy="548640"/>
          </a:xfrm>
          <a:prstGeom prst="rect">
            <a:avLst/>
          </a:prstGeom>
          <a:noFill/>
          <a:ln/>
        </p:spPr>
        <p:txBody>
          <a:bodyPr wrap="square" lIns="0" tIns="0" rIns="0" bIns="0" rtlCol="0" anchor="ctr"/>
          <a:lstStyle/>
          <a:p>
            <a:pPr algn="ctr" indent="0" marL="0">
              <a:buNone/>
            </a:pPr>
            <a:r>
              <a:rPr lang="en-US" sz="1200" dirty="0">
                <a:solidFill>
                  <a:schemeClr val="tx1"/>
                </a:solidFill>
              </a:rPr>
              <a:t>2 – 15 ნოე</a:t>
            </a:r>
            <a:endParaRPr lang="en-US" sz="1200" dirty="0"/>
          </a:p>
        </p:txBody>
      </p:sp>
      <p:sp>
        <p:nvSpPr>
          <p:cNvPr id="11" name="Sprint 1 მიზანი"/>
          <p:cNvSpPr txBox="1"/>
          <p:nvPr/>
        </p:nvSpPr>
        <p:spPr>
          <a:xfrm>
            <a:off x="2240280" y="2788920"/>
            <a:ext cx="1280160" cy="1371600"/>
          </a:xfrm>
          <a:prstGeom prst="rect">
            <a:avLst/>
          </a:prstGeom>
          <a:noFill/>
          <a:ln/>
        </p:spPr>
        <p:txBody>
          <a:bodyPr wrap="square" lIns="0" tIns="0" rIns="0" bIns="0" rtlCol="0" anchor="t"/>
          <a:lstStyle/>
          <a:p>
            <a:pPr algn="ctr" indent="0" marL="0">
              <a:buNone/>
            </a:pPr>
            <a:r>
              <a:rPr lang="en-US" sz="1400" dirty="0">
                <a:solidFill>
                  <a:schemeClr val="tx1"/>
                </a:solidFill>
              </a:rPr>
              <a:t>რეგისტრაცია და შეტყობინება ფოტოთი</a:t>
            </a:r>
            <a:endParaRPr lang="en-US" sz="1400" dirty="0"/>
          </a:p>
        </p:txBody>
      </p:sp>
      <p:sp>
        <p:nvSpPr>
          <p:cNvPr id="12" name="Sprint 1 ქულა"/>
          <p:cNvSpPr txBox="1"/>
          <p:nvPr/>
        </p:nvSpPr>
        <p:spPr>
          <a:xfrm>
            <a:off x="2148840" y="4343400"/>
            <a:ext cx="1463040" cy="457200"/>
          </a:xfrm>
          <a:prstGeom prst="rect">
            <a:avLst/>
          </a:prstGeom>
          <a:noFill/>
          <a:ln/>
        </p:spPr>
        <p:txBody>
          <a:bodyPr wrap="square" lIns="0" tIns="0" rIns="0" bIns="0" rtlCol="0" anchor="ctr"/>
          <a:lstStyle/>
          <a:p>
            <a:pPr algn="ctr" indent="0" marL="0">
              <a:buNone/>
            </a:pPr>
            <a:r>
              <a:rPr lang="en-US" sz="1600" b="1" dirty="0">
                <a:solidFill>
                  <a:schemeClr val="accent1"/>
                </a:solidFill>
              </a:rPr>
              <a:t>8 ქულა</a:t>
            </a:r>
            <a:endParaRPr lang="en-US" sz="1600" dirty="0"/>
          </a:p>
        </p:txBody>
      </p:sp>
      <p:sp>
        <p:nvSpPr>
          <p:cNvPr id="13" name="სპრინტი Sprint 2"/>
          <p:cNvSpPr/>
          <p:nvPr/>
        </p:nvSpPr>
        <p:spPr>
          <a:xfrm>
            <a:off x="3749040" y="1645920"/>
            <a:ext cx="1463040" cy="3383280"/>
          </a:xfrm>
          <a:prstGeom prst="roundRect">
            <a:avLst>
              <a:gd name="adj" fmla="val 625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Sprint 2 სახელი"/>
          <p:cNvSpPr txBox="1"/>
          <p:nvPr/>
        </p:nvSpPr>
        <p:spPr>
          <a:xfrm>
            <a:off x="3749040" y="178308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Sprint 2</a:t>
            </a:r>
            <a:endParaRPr lang="en-US" sz="1600" dirty="0"/>
          </a:p>
        </p:txBody>
      </p:sp>
      <p:sp>
        <p:nvSpPr>
          <p:cNvPr id="15" name="Sprint 2 თარიღი"/>
          <p:cNvSpPr txBox="1"/>
          <p:nvPr/>
        </p:nvSpPr>
        <p:spPr>
          <a:xfrm>
            <a:off x="3749040" y="2194560"/>
            <a:ext cx="1463040" cy="548640"/>
          </a:xfrm>
          <a:prstGeom prst="rect">
            <a:avLst/>
          </a:prstGeom>
          <a:noFill/>
          <a:ln/>
        </p:spPr>
        <p:txBody>
          <a:bodyPr wrap="square" lIns="0" tIns="0" rIns="0" bIns="0" rtlCol="0" anchor="ctr"/>
          <a:lstStyle/>
          <a:p>
            <a:pPr algn="ctr" indent="0" marL="0">
              <a:buNone/>
            </a:pPr>
            <a:r>
              <a:rPr lang="en-US" sz="1200" dirty="0">
                <a:solidFill>
                  <a:schemeClr val="tx1"/>
                </a:solidFill>
              </a:rPr>
              <a:t>16 – 29 ნოე</a:t>
            </a:r>
            <a:endParaRPr lang="en-US" sz="1200" dirty="0"/>
          </a:p>
        </p:txBody>
      </p:sp>
      <p:sp>
        <p:nvSpPr>
          <p:cNvPr id="16" name="Sprint 2 მიზანი"/>
          <p:cNvSpPr txBox="1"/>
          <p:nvPr/>
        </p:nvSpPr>
        <p:spPr>
          <a:xfrm>
            <a:off x="3840480" y="2788920"/>
            <a:ext cx="1280160" cy="1371600"/>
          </a:xfrm>
          <a:prstGeom prst="rect">
            <a:avLst/>
          </a:prstGeom>
          <a:noFill/>
          <a:ln/>
        </p:spPr>
        <p:txBody>
          <a:bodyPr wrap="square" lIns="0" tIns="0" rIns="0" bIns="0" rtlCol="0" anchor="t"/>
          <a:lstStyle/>
          <a:p>
            <a:pPr algn="ctr" indent="0" marL="0">
              <a:buNone/>
            </a:pPr>
            <a:r>
              <a:rPr lang="en-US" sz="1400" dirty="0">
                <a:solidFill>
                  <a:schemeClr val="tx1"/>
                </a:solidFill>
              </a:rPr>
              <a:t>ლოკაცია, ჩემი სია, როლები</a:t>
            </a:r>
            <a:endParaRPr lang="en-US" sz="1400" dirty="0"/>
          </a:p>
        </p:txBody>
      </p:sp>
      <p:sp>
        <p:nvSpPr>
          <p:cNvPr id="17" name="Sprint 2 ქულა"/>
          <p:cNvSpPr txBox="1"/>
          <p:nvPr/>
        </p:nvSpPr>
        <p:spPr>
          <a:xfrm>
            <a:off x="3749040" y="4343400"/>
            <a:ext cx="1463040" cy="457200"/>
          </a:xfrm>
          <a:prstGeom prst="rect">
            <a:avLst/>
          </a:prstGeom>
          <a:noFill/>
          <a:ln/>
        </p:spPr>
        <p:txBody>
          <a:bodyPr wrap="square" lIns="0" tIns="0" rIns="0" bIns="0" rtlCol="0" anchor="ctr"/>
          <a:lstStyle/>
          <a:p>
            <a:pPr algn="ctr" indent="0" marL="0">
              <a:buNone/>
            </a:pPr>
            <a:r>
              <a:rPr lang="en-US" sz="1600" b="1" dirty="0">
                <a:solidFill>
                  <a:schemeClr val="accent1"/>
                </a:solidFill>
              </a:rPr>
              <a:t>9 ქულა</a:t>
            </a:r>
            <a:endParaRPr lang="en-US" sz="1600" dirty="0"/>
          </a:p>
        </p:txBody>
      </p:sp>
      <p:sp>
        <p:nvSpPr>
          <p:cNvPr id="18" name="სპრინტი Sprint 3"/>
          <p:cNvSpPr/>
          <p:nvPr/>
        </p:nvSpPr>
        <p:spPr>
          <a:xfrm>
            <a:off x="5349240" y="1645920"/>
            <a:ext cx="1463040" cy="3383280"/>
          </a:xfrm>
          <a:prstGeom prst="roundRect">
            <a:avLst>
              <a:gd name="adj" fmla="val 625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Sprint 3 სახელი"/>
          <p:cNvSpPr txBox="1"/>
          <p:nvPr/>
        </p:nvSpPr>
        <p:spPr>
          <a:xfrm>
            <a:off x="5349240" y="178308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Sprint 3</a:t>
            </a:r>
            <a:endParaRPr lang="en-US" sz="1600" dirty="0"/>
          </a:p>
        </p:txBody>
      </p:sp>
      <p:sp>
        <p:nvSpPr>
          <p:cNvPr id="20" name="Sprint 3 თარიღი"/>
          <p:cNvSpPr txBox="1"/>
          <p:nvPr/>
        </p:nvSpPr>
        <p:spPr>
          <a:xfrm>
            <a:off x="5349240" y="2194560"/>
            <a:ext cx="1463040" cy="548640"/>
          </a:xfrm>
          <a:prstGeom prst="rect">
            <a:avLst/>
          </a:prstGeom>
          <a:noFill/>
          <a:ln/>
        </p:spPr>
        <p:txBody>
          <a:bodyPr wrap="square" lIns="0" tIns="0" rIns="0" bIns="0" rtlCol="0" anchor="ctr"/>
          <a:lstStyle/>
          <a:p>
            <a:pPr algn="ctr" indent="0" marL="0">
              <a:buNone/>
            </a:pPr>
            <a:r>
              <a:rPr lang="en-US" sz="1200" dirty="0">
                <a:solidFill>
                  <a:schemeClr val="tx1"/>
                </a:solidFill>
              </a:rPr>
              <a:t>30 ნოე – 13 დეკ</a:t>
            </a:r>
            <a:endParaRPr lang="en-US" sz="1200" dirty="0"/>
          </a:p>
        </p:txBody>
      </p:sp>
      <p:sp>
        <p:nvSpPr>
          <p:cNvPr id="21" name="Sprint 3 მიზანი"/>
          <p:cNvSpPr txBox="1"/>
          <p:nvPr/>
        </p:nvSpPr>
        <p:spPr>
          <a:xfrm>
            <a:off x="5440680" y="2788920"/>
            <a:ext cx="1280160" cy="1371600"/>
          </a:xfrm>
          <a:prstGeom prst="rect">
            <a:avLst/>
          </a:prstGeom>
          <a:noFill/>
          <a:ln/>
        </p:spPr>
        <p:txBody>
          <a:bodyPr wrap="square" lIns="0" tIns="0" rIns="0" bIns="0" rtlCol="0" anchor="t"/>
          <a:lstStyle/>
          <a:p>
            <a:pPr algn="ctr" indent="0" marL="0">
              <a:buNone/>
            </a:pPr>
            <a:r>
              <a:rPr lang="en-US" sz="1400" dirty="0">
                <a:solidFill>
                  <a:schemeClr val="tx1"/>
                </a:solidFill>
              </a:rPr>
              <a:t>სია ფილტრით, გადანაწილება</a:t>
            </a:r>
            <a:endParaRPr lang="en-US" sz="1400" dirty="0"/>
          </a:p>
        </p:txBody>
      </p:sp>
      <p:sp>
        <p:nvSpPr>
          <p:cNvPr id="22" name="Sprint 3 ქულა"/>
          <p:cNvSpPr txBox="1"/>
          <p:nvPr/>
        </p:nvSpPr>
        <p:spPr>
          <a:xfrm>
            <a:off x="5349240" y="4343400"/>
            <a:ext cx="1463040" cy="457200"/>
          </a:xfrm>
          <a:prstGeom prst="rect">
            <a:avLst/>
          </a:prstGeom>
          <a:noFill/>
          <a:ln/>
        </p:spPr>
        <p:txBody>
          <a:bodyPr wrap="square" lIns="0" tIns="0" rIns="0" bIns="0" rtlCol="0" anchor="ctr"/>
          <a:lstStyle/>
          <a:p>
            <a:pPr algn="ctr" indent="0" marL="0">
              <a:buNone/>
            </a:pPr>
            <a:r>
              <a:rPr lang="en-US" sz="1600" b="1" dirty="0">
                <a:solidFill>
                  <a:schemeClr val="accent1"/>
                </a:solidFill>
              </a:rPr>
              <a:t>8 ქულა</a:t>
            </a:r>
            <a:endParaRPr lang="en-US" sz="1600" dirty="0"/>
          </a:p>
        </p:txBody>
      </p:sp>
      <p:sp>
        <p:nvSpPr>
          <p:cNvPr id="23" name="სპრინტი Sprint 4"/>
          <p:cNvSpPr/>
          <p:nvPr/>
        </p:nvSpPr>
        <p:spPr>
          <a:xfrm>
            <a:off x="6949440" y="1645920"/>
            <a:ext cx="1463040" cy="3383280"/>
          </a:xfrm>
          <a:prstGeom prst="roundRect">
            <a:avLst>
              <a:gd name="adj" fmla="val 6250"/>
            </a:avLst>
          </a:prstGeom>
          <a:solidFill>
            <a:schemeClr val="accent2"/>
          </a:solidFill>
          <a:ln w="12700">
            <a:solidFill>
              <a:schemeClr val="accent2"/>
            </a:solidFill>
            <a:prstDash val="solid"/>
          </a:ln>
          <a:effectLst>
            <a:outerShdw sx="100000" sy="100000" kx="0" ky="0" algn="bl" rotWithShape="0" blurRad="76200" dist="25400" dir="5400000">
              <a:srgbClr val="000000">
                <a:alpha val="12000"/>
              </a:srgbClr>
            </a:outerShdw>
          </a:effectLst>
        </p:spPr>
      </p:sp>
      <p:sp>
        <p:nvSpPr>
          <p:cNvPr id="24" name="Sprint 4 სახელი"/>
          <p:cNvSpPr txBox="1"/>
          <p:nvPr/>
        </p:nvSpPr>
        <p:spPr>
          <a:xfrm>
            <a:off x="6949440" y="1783080"/>
            <a:ext cx="1463040" cy="365760"/>
          </a:xfrm>
          <a:prstGeom prst="rect">
            <a:avLst/>
          </a:prstGeom>
          <a:noFill/>
          <a:ln/>
        </p:spPr>
        <p:txBody>
          <a:bodyPr wrap="square" lIns="0" tIns="0" rIns="0" bIns="0" rtlCol="0" anchor="ctr"/>
          <a:lstStyle/>
          <a:p>
            <a:pPr algn="ctr" indent="0" marL="0">
              <a:buNone/>
            </a:pPr>
            <a:r>
              <a:rPr lang="en-US" sz="1600" b="1" dirty="0">
                <a:solidFill>
                  <a:schemeClr val="tx1"/>
                </a:solidFill>
              </a:rPr>
              <a:t>Sprint 4</a:t>
            </a:r>
            <a:endParaRPr lang="en-US" sz="1600" dirty="0"/>
          </a:p>
        </p:txBody>
      </p:sp>
      <p:sp>
        <p:nvSpPr>
          <p:cNvPr id="25" name="Sprint 4 თარიღი"/>
          <p:cNvSpPr txBox="1"/>
          <p:nvPr/>
        </p:nvSpPr>
        <p:spPr>
          <a:xfrm>
            <a:off x="6949440" y="2194560"/>
            <a:ext cx="1463040" cy="548640"/>
          </a:xfrm>
          <a:prstGeom prst="rect">
            <a:avLst/>
          </a:prstGeom>
          <a:noFill/>
          <a:ln/>
        </p:spPr>
        <p:txBody>
          <a:bodyPr wrap="square" lIns="0" tIns="0" rIns="0" bIns="0" rtlCol="0" anchor="ctr"/>
          <a:lstStyle/>
          <a:p>
            <a:pPr algn="ctr" indent="0" marL="0">
              <a:buNone/>
            </a:pPr>
            <a:r>
              <a:rPr lang="en-US" sz="1200" dirty="0">
                <a:solidFill>
                  <a:schemeClr val="tx1"/>
                </a:solidFill>
              </a:rPr>
              <a:t>14 – 27 დეკ</a:t>
            </a:r>
            <a:endParaRPr lang="en-US" sz="1200" dirty="0"/>
          </a:p>
        </p:txBody>
      </p:sp>
      <p:sp>
        <p:nvSpPr>
          <p:cNvPr id="26" name="Sprint 4 მიზანი"/>
          <p:cNvSpPr txBox="1"/>
          <p:nvPr/>
        </p:nvSpPr>
        <p:spPr>
          <a:xfrm>
            <a:off x="7040880" y="2788920"/>
            <a:ext cx="1280160" cy="1371600"/>
          </a:xfrm>
          <a:prstGeom prst="rect">
            <a:avLst/>
          </a:prstGeom>
          <a:noFill/>
          <a:ln/>
        </p:spPr>
        <p:txBody>
          <a:bodyPr wrap="square" lIns="0" tIns="0" rIns="0" bIns="0" rtlCol="0" anchor="t"/>
          <a:lstStyle/>
          <a:p>
            <a:pPr algn="ctr" indent="0" marL="0">
              <a:buNone/>
            </a:pPr>
            <a:r>
              <a:rPr lang="en-US" sz="1400" dirty="0">
                <a:solidFill>
                  <a:schemeClr val="tx1"/>
                </a:solidFill>
              </a:rPr>
              <a:t>MVP: დასრულება ფოტოთი</a:t>
            </a:r>
            <a:endParaRPr lang="en-US" sz="1400" dirty="0"/>
          </a:p>
        </p:txBody>
      </p:sp>
      <p:sp>
        <p:nvSpPr>
          <p:cNvPr id="27" name="Sprint 4 ქულა"/>
          <p:cNvSpPr txBox="1"/>
          <p:nvPr/>
        </p:nvSpPr>
        <p:spPr>
          <a:xfrm>
            <a:off x="6949440" y="4343400"/>
            <a:ext cx="1463040" cy="457200"/>
          </a:xfrm>
          <a:prstGeom prst="rect">
            <a:avLst/>
          </a:prstGeom>
          <a:noFill/>
          <a:ln/>
        </p:spPr>
        <p:txBody>
          <a:bodyPr wrap="square" lIns="0" tIns="0" rIns="0" bIns="0" rtlCol="0" anchor="ctr"/>
          <a:lstStyle/>
          <a:p>
            <a:pPr algn="ctr" indent="0" marL="0">
              <a:buNone/>
            </a:pPr>
            <a:r>
              <a:rPr lang="en-US" sz="1600" b="1" dirty="0">
                <a:solidFill>
                  <a:schemeClr val="tx1"/>
                </a:solidFill>
              </a:rPr>
              <a:t>8 ქულა</a:t>
            </a:r>
            <a:endParaRPr lang="en-US" sz="1600" dirty="0"/>
          </a:p>
        </p:txBody>
      </p:sp>
      <p:sp>
        <p:nvSpPr>
          <p:cNvPr id="28" name="სპრინტი Sprint 5"/>
          <p:cNvSpPr/>
          <p:nvPr/>
        </p:nvSpPr>
        <p:spPr>
          <a:xfrm>
            <a:off x="8549640" y="1645920"/>
            <a:ext cx="1463040" cy="3383280"/>
          </a:xfrm>
          <a:prstGeom prst="roundRect">
            <a:avLst>
              <a:gd name="adj" fmla="val 625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9" name="Sprint 5 სახელი"/>
          <p:cNvSpPr txBox="1"/>
          <p:nvPr/>
        </p:nvSpPr>
        <p:spPr>
          <a:xfrm>
            <a:off x="8549640" y="178308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Sprint 5</a:t>
            </a:r>
            <a:endParaRPr lang="en-US" sz="1600" dirty="0"/>
          </a:p>
        </p:txBody>
      </p:sp>
      <p:sp>
        <p:nvSpPr>
          <p:cNvPr id="30" name="Sprint 5 თარიღი"/>
          <p:cNvSpPr txBox="1"/>
          <p:nvPr/>
        </p:nvSpPr>
        <p:spPr>
          <a:xfrm>
            <a:off x="8549640" y="2194560"/>
            <a:ext cx="1463040" cy="548640"/>
          </a:xfrm>
          <a:prstGeom prst="rect">
            <a:avLst/>
          </a:prstGeom>
          <a:noFill/>
          <a:ln/>
        </p:spPr>
        <p:txBody>
          <a:bodyPr wrap="square" lIns="0" tIns="0" rIns="0" bIns="0" rtlCol="0" anchor="ctr"/>
          <a:lstStyle/>
          <a:p>
            <a:pPr algn="ctr" indent="0" marL="0">
              <a:buNone/>
            </a:pPr>
            <a:r>
              <a:rPr lang="en-US" sz="1200" dirty="0">
                <a:solidFill>
                  <a:schemeClr val="tx1"/>
                </a:solidFill>
              </a:rPr>
              <a:t>28 დეკ – 10 იან</a:t>
            </a:r>
            <a:endParaRPr lang="en-US" sz="1200" dirty="0"/>
          </a:p>
        </p:txBody>
      </p:sp>
      <p:sp>
        <p:nvSpPr>
          <p:cNvPr id="31" name="Sprint 5 მიზანი"/>
          <p:cNvSpPr txBox="1"/>
          <p:nvPr/>
        </p:nvSpPr>
        <p:spPr>
          <a:xfrm>
            <a:off x="8641080" y="2788920"/>
            <a:ext cx="1280160" cy="1371600"/>
          </a:xfrm>
          <a:prstGeom prst="rect">
            <a:avLst/>
          </a:prstGeom>
          <a:noFill/>
          <a:ln/>
        </p:spPr>
        <p:txBody>
          <a:bodyPr wrap="square" lIns="0" tIns="0" rIns="0" bIns="0" rtlCol="0" anchor="t"/>
          <a:lstStyle/>
          <a:p>
            <a:pPr algn="ctr" indent="0" marL="0">
              <a:buNone/>
            </a:pPr>
            <a:r>
              <a:rPr lang="en-US" sz="1400" dirty="0">
                <a:solidFill>
                  <a:schemeClr val="tx1"/>
                </a:solidFill>
              </a:rPr>
              <a:t>შეტყობინებები, კატეგორიები</a:t>
            </a:r>
            <a:endParaRPr lang="en-US" sz="1400" dirty="0"/>
          </a:p>
        </p:txBody>
      </p:sp>
      <p:sp>
        <p:nvSpPr>
          <p:cNvPr id="32" name="Sprint 5 ქულა"/>
          <p:cNvSpPr txBox="1"/>
          <p:nvPr/>
        </p:nvSpPr>
        <p:spPr>
          <a:xfrm>
            <a:off x="8549640" y="4343400"/>
            <a:ext cx="1463040" cy="457200"/>
          </a:xfrm>
          <a:prstGeom prst="rect">
            <a:avLst/>
          </a:prstGeom>
          <a:noFill/>
          <a:ln/>
        </p:spPr>
        <p:txBody>
          <a:bodyPr wrap="square" lIns="0" tIns="0" rIns="0" bIns="0" rtlCol="0" anchor="ctr"/>
          <a:lstStyle/>
          <a:p>
            <a:pPr algn="ctr" indent="0" marL="0">
              <a:buNone/>
            </a:pPr>
            <a:r>
              <a:rPr lang="en-US" sz="1600" b="1" dirty="0">
                <a:solidFill>
                  <a:schemeClr val="accent1"/>
                </a:solidFill>
              </a:rPr>
              <a:t>9 ქულა</a:t>
            </a:r>
            <a:endParaRPr lang="en-US" sz="1600" dirty="0"/>
          </a:p>
        </p:txBody>
      </p:sp>
      <p:sp>
        <p:nvSpPr>
          <p:cNvPr id="33" name="სპრინტი Sprint 6"/>
          <p:cNvSpPr/>
          <p:nvPr/>
        </p:nvSpPr>
        <p:spPr>
          <a:xfrm>
            <a:off x="10149840" y="1645920"/>
            <a:ext cx="1463040" cy="3383280"/>
          </a:xfrm>
          <a:prstGeom prst="roundRect">
            <a:avLst>
              <a:gd name="adj" fmla="val 625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34" name="Sprint 6 სახელი"/>
          <p:cNvSpPr txBox="1"/>
          <p:nvPr/>
        </p:nvSpPr>
        <p:spPr>
          <a:xfrm>
            <a:off x="10149840" y="178308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Sprint 6</a:t>
            </a:r>
            <a:endParaRPr lang="en-US" sz="1600" dirty="0"/>
          </a:p>
        </p:txBody>
      </p:sp>
      <p:sp>
        <p:nvSpPr>
          <p:cNvPr id="35" name="Sprint 6 თარიღი"/>
          <p:cNvSpPr txBox="1"/>
          <p:nvPr/>
        </p:nvSpPr>
        <p:spPr>
          <a:xfrm>
            <a:off x="10149840" y="2194560"/>
            <a:ext cx="1463040" cy="548640"/>
          </a:xfrm>
          <a:prstGeom prst="rect">
            <a:avLst/>
          </a:prstGeom>
          <a:noFill/>
          <a:ln/>
        </p:spPr>
        <p:txBody>
          <a:bodyPr wrap="square" lIns="0" tIns="0" rIns="0" bIns="0" rtlCol="0" anchor="ctr"/>
          <a:lstStyle/>
          <a:p>
            <a:pPr algn="ctr" indent="0" marL="0">
              <a:buNone/>
            </a:pPr>
            <a:r>
              <a:rPr lang="en-US" sz="1200" dirty="0">
                <a:solidFill>
                  <a:schemeClr val="tx1"/>
                </a:solidFill>
              </a:rPr>
              <a:t>11 – 24 იან</a:t>
            </a:r>
            <a:endParaRPr lang="en-US" sz="1200" dirty="0"/>
          </a:p>
        </p:txBody>
      </p:sp>
      <p:sp>
        <p:nvSpPr>
          <p:cNvPr id="36" name="Sprint 6 მიზანი"/>
          <p:cNvSpPr txBox="1"/>
          <p:nvPr/>
        </p:nvSpPr>
        <p:spPr>
          <a:xfrm>
            <a:off x="10241280" y="2788920"/>
            <a:ext cx="1280160" cy="1371600"/>
          </a:xfrm>
          <a:prstGeom prst="rect">
            <a:avLst/>
          </a:prstGeom>
          <a:noFill/>
          <a:ln/>
        </p:spPr>
        <p:txBody>
          <a:bodyPr wrap="square" lIns="0" tIns="0" rIns="0" bIns="0" rtlCol="0" anchor="t"/>
          <a:lstStyle/>
          <a:p>
            <a:pPr algn="ctr" indent="0" marL="0">
              <a:buNone/>
            </a:pPr>
            <a:r>
              <a:rPr lang="en-US" sz="1400" dirty="0">
                <a:solidFill>
                  <a:schemeClr val="tx1"/>
                </a:solidFill>
              </a:rPr>
              <a:t>საჯარო რუკა, ტესტები, დემო</a:t>
            </a:r>
            <a:endParaRPr lang="en-US" sz="1400" dirty="0"/>
          </a:p>
        </p:txBody>
      </p:sp>
      <p:sp>
        <p:nvSpPr>
          <p:cNvPr id="37" name="Sprint 6 ქულა"/>
          <p:cNvSpPr txBox="1"/>
          <p:nvPr/>
        </p:nvSpPr>
        <p:spPr>
          <a:xfrm>
            <a:off x="10149840" y="4343400"/>
            <a:ext cx="1463040" cy="457200"/>
          </a:xfrm>
          <a:prstGeom prst="rect">
            <a:avLst/>
          </a:prstGeom>
          <a:noFill/>
          <a:ln/>
        </p:spPr>
        <p:txBody>
          <a:bodyPr wrap="square" lIns="0" tIns="0" rIns="0" bIns="0" rtlCol="0" anchor="ctr"/>
          <a:lstStyle/>
          <a:p>
            <a:pPr algn="ctr" indent="0" marL="0">
              <a:buNone/>
            </a:pPr>
            <a:r>
              <a:rPr lang="en-US" sz="1600" b="1" dirty="0">
                <a:solidFill>
                  <a:schemeClr val="accent1"/>
                </a:solidFill>
              </a:rPr>
              <a:t>5 ქულა</a:t>
            </a:r>
            <a:endParaRPr lang="en-US" sz="1600" dirty="0"/>
          </a:p>
        </p:txBody>
      </p:sp>
      <p:sp>
        <p:nvSpPr>
          <p:cNvPr id="38" name="შეჯამება"/>
          <p:cNvSpPr txBox="1"/>
          <p:nvPr/>
        </p:nvSpPr>
        <p:spPr>
          <a:xfrm>
            <a:off x="548640" y="5303520"/>
            <a:ext cx="11064240" cy="822960"/>
          </a:xfrm>
          <a:prstGeom prst="rect">
            <a:avLst/>
          </a:prstGeom>
          <a:noFill/>
          <a:ln/>
        </p:spPr>
        <p:txBody>
          <a:bodyPr wrap="square" lIns="0" tIns="0" rIns="0" bIns="0" rtlCol="0" anchor="ctr"/>
          <a:lstStyle/>
          <a:p>
            <a:pPr indent="0" marL="0">
              <a:buNone/>
            </a:pPr>
            <a:r>
              <a:rPr lang="en-US" sz="1800" dirty="0">
                <a:solidFill>
                  <a:schemeClr val="tx1"/>
                </a:solidFill>
              </a:rPr>
              <a:t>MVP მზადაა 27 დეკემბერს: ყველა Must have story (31 ქულა). Should have story-ები (16 ქულა) სრულდება 24 იანვრამდე.</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lIns="0" tIns="0" rIns="0" bIns="0" rtlCol="0" anchor="ctr"/>
          <a:lstStyle/>
          <a:p>
            <a:pPr indent="0" marL="0">
              <a:buNone/>
            </a:pPr>
            <a:r>
              <a:rPr lang="en-US" sz="3200" b="1" dirty="0">
                <a:solidFill>
                  <a:schemeClr val="tx2"/>
                </a:solidFill>
              </a:rPr>
              <a:t>სპრინტების დატვირთვა ქულებით</a:t>
            </a:r>
            <a:endParaRPr lang="en-US" sz="3200" dirty="0"/>
          </a:p>
        </p:txBody>
      </p:sp>
      <p:graphicFrame>
        <p:nvGraphicFramePr>
          <p:cNvPr id="3" name="Chart 0" descr=""/>
          <p:cNvGraphicFramePr/>
          <p:nvPr/>
        </p:nvGraphicFramePr>
        <p:xfrm>
          <a:off x="548640" y="155448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4" name="მაჩვენებელი დაგეგმილი სიჩქარე სპრინტში"/>
          <p:cNvSpPr/>
          <p:nvPr/>
        </p:nvSpPr>
        <p:spPr>
          <a:xfrm>
            <a:off x="8412480" y="1554480"/>
            <a:ext cx="3200400" cy="1417320"/>
          </a:xfrm>
          <a:prstGeom prst="roundRect">
            <a:avLst>
              <a:gd name="adj" fmla="val 645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რიცხვი დაგეგმილი სიჩქარე სპრინტში"/>
          <p:cNvSpPr txBox="1"/>
          <p:nvPr/>
        </p:nvSpPr>
        <p:spPr>
          <a:xfrm>
            <a:off x="8595360" y="1664208"/>
            <a:ext cx="2834640" cy="685800"/>
          </a:xfrm>
          <a:prstGeom prst="rect">
            <a:avLst/>
          </a:prstGeom>
          <a:noFill/>
          <a:ln/>
        </p:spPr>
        <p:txBody>
          <a:bodyPr wrap="square" lIns="0" tIns="0" rIns="0" bIns="0" rtlCol="0" anchor="ctr"/>
          <a:lstStyle/>
          <a:p>
            <a:pPr indent="0" marL="0">
              <a:buNone/>
            </a:pPr>
            <a:r>
              <a:rPr lang="en-US" sz="4000" b="1" dirty="0">
                <a:solidFill>
                  <a:schemeClr val="accent1"/>
                </a:solidFill>
              </a:rPr>
              <a:t>8–10</a:t>
            </a:r>
            <a:endParaRPr lang="en-US" sz="4000" dirty="0"/>
          </a:p>
        </p:txBody>
      </p:sp>
      <p:sp>
        <p:nvSpPr>
          <p:cNvPr id="6" name="წარწერა დაგეგმილი სიჩქარე სპრინტში"/>
          <p:cNvSpPr txBox="1"/>
          <p:nvPr/>
        </p:nvSpPr>
        <p:spPr>
          <a:xfrm>
            <a:off x="8595360" y="2377440"/>
            <a:ext cx="2834640" cy="457200"/>
          </a:xfrm>
          <a:prstGeom prst="rect">
            <a:avLst/>
          </a:prstGeom>
          <a:noFill/>
          <a:ln/>
        </p:spPr>
        <p:txBody>
          <a:bodyPr wrap="square" lIns="0" tIns="0" rIns="0" bIns="0" rtlCol="0" anchor="ctr"/>
          <a:lstStyle/>
          <a:p>
            <a:pPr indent="0" marL="0">
              <a:buNone/>
            </a:pPr>
            <a:r>
              <a:rPr lang="en-US" sz="1400" dirty="0">
                <a:solidFill>
                  <a:schemeClr val="tx1"/>
                </a:solidFill>
              </a:rPr>
              <a:t>დაგეგმილი სიჩქარე სპრინტში</a:t>
            </a:r>
            <a:endParaRPr lang="en-US" sz="1400" dirty="0"/>
          </a:p>
        </p:txBody>
      </p:sp>
      <p:sp>
        <p:nvSpPr>
          <p:cNvPr id="7" name="მაჩვენებელი Must have: MVP"/>
          <p:cNvSpPr/>
          <p:nvPr/>
        </p:nvSpPr>
        <p:spPr>
          <a:xfrm>
            <a:off x="8412480" y="3108960"/>
            <a:ext cx="3200400" cy="1417320"/>
          </a:xfrm>
          <a:prstGeom prst="roundRect">
            <a:avLst>
              <a:gd name="adj" fmla="val 645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8" name="რიცხვი Must have: MVP"/>
          <p:cNvSpPr txBox="1"/>
          <p:nvPr/>
        </p:nvSpPr>
        <p:spPr>
          <a:xfrm>
            <a:off x="8595360" y="3218688"/>
            <a:ext cx="2834640" cy="685800"/>
          </a:xfrm>
          <a:prstGeom prst="rect">
            <a:avLst/>
          </a:prstGeom>
          <a:noFill/>
          <a:ln/>
        </p:spPr>
        <p:txBody>
          <a:bodyPr wrap="square" lIns="0" tIns="0" rIns="0" bIns="0" rtlCol="0" anchor="ctr"/>
          <a:lstStyle/>
          <a:p>
            <a:pPr indent="0" marL="0">
              <a:buNone/>
            </a:pPr>
            <a:r>
              <a:rPr lang="en-US" sz="4000" b="1" dirty="0">
                <a:solidFill>
                  <a:schemeClr val="accent1"/>
                </a:solidFill>
              </a:rPr>
              <a:t>31</a:t>
            </a:r>
            <a:endParaRPr lang="en-US" sz="4000" dirty="0"/>
          </a:p>
        </p:txBody>
      </p:sp>
      <p:sp>
        <p:nvSpPr>
          <p:cNvPr id="9" name="წარწერა Must have: MVP"/>
          <p:cNvSpPr txBox="1"/>
          <p:nvPr/>
        </p:nvSpPr>
        <p:spPr>
          <a:xfrm>
            <a:off x="8595360" y="3931920"/>
            <a:ext cx="2834640" cy="457200"/>
          </a:xfrm>
          <a:prstGeom prst="rect">
            <a:avLst/>
          </a:prstGeom>
          <a:noFill/>
          <a:ln/>
        </p:spPr>
        <p:txBody>
          <a:bodyPr wrap="square" lIns="0" tIns="0" rIns="0" bIns="0" rtlCol="0" anchor="ctr"/>
          <a:lstStyle/>
          <a:p>
            <a:pPr indent="0" marL="0">
              <a:buNone/>
            </a:pPr>
            <a:r>
              <a:rPr lang="en-US" sz="1400" dirty="0">
                <a:solidFill>
                  <a:schemeClr val="tx1"/>
                </a:solidFill>
              </a:rPr>
              <a:t>Must have: MVP</a:t>
            </a:r>
            <a:endParaRPr lang="en-US" sz="1400" dirty="0"/>
          </a:p>
        </p:txBody>
      </p:sp>
      <p:sp>
        <p:nvSpPr>
          <p:cNvPr id="10" name="მაჩვენებელი Should have"/>
          <p:cNvSpPr/>
          <p:nvPr/>
        </p:nvSpPr>
        <p:spPr>
          <a:xfrm>
            <a:off x="8412480" y="4663440"/>
            <a:ext cx="3200400" cy="1417320"/>
          </a:xfrm>
          <a:prstGeom prst="roundRect">
            <a:avLst>
              <a:gd name="adj" fmla="val 645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 name="რიცხვი Should have"/>
          <p:cNvSpPr txBox="1"/>
          <p:nvPr/>
        </p:nvSpPr>
        <p:spPr>
          <a:xfrm>
            <a:off x="8595360" y="4773168"/>
            <a:ext cx="2834640" cy="685800"/>
          </a:xfrm>
          <a:prstGeom prst="rect">
            <a:avLst/>
          </a:prstGeom>
          <a:noFill/>
          <a:ln/>
        </p:spPr>
        <p:txBody>
          <a:bodyPr wrap="square" lIns="0" tIns="0" rIns="0" bIns="0" rtlCol="0" anchor="ctr"/>
          <a:lstStyle/>
          <a:p>
            <a:pPr indent="0" marL="0">
              <a:buNone/>
            </a:pPr>
            <a:r>
              <a:rPr lang="en-US" sz="4000" b="1" dirty="0">
                <a:solidFill>
                  <a:schemeClr val="accent1"/>
                </a:solidFill>
              </a:rPr>
              <a:t>16</a:t>
            </a:r>
            <a:endParaRPr lang="en-US" sz="4000" dirty="0"/>
          </a:p>
        </p:txBody>
      </p:sp>
      <p:sp>
        <p:nvSpPr>
          <p:cNvPr id="12" name="წარწერა Should have"/>
          <p:cNvSpPr txBox="1"/>
          <p:nvPr/>
        </p:nvSpPr>
        <p:spPr>
          <a:xfrm>
            <a:off x="8595360" y="5486400"/>
            <a:ext cx="2834640" cy="457200"/>
          </a:xfrm>
          <a:prstGeom prst="rect">
            <a:avLst/>
          </a:prstGeom>
          <a:noFill/>
          <a:ln/>
        </p:spPr>
        <p:txBody>
          <a:bodyPr wrap="square" lIns="0" tIns="0" rIns="0" bIns="0" rtlCol="0" anchor="ctr"/>
          <a:lstStyle/>
          <a:p>
            <a:pPr indent="0" marL="0">
              <a:buNone/>
            </a:pPr>
            <a:r>
              <a:rPr lang="en-US" sz="1400" dirty="0">
                <a:solidFill>
                  <a:schemeClr val="tx1"/>
                </a:solidFill>
              </a:rPr>
              <a:t>Should have</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lIns="0" tIns="0" rIns="0" bIns="0" rtlCol="0" anchor="ctr"/>
          <a:lstStyle/>
          <a:p>
            <a:pPr indent="0" marL="0">
              <a:buNone/>
            </a:pPr>
            <a:r>
              <a:rPr lang="en-US" sz="3200" b="1" dirty="0">
                <a:solidFill>
                  <a:schemeClr val="tx2"/>
                </a:solidFill>
              </a:rPr>
              <a:t>სტილი: MVC + ფენოვანი მონოლითი</a:t>
            </a:r>
            <a:endParaRPr lang="en-US" sz="3200" dirty="0"/>
          </a:p>
        </p:txBody>
      </p:sp>
      <p:sp>
        <p:nvSpPr>
          <p:cNvPr id="3" name="ფენა 1 ფონი"/>
          <p:cNvSpPr/>
          <p:nvPr/>
        </p:nvSpPr>
        <p:spPr>
          <a:xfrm>
            <a:off x="548640" y="1645920"/>
            <a:ext cx="5669280" cy="777240"/>
          </a:xfrm>
          <a:prstGeom prst="roundRect">
            <a:avLst>
              <a:gd name="adj" fmla="val 9412"/>
            </a:avLst>
          </a:prstGeom>
          <a:solidFill>
            <a:schemeClr val="accent1"/>
          </a:solidFill>
          <a:ln w="12700">
            <a:solidFill>
              <a:schemeClr val="accent1"/>
            </a:solidFill>
            <a:prstDash val="solid"/>
          </a:ln>
        </p:spPr>
      </p:sp>
      <p:sp>
        <p:nvSpPr>
          <p:cNvPr id="4" name="ფენა 1"/>
          <p:cNvSpPr txBox="1"/>
          <p:nvPr/>
        </p:nvSpPr>
        <p:spPr>
          <a:xfrm>
            <a:off x="548640" y="1645920"/>
            <a:ext cx="5669280" cy="777240"/>
          </a:xfrm>
          <a:prstGeom prst="rect">
            <a:avLst/>
          </a:prstGeom>
          <a:noFill/>
          <a:ln/>
        </p:spPr>
        <p:txBody>
          <a:bodyPr wrap="square" lIns="762" tIns="762" rIns="762" bIns="762" rtlCol="0" anchor="ctr"/>
          <a:lstStyle/>
          <a:p>
            <a:pPr algn="ctr" indent="0" marL="0">
              <a:buNone/>
            </a:pPr>
            <a:r>
              <a:rPr lang="en-US" sz="1600" b="1" dirty="0">
                <a:solidFill>
                  <a:srgbClr val="FFFFFF"/>
                </a:solidFill>
              </a:rPr>
              <a:t>View: Razor + Leaflet რუკა</a:t>
            </a:r>
            <a:endParaRPr lang="en-US" sz="1600" dirty="0"/>
          </a:p>
        </p:txBody>
      </p:sp>
      <p:sp>
        <p:nvSpPr>
          <p:cNvPr id="5" name="ისარი ფენებს შორის 1"/>
          <p:cNvSpPr/>
          <p:nvPr/>
        </p:nvSpPr>
        <p:spPr>
          <a:xfrm>
            <a:off x="3383280" y="2423160"/>
            <a:ext cx="0" cy="137160"/>
          </a:xfrm>
          <a:prstGeom prst="line">
            <a:avLst/>
          </a:prstGeom>
          <a:noFill/>
          <a:ln w="25400">
            <a:solidFill>
              <a:schemeClr val="accent6"/>
            </a:solidFill>
            <a:prstDash val="solid"/>
            <a:tailEnd type="triangle"/>
          </a:ln>
        </p:spPr>
      </p:sp>
      <p:sp>
        <p:nvSpPr>
          <p:cNvPr id="6" name="ფენა 2 ფონი"/>
          <p:cNvSpPr/>
          <p:nvPr/>
        </p:nvSpPr>
        <p:spPr>
          <a:xfrm>
            <a:off x="548640" y="2560320"/>
            <a:ext cx="5669280" cy="777240"/>
          </a:xfrm>
          <a:prstGeom prst="roundRect">
            <a:avLst>
              <a:gd name="adj" fmla="val 9412"/>
            </a:avLst>
          </a:prstGeom>
          <a:solidFill>
            <a:schemeClr val="accent4"/>
          </a:solidFill>
          <a:ln w="12700">
            <a:solidFill>
              <a:schemeClr val="accent4"/>
            </a:solidFill>
            <a:prstDash val="solid"/>
          </a:ln>
        </p:spPr>
      </p:sp>
      <p:sp>
        <p:nvSpPr>
          <p:cNvPr id="7" name="ფენა 2"/>
          <p:cNvSpPr txBox="1"/>
          <p:nvPr/>
        </p:nvSpPr>
        <p:spPr>
          <a:xfrm>
            <a:off x="548640" y="2560320"/>
            <a:ext cx="5669280" cy="777240"/>
          </a:xfrm>
          <a:prstGeom prst="rect">
            <a:avLst/>
          </a:prstGeom>
          <a:noFill/>
          <a:ln/>
        </p:spPr>
        <p:txBody>
          <a:bodyPr wrap="square" lIns="762" tIns="762" rIns="762" bIns="762" rtlCol="0" anchor="ctr"/>
          <a:lstStyle/>
          <a:p>
            <a:pPr algn="ctr" indent="0" marL="0">
              <a:buNone/>
            </a:pPr>
            <a:r>
              <a:rPr lang="en-US" sz="1600" b="1" dirty="0">
                <a:solidFill>
                  <a:srgbClr val="FFFFFF"/>
                </a:solidFill>
              </a:rPr>
              <a:t>Controller: Account, Reports, Manage, Tasks, Admin</a:t>
            </a:r>
            <a:endParaRPr lang="en-US" sz="1600" dirty="0"/>
          </a:p>
        </p:txBody>
      </p:sp>
      <p:sp>
        <p:nvSpPr>
          <p:cNvPr id="8" name="ისარი ფენებს შორის 2"/>
          <p:cNvSpPr/>
          <p:nvPr/>
        </p:nvSpPr>
        <p:spPr>
          <a:xfrm>
            <a:off x="3383280" y="3337560"/>
            <a:ext cx="0" cy="137160"/>
          </a:xfrm>
          <a:prstGeom prst="line">
            <a:avLst/>
          </a:prstGeom>
          <a:noFill/>
          <a:ln w="25400">
            <a:solidFill>
              <a:schemeClr val="accent6"/>
            </a:solidFill>
            <a:prstDash val="solid"/>
            <a:tailEnd type="triangle"/>
          </a:ln>
        </p:spPr>
      </p:sp>
      <p:sp>
        <p:nvSpPr>
          <p:cNvPr id="9" name="ფენა 3 ფონი"/>
          <p:cNvSpPr/>
          <p:nvPr/>
        </p:nvSpPr>
        <p:spPr>
          <a:xfrm>
            <a:off x="548640" y="3474720"/>
            <a:ext cx="5669280" cy="777240"/>
          </a:xfrm>
          <a:prstGeom prst="roundRect">
            <a:avLst>
              <a:gd name="adj" fmla="val 9412"/>
            </a:avLst>
          </a:prstGeom>
          <a:solidFill>
            <a:schemeClr val="accent5"/>
          </a:solidFill>
          <a:ln w="12700">
            <a:solidFill>
              <a:schemeClr val="accent5"/>
            </a:solidFill>
            <a:prstDash val="solid"/>
          </a:ln>
        </p:spPr>
      </p:sp>
      <p:sp>
        <p:nvSpPr>
          <p:cNvPr id="10" name="ფენა 3"/>
          <p:cNvSpPr txBox="1"/>
          <p:nvPr/>
        </p:nvSpPr>
        <p:spPr>
          <a:xfrm>
            <a:off x="548640" y="3474720"/>
            <a:ext cx="5669280" cy="777240"/>
          </a:xfrm>
          <a:prstGeom prst="rect">
            <a:avLst/>
          </a:prstGeom>
          <a:noFill/>
          <a:ln/>
        </p:spPr>
        <p:txBody>
          <a:bodyPr wrap="square" lIns="762" tIns="762" rIns="762" bIns="762" rtlCol="0" anchor="ctr"/>
          <a:lstStyle/>
          <a:p>
            <a:pPr algn="ctr" indent="0" marL="0">
              <a:buNone/>
            </a:pPr>
            <a:r>
              <a:rPr lang="en-US" sz="1600" b="1" dirty="0">
                <a:solidFill>
                  <a:srgbClr val="14262B"/>
                </a:solidFill>
              </a:rPr>
              <a:t>Service: ბიზნეს-ლოგიკა, სტატუსის წესები</a:t>
            </a:r>
            <a:endParaRPr lang="en-US" sz="1600" dirty="0"/>
          </a:p>
        </p:txBody>
      </p:sp>
      <p:sp>
        <p:nvSpPr>
          <p:cNvPr id="11" name="ისარი ფენებს შორის 3"/>
          <p:cNvSpPr/>
          <p:nvPr/>
        </p:nvSpPr>
        <p:spPr>
          <a:xfrm>
            <a:off x="3383280" y="4251960"/>
            <a:ext cx="0" cy="137160"/>
          </a:xfrm>
          <a:prstGeom prst="line">
            <a:avLst/>
          </a:prstGeom>
          <a:noFill/>
          <a:ln w="25400">
            <a:solidFill>
              <a:schemeClr val="accent6"/>
            </a:solidFill>
            <a:prstDash val="solid"/>
            <a:tailEnd type="triangle"/>
          </a:ln>
        </p:spPr>
      </p:sp>
      <p:sp>
        <p:nvSpPr>
          <p:cNvPr id="12" name="ფენა 4 ფონი"/>
          <p:cNvSpPr/>
          <p:nvPr/>
        </p:nvSpPr>
        <p:spPr>
          <a:xfrm>
            <a:off x="548640" y="4389120"/>
            <a:ext cx="5669280" cy="777240"/>
          </a:xfrm>
          <a:prstGeom prst="roundRect">
            <a:avLst>
              <a:gd name="adj" fmla="val 9412"/>
            </a:avLst>
          </a:prstGeom>
          <a:solidFill>
            <a:schemeClr val="accent2"/>
          </a:solidFill>
          <a:ln w="12700">
            <a:solidFill>
              <a:schemeClr val="accent2"/>
            </a:solidFill>
            <a:prstDash val="solid"/>
          </a:ln>
        </p:spPr>
      </p:sp>
      <p:sp>
        <p:nvSpPr>
          <p:cNvPr id="13" name="ფენა 4"/>
          <p:cNvSpPr txBox="1"/>
          <p:nvPr/>
        </p:nvSpPr>
        <p:spPr>
          <a:xfrm>
            <a:off x="548640" y="4389120"/>
            <a:ext cx="5669280" cy="777240"/>
          </a:xfrm>
          <a:prstGeom prst="rect">
            <a:avLst/>
          </a:prstGeom>
          <a:noFill/>
          <a:ln/>
        </p:spPr>
        <p:txBody>
          <a:bodyPr wrap="square" lIns="762" tIns="762" rIns="762" bIns="762" rtlCol="0" anchor="ctr"/>
          <a:lstStyle/>
          <a:p>
            <a:pPr algn="ctr" indent="0" marL="0">
              <a:buNone/>
            </a:pPr>
            <a:r>
              <a:rPr lang="en-US" sz="1600" b="1" dirty="0">
                <a:solidFill>
                  <a:srgbClr val="14262B"/>
                </a:solidFill>
              </a:rPr>
              <a:t>Repository: EF Core</a:t>
            </a:r>
            <a:endParaRPr lang="en-US" sz="1600" dirty="0"/>
          </a:p>
        </p:txBody>
      </p:sp>
      <p:sp>
        <p:nvSpPr>
          <p:cNvPr id="14" name="ისარი ფენებს შორის 4"/>
          <p:cNvSpPr/>
          <p:nvPr/>
        </p:nvSpPr>
        <p:spPr>
          <a:xfrm>
            <a:off x="3383280" y="5166360"/>
            <a:ext cx="0" cy="137160"/>
          </a:xfrm>
          <a:prstGeom prst="line">
            <a:avLst/>
          </a:prstGeom>
          <a:noFill/>
          <a:ln w="25400">
            <a:solidFill>
              <a:schemeClr val="accent6"/>
            </a:solidFill>
            <a:prstDash val="solid"/>
            <a:tailEnd type="triangle"/>
          </a:ln>
        </p:spPr>
      </p:sp>
      <p:sp>
        <p:nvSpPr>
          <p:cNvPr id="15" name="ფენა 5 ფონი"/>
          <p:cNvSpPr/>
          <p:nvPr/>
        </p:nvSpPr>
        <p:spPr>
          <a:xfrm>
            <a:off x="548640" y="5303520"/>
            <a:ext cx="5669280" cy="777240"/>
          </a:xfrm>
          <a:prstGeom prst="roundRect">
            <a:avLst>
              <a:gd name="adj" fmla="val 9412"/>
            </a:avLst>
          </a:prstGeom>
          <a:solidFill>
            <a:schemeClr val="tx2"/>
          </a:solidFill>
          <a:ln w="12700">
            <a:solidFill>
              <a:schemeClr val="tx2"/>
            </a:solidFill>
            <a:prstDash val="solid"/>
          </a:ln>
        </p:spPr>
      </p:sp>
      <p:sp>
        <p:nvSpPr>
          <p:cNvPr id="16" name="ფენა 5"/>
          <p:cNvSpPr txBox="1"/>
          <p:nvPr/>
        </p:nvSpPr>
        <p:spPr>
          <a:xfrm>
            <a:off x="548640" y="5303520"/>
            <a:ext cx="5669280" cy="777240"/>
          </a:xfrm>
          <a:prstGeom prst="rect">
            <a:avLst/>
          </a:prstGeom>
          <a:noFill/>
          <a:ln/>
        </p:spPr>
        <p:txBody>
          <a:bodyPr wrap="square" lIns="762" tIns="762" rIns="762" bIns="762" rtlCol="0" anchor="ctr"/>
          <a:lstStyle/>
          <a:p>
            <a:pPr algn="ctr" indent="0" marL="0">
              <a:buNone/>
            </a:pPr>
            <a:r>
              <a:rPr lang="en-US" sz="1600" b="1" dirty="0">
                <a:solidFill>
                  <a:srgbClr val="FFFFFF"/>
                </a:solidFill>
              </a:rPr>
              <a:t>PostgreSQL + ფოტოების საცავი</a:t>
            </a:r>
            <a:endParaRPr lang="en-US" sz="1600" dirty="0"/>
          </a:p>
        </p:txBody>
      </p:sp>
      <p:sp>
        <p:nvSpPr>
          <p:cNvPr id="17" name="მიზეზი ერთი პროექტი"/>
          <p:cNvSpPr/>
          <p:nvPr/>
        </p:nvSpPr>
        <p:spPr>
          <a:xfrm>
            <a:off x="6675120" y="1645920"/>
            <a:ext cx="4937760" cy="1371600"/>
          </a:xfrm>
          <a:prstGeom prst="roundRect">
            <a:avLst>
              <a:gd name="adj" fmla="val 666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8" name="მიზეზის სათაური ერთი პროექტი"/>
          <p:cNvSpPr txBox="1"/>
          <p:nvPr/>
        </p:nvSpPr>
        <p:spPr>
          <a:xfrm>
            <a:off x="6903720" y="1755648"/>
            <a:ext cx="4480560" cy="411480"/>
          </a:xfrm>
          <a:prstGeom prst="rect">
            <a:avLst/>
          </a:prstGeom>
          <a:noFill/>
          <a:ln/>
        </p:spPr>
        <p:txBody>
          <a:bodyPr wrap="square" lIns="0" tIns="0" rIns="0" bIns="0" rtlCol="0" anchor="ctr"/>
          <a:lstStyle/>
          <a:p>
            <a:pPr indent="0" marL="0">
              <a:buNone/>
            </a:pPr>
            <a:r>
              <a:rPr lang="en-US" sz="1800" b="1" dirty="0">
                <a:solidFill>
                  <a:schemeClr val="tx2"/>
                </a:solidFill>
              </a:rPr>
              <a:t>ერთი პროექტი</a:t>
            </a:r>
            <a:endParaRPr lang="en-US" sz="1800" dirty="0"/>
          </a:p>
        </p:txBody>
      </p:sp>
      <p:sp>
        <p:nvSpPr>
          <p:cNvPr id="19" name="მიზეზის ტექსტი ერთი პროექტი"/>
          <p:cNvSpPr txBox="1"/>
          <p:nvPr/>
        </p:nvSpPr>
        <p:spPr>
          <a:xfrm>
            <a:off x="6903720" y="2194560"/>
            <a:ext cx="4480560" cy="731520"/>
          </a:xfrm>
          <a:prstGeom prst="rect">
            <a:avLst/>
          </a:prstGeom>
          <a:noFill/>
          <a:ln/>
        </p:spPr>
        <p:txBody>
          <a:bodyPr wrap="square" lIns="0" tIns="0" rIns="0" bIns="0" rtlCol="0" anchor="t"/>
          <a:lstStyle/>
          <a:p>
            <a:pPr indent="0" marL="0">
              <a:buNone/>
            </a:pPr>
            <a:r>
              <a:rPr lang="en-US" sz="1400" dirty="0">
                <a:solidFill>
                  <a:schemeClr val="tx1"/>
                </a:solidFill>
              </a:rPr>
              <a:t>UI და backend ერთად: ერთი deploy, ჩაშენებული Identity, ვალიდაცია და CSRF დაცვა.</a:t>
            </a:r>
            <a:endParaRPr lang="en-US" sz="1400" dirty="0"/>
          </a:p>
        </p:txBody>
      </p:sp>
      <p:sp>
        <p:nvSpPr>
          <p:cNvPr id="20" name="მიზეზი ფორმები და სიები"/>
          <p:cNvSpPr/>
          <p:nvPr/>
        </p:nvSpPr>
        <p:spPr>
          <a:xfrm>
            <a:off x="6675120" y="3154680"/>
            <a:ext cx="4937760" cy="1371600"/>
          </a:xfrm>
          <a:prstGeom prst="roundRect">
            <a:avLst>
              <a:gd name="adj" fmla="val 666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1" name="მიზეზის სათაური ფორმები და სიები"/>
          <p:cNvSpPr txBox="1"/>
          <p:nvPr/>
        </p:nvSpPr>
        <p:spPr>
          <a:xfrm>
            <a:off x="6903720" y="3264408"/>
            <a:ext cx="4480560" cy="411480"/>
          </a:xfrm>
          <a:prstGeom prst="rect">
            <a:avLst/>
          </a:prstGeom>
          <a:noFill/>
          <a:ln/>
        </p:spPr>
        <p:txBody>
          <a:bodyPr wrap="square" lIns="0" tIns="0" rIns="0" bIns="0" rtlCol="0" anchor="ctr"/>
          <a:lstStyle/>
          <a:p>
            <a:pPr indent="0" marL="0">
              <a:buNone/>
            </a:pPr>
            <a:r>
              <a:rPr lang="en-US" sz="1800" b="1" dirty="0">
                <a:solidFill>
                  <a:schemeClr val="tx2"/>
                </a:solidFill>
              </a:rPr>
              <a:t>ფორმები და სიები</a:t>
            </a:r>
            <a:endParaRPr lang="en-US" sz="1800" dirty="0"/>
          </a:p>
        </p:txBody>
      </p:sp>
      <p:sp>
        <p:nvSpPr>
          <p:cNvPr id="22" name="მიზეზის ტექსტი ფორმები და სიები"/>
          <p:cNvSpPr txBox="1"/>
          <p:nvPr/>
        </p:nvSpPr>
        <p:spPr>
          <a:xfrm>
            <a:off x="6903720" y="3703320"/>
            <a:ext cx="4480560" cy="731520"/>
          </a:xfrm>
          <a:prstGeom prst="rect">
            <a:avLst/>
          </a:prstGeom>
          <a:noFill/>
          <a:ln/>
        </p:spPr>
        <p:txBody>
          <a:bodyPr wrap="square" lIns="0" tIns="0" rIns="0" bIns="0" rtlCol="0" anchor="t"/>
          <a:lstStyle/>
          <a:p>
            <a:pPr indent="0" marL="0">
              <a:buNone/>
            </a:pPr>
            <a:r>
              <a:rPr lang="en-US" sz="1400" dirty="0">
                <a:solidFill>
                  <a:schemeClr val="tx1"/>
                </a:solidFill>
              </a:rPr>
              <a:t>ჩვენი ინტერფეისი ძირითადად CRUD-ია; ინტერაქტიულია მხოლოდ რუკა.</a:t>
            </a:r>
            <a:endParaRPr lang="en-US" sz="1400" dirty="0"/>
          </a:p>
        </p:txBody>
      </p:sp>
      <p:sp>
        <p:nvSpPr>
          <p:cNvPr id="23" name="მიზეზი გამიჯნული პასუხისმგებლობა"/>
          <p:cNvSpPr/>
          <p:nvPr/>
        </p:nvSpPr>
        <p:spPr>
          <a:xfrm>
            <a:off x="6675120" y="4663440"/>
            <a:ext cx="4937760" cy="1371600"/>
          </a:xfrm>
          <a:prstGeom prst="roundRect">
            <a:avLst>
              <a:gd name="adj" fmla="val 666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მიზეზის სათაური გამიჯნული პასუხისმგებლობა"/>
          <p:cNvSpPr txBox="1"/>
          <p:nvPr/>
        </p:nvSpPr>
        <p:spPr>
          <a:xfrm>
            <a:off x="6903720" y="4773168"/>
            <a:ext cx="4480560" cy="411480"/>
          </a:xfrm>
          <a:prstGeom prst="rect">
            <a:avLst/>
          </a:prstGeom>
          <a:noFill/>
          <a:ln/>
        </p:spPr>
        <p:txBody>
          <a:bodyPr wrap="square" lIns="0" tIns="0" rIns="0" bIns="0" rtlCol="0" anchor="ctr"/>
          <a:lstStyle/>
          <a:p>
            <a:pPr indent="0" marL="0">
              <a:buNone/>
            </a:pPr>
            <a:r>
              <a:rPr lang="en-US" sz="1800" b="1" dirty="0">
                <a:solidFill>
                  <a:schemeClr val="tx2"/>
                </a:solidFill>
              </a:rPr>
              <a:t>გამიჯნული პასუხისმგებლობა</a:t>
            </a:r>
            <a:endParaRPr lang="en-US" sz="1800" dirty="0"/>
          </a:p>
        </p:txBody>
      </p:sp>
      <p:sp>
        <p:nvSpPr>
          <p:cNvPr id="25" name="მიზეზის ტექსტი გამიჯნული პასუხისმგებლობა"/>
          <p:cNvSpPr txBox="1"/>
          <p:nvPr/>
        </p:nvSpPr>
        <p:spPr>
          <a:xfrm>
            <a:off x="6903720" y="5212080"/>
            <a:ext cx="4480560" cy="731520"/>
          </a:xfrm>
          <a:prstGeom prst="rect">
            <a:avLst/>
          </a:prstGeom>
          <a:noFill/>
          <a:ln/>
        </p:spPr>
        <p:txBody>
          <a:bodyPr wrap="square" lIns="0" tIns="0" rIns="0" bIns="0" rtlCol="0" anchor="t"/>
          <a:lstStyle/>
          <a:p>
            <a:pPr indent="0" marL="0">
              <a:buNone/>
            </a:pPr>
            <a:r>
              <a:rPr lang="en-US" sz="1400" dirty="0">
                <a:solidFill>
                  <a:schemeClr val="tx1"/>
                </a:solidFill>
              </a:rPr>
              <a:t>სერვისები Controller-ის გარეშე იტესტება (DoD: ≥ 70% დაფარვა).</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lIns="0" tIns="0" rIns="0" bIns="0" rtlCol="0" anchor="ctr"/>
          <a:lstStyle/>
          <a:p>
            <a:pPr indent="0" marL="0">
              <a:buNone/>
            </a:pPr>
            <a:r>
              <a:rPr lang="en-US" sz="3200" b="1" dirty="0">
                <a:solidFill>
                  <a:schemeClr val="tx2"/>
                </a:solidFill>
              </a:rPr>
              <a:t>კომპონენტები MVP-ში</a:t>
            </a:r>
            <a:endParaRPr lang="en-US" sz="3200" dirty="0"/>
          </a:p>
        </p:txBody>
      </p:sp>
      <p:sp>
        <p:nvSpPr>
          <p:cNvPr id="3" name="ბრაუზერი ფონი"/>
          <p:cNvSpPr/>
          <p:nvPr/>
        </p:nvSpPr>
        <p:spPr>
          <a:xfrm>
            <a:off x="548640" y="3017520"/>
            <a:ext cx="2011680" cy="1371600"/>
          </a:xfrm>
          <a:prstGeom prst="roundRect">
            <a:avLst>
              <a:gd name="adj" fmla="val 5333"/>
            </a:avLst>
          </a:prstGeom>
          <a:solidFill>
            <a:schemeClr val="bg2"/>
          </a:solidFill>
          <a:ln w="12700">
            <a:solidFill>
              <a:schemeClr val="bg2"/>
            </a:solidFill>
            <a:prstDash val="solid"/>
          </a:ln>
        </p:spPr>
      </p:sp>
      <p:sp>
        <p:nvSpPr>
          <p:cNvPr id="4" name="ბრაუზერი"/>
          <p:cNvSpPr txBox="1"/>
          <p:nvPr/>
        </p:nvSpPr>
        <p:spPr>
          <a:xfrm>
            <a:off x="548640" y="3017520"/>
            <a:ext cx="2011680" cy="1371600"/>
          </a:xfrm>
          <a:prstGeom prst="rect">
            <a:avLst/>
          </a:prstGeom>
          <a:noFill/>
          <a:ln/>
        </p:spPr>
        <p:txBody>
          <a:bodyPr wrap="square" lIns="762" tIns="762" rIns="762" bIns="762" rtlCol="0" anchor="ctr"/>
          <a:lstStyle/>
          <a:p>
            <a:pPr algn="ctr" indent="0" marL="0">
              <a:buNone/>
            </a:pPr>
            <a:r>
              <a:rPr lang="en-US" sz="1400" b="1" dirty="0">
                <a:solidFill>
                  <a:schemeClr val="tx1"/>
                </a:solidFill>
              </a:rPr>
              <a:t>ბრაუზერი / ტელეფონი (PWA-ს გარეშე, რესპონსიული)</a:t>
            </a:r>
            <a:endParaRPr lang="en-US" sz="1400" dirty="0"/>
          </a:p>
        </p:txBody>
      </p:sp>
      <p:sp>
        <p:nvSpPr>
          <p:cNvPr id="5" name="აპლიკაციის ფონი ფონი"/>
          <p:cNvSpPr/>
          <p:nvPr/>
        </p:nvSpPr>
        <p:spPr>
          <a:xfrm>
            <a:off x="3657600" y="1645920"/>
            <a:ext cx="4754880" cy="4114800"/>
          </a:xfrm>
          <a:prstGeom prst="roundRect">
            <a:avLst>
              <a:gd name="adj" fmla="val 1778"/>
            </a:avLst>
          </a:prstGeom>
          <a:solidFill>
            <a:schemeClr val="bg2"/>
          </a:solidFill>
          <a:ln w="19050">
            <a:solidFill>
              <a:schemeClr val="accent1"/>
            </a:solidFill>
            <a:prstDash val="solid"/>
          </a:ln>
        </p:spPr>
      </p:sp>
      <p:sp>
        <p:nvSpPr>
          <p:cNvPr id="6" name="აპლიკაციის ფონი"/>
          <p:cNvSpPr txBox="1"/>
          <p:nvPr/>
        </p:nvSpPr>
        <p:spPr>
          <a:xfrm>
            <a:off x="3657600" y="1645920"/>
            <a:ext cx="4754880" cy="4114800"/>
          </a:xfrm>
          <a:prstGeom prst="rect">
            <a:avLst/>
          </a:prstGeom>
          <a:noFill/>
          <a:ln/>
        </p:spPr>
        <p:txBody>
          <a:bodyPr wrap="square" lIns="762" tIns="762" rIns="762" bIns="762" rtlCol="0" anchor="ctr"/>
          <a:lstStyle/>
          <a:p>
            <a:pPr algn="ctr" indent="0" marL="0">
              <a:buNone/>
            </a:pPr>
            <a:endParaRPr lang="en-US" sz="1400" dirty="0"/>
          </a:p>
        </p:txBody>
      </p:sp>
      <p:sp>
        <p:nvSpPr>
          <p:cNvPr id="7" name="აპლიკაციის სათაური"/>
          <p:cNvSpPr txBox="1"/>
          <p:nvPr/>
        </p:nvSpPr>
        <p:spPr>
          <a:xfrm>
            <a:off x="3840480" y="1737360"/>
            <a:ext cx="4389120" cy="457200"/>
          </a:xfrm>
          <a:prstGeom prst="rect">
            <a:avLst/>
          </a:prstGeom>
          <a:noFill/>
          <a:ln/>
        </p:spPr>
        <p:txBody>
          <a:bodyPr wrap="square" lIns="0" tIns="0" rIns="0" bIns="0" rtlCol="0" anchor="ctr"/>
          <a:lstStyle/>
          <a:p>
            <a:pPr indent="0" marL="0">
              <a:buNone/>
            </a:pPr>
            <a:r>
              <a:rPr lang="en-US" sz="1600" b="1" dirty="0">
                <a:solidFill>
                  <a:schemeClr val="tx2"/>
                </a:solidFill>
              </a:rPr>
              <a:t>ASP.NET Core MVC აპლიკაცია</a:t>
            </a:r>
            <a:endParaRPr lang="en-US" sz="1600" dirty="0"/>
          </a:p>
        </p:txBody>
      </p:sp>
      <p:sp>
        <p:nvSpPr>
          <p:cNvPr id="8" name="Controllers ფონი"/>
          <p:cNvSpPr/>
          <p:nvPr/>
        </p:nvSpPr>
        <p:spPr>
          <a:xfrm>
            <a:off x="3886200" y="2331720"/>
            <a:ext cx="2011680" cy="822960"/>
          </a:xfrm>
          <a:prstGeom prst="roundRect">
            <a:avLst>
              <a:gd name="adj" fmla="val 8889"/>
            </a:avLst>
          </a:prstGeom>
          <a:solidFill>
            <a:schemeClr val="accent1"/>
          </a:solidFill>
          <a:ln w="12700">
            <a:solidFill>
              <a:schemeClr val="accent1"/>
            </a:solidFill>
            <a:prstDash val="solid"/>
          </a:ln>
        </p:spPr>
      </p:sp>
      <p:sp>
        <p:nvSpPr>
          <p:cNvPr id="9" name="Controllers"/>
          <p:cNvSpPr txBox="1"/>
          <p:nvPr/>
        </p:nvSpPr>
        <p:spPr>
          <a:xfrm>
            <a:off x="3886200" y="2331720"/>
            <a:ext cx="2011680" cy="822960"/>
          </a:xfrm>
          <a:prstGeom prst="rect">
            <a:avLst/>
          </a:prstGeom>
          <a:noFill/>
          <a:ln/>
        </p:spPr>
        <p:txBody>
          <a:bodyPr wrap="square" lIns="762" tIns="762" rIns="762" bIns="762" rtlCol="0" anchor="ctr"/>
          <a:lstStyle/>
          <a:p>
            <a:pPr algn="ctr" indent="0" marL="0">
              <a:buNone/>
            </a:pPr>
            <a:r>
              <a:rPr lang="en-US" sz="1400" b="1" dirty="0">
                <a:solidFill>
                  <a:srgbClr val="FFFFFF"/>
                </a:solidFill>
              </a:rPr>
              <a:t>Controllers + Views</a:t>
            </a:r>
            <a:endParaRPr lang="en-US" sz="1400" dirty="0"/>
          </a:p>
        </p:txBody>
      </p:sp>
      <p:sp>
        <p:nvSpPr>
          <p:cNvPr id="10" name="Services ფონი"/>
          <p:cNvSpPr/>
          <p:nvPr/>
        </p:nvSpPr>
        <p:spPr>
          <a:xfrm>
            <a:off x="6172200" y="2331720"/>
            <a:ext cx="2011680" cy="822960"/>
          </a:xfrm>
          <a:prstGeom prst="roundRect">
            <a:avLst>
              <a:gd name="adj" fmla="val 8889"/>
            </a:avLst>
          </a:prstGeom>
          <a:solidFill>
            <a:schemeClr val="accent4"/>
          </a:solidFill>
          <a:ln w="12700">
            <a:solidFill>
              <a:schemeClr val="accent4"/>
            </a:solidFill>
            <a:prstDash val="solid"/>
          </a:ln>
        </p:spPr>
      </p:sp>
      <p:sp>
        <p:nvSpPr>
          <p:cNvPr id="11" name="Services"/>
          <p:cNvSpPr txBox="1"/>
          <p:nvPr/>
        </p:nvSpPr>
        <p:spPr>
          <a:xfrm>
            <a:off x="6172200" y="2331720"/>
            <a:ext cx="2011680" cy="822960"/>
          </a:xfrm>
          <a:prstGeom prst="rect">
            <a:avLst/>
          </a:prstGeom>
          <a:noFill/>
          <a:ln/>
        </p:spPr>
        <p:txBody>
          <a:bodyPr wrap="square" lIns="762" tIns="762" rIns="762" bIns="762" rtlCol="0" anchor="ctr"/>
          <a:lstStyle/>
          <a:p>
            <a:pPr algn="ctr" indent="0" marL="0">
              <a:buNone/>
            </a:pPr>
            <a:r>
              <a:rPr lang="en-US" sz="1400" b="1" dirty="0">
                <a:solidFill>
                  <a:srgbClr val="FFFFFF"/>
                </a:solidFill>
              </a:rPr>
              <a:t>Services</a:t>
            </a:r>
            <a:endParaRPr lang="en-US" sz="1400" dirty="0"/>
          </a:p>
        </p:txBody>
      </p:sp>
      <p:sp>
        <p:nvSpPr>
          <p:cNvPr id="12" name="Identity ფონი"/>
          <p:cNvSpPr/>
          <p:nvPr/>
        </p:nvSpPr>
        <p:spPr>
          <a:xfrm>
            <a:off x="3886200" y="3383280"/>
            <a:ext cx="2011680" cy="822960"/>
          </a:xfrm>
          <a:prstGeom prst="roundRect">
            <a:avLst>
              <a:gd name="adj" fmla="val 8889"/>
            </a:avLst>
          </a:prstGeom>
          <a:solidFill>
            <a:schemeClr val="accent5"/>
          </a:solidFill>
          <a:ln w="12700">
            <a:solidFill>
              <a:schemeClr val="accent5"/>
            </a:solidFill>
            <a:prstDash val="solid"/>
          </a:ln>
        </p:spPr>
      </p:sp>
      <p:sp>
        <p:nvSpPr>
          <p:cNvPr id="13" name="Identity"/>
          <p:cNvSpPr txBox="1"/>
          <p:nvPr/>
        </p:nvSpPr>
        <p:spPr>
          <a:xfrm>
            <a:off x="3886200" y="3383280"/>
            <a:ext cx="2011680" cy="822960"/>
          </a:xfrm>
          <a:prstGeom prst="rect">
            <a:avLst/>
          </a:prstGeom>
          <a:noFill/>
          <a:ln/>
        </p:spPr>
        <p:txBody>
          <a:bodyPr wrap="square" lIns="762" tIns="762" rIns="762" bIns="762" rtlCol="0" anchor="ctr"/>
          <a:lstStyle/>
          <a:p>
            <a:pPr algn="ctr" indent="0" marL="0">
              <a:buNone/>
            </a:pPr>
            <a:r>
              <a:rPr lang="en-US" sz="1400" b="1" dirty="0">
                <a:solidFill>
                  <a:schemeClr val="tx1"/>
                </a:solidFill>
              </a:rPr>
              <a:t>Identity (4 როლი)</a:t>
            </a:r>
            <a:endParaRPr lang="en-US" sz="1400" dirty="0"/>
          </a:p>
        </p:txBody>
      </p:sp>
      <p:sp>
        <p:nvSpPr>
          <p:cNvPr id="14" name="EF Core ფონი"/>
          <p:cNvSpPr/>
          <p:nvPr/>
        </p:nvSpPr>
        <p:spPr>
          <a:xfrm>
            <a:off x="6172200" y="3383280"/>
            <a:ext cx="2011680" cy="822960"/>
          </a:xfrm>
          <a:prstGeom prst="roundRect">
            <a:avLst>
              <a:gd name="adj" fmla="val 8889"/>
            </a:avLst>
          </a:prstGeom>
          <a:solidFill>
            <a:schemeClr val="accent2"/>
          </a:solidFill>
          <a:ln w="12700">
            <a:solidFill>
              <a:schemeClr val="accent2"/>
            </a:solidFill>
            <a:prstDash val="solid"/>
          </a:ln>
        </p:spPr>
      </p:sp>
      <p:sp>
        <p:nvSpPr>
          <p:cNvPr id="15" name="EF Core"/>
          <p:cNvSpPr txBox="1"/>
          <p:nvPr/>
        </p:nvSpPr>
        <p:spPr>
          <a:xfrm>
            <a:off x="6172200" y="3383280"/>
            <a:ext cx="2011680" cy="822960"/>
          </a:xfrm>
          <a:prstGeom prst="rect">
            <a:avLst/>
          </a:prstGeom>
          <a:noFill/>
          <a:ln/>
        </p:spPr>
        <p:txBody>
          <a:bodyPr wrap="square" lIns="762" tIns="762" rIns="762" bIns="762" rtlCol="0" anchor="ctr"/>
          <a:lstStyle/>
          <a:p>
            <a:pPr algn="ctr" indent="0" marL="0">
              <a:buNone/>
            </a:pPr>
            <a:r>
              <a:rPr lang="en-US" sz="1400" b="1" dirty="0">
                <a:solidFill>
                  <a:schemeClr val="tx1"/>
                </a:solidFill>
              </a:rPr>
              <a:t>EF Core</a:t>
            </a:r>
            <a:endParaRPr lang="en-US" sz="1400" dirty="0"/>
          </a:p>
        </p:txBody>
      </p:sp>
      <p:sp>
        <p:nvSpPr>
          <p:cNvPr id="16" name="ინტერფეისები ფონი"/>
          <p:cNvSpPr/>
          <p:nvPr/>
        </p:nvSpPr>
        <p:spPr>
          <a:xfrm>
            <a:off x="3886200" y="4434840"/>
            <a:ext cx="4297680" cy="1005840"/>
          </a:xfrm>
          <a:prstGeom prst="roundRect">
            <a:avLst>
              <a:gd name="adj" fmla="val 7273"/>
            </a:avLst>
          </a:prstGeom>
          <a:solidFill>
            <a:srgbClr val="FFFFFF"/>
          </a:solidFill>
          <a:ln w="19050">
            <a:solidFill>
              <a:schemeClr val="accent6"/>
            </a:solidFill>
            <a:prstDash val="solid"/>
          </a:ln>
        </p:spPr>
      </p:sp>
      <p:sp>
        <p:nvSpPr>
          <p:cNvPr id="17" name="ინტერფეისები"/>
          <p:cNvSpPr txBox="1"/>
          <p:nvPr/>
        </p:nvSpPr>
        <p:spPr>
          <a:xfrm>
            <a:off x="3886200" y="4434840"/>
            <a:ext cx="4297680" cy="1005840"/>
          </a:xfrm>
          <a:prstGeom prst="rect">
            <a:avLst/>
          </a:prstGeom>
          <a:noFill/>
          <a:ln/>
        </p:spPr>
        <p:txBody>
          <a:bodyPr wrap="square" lIns="762" tIns="762" rIns="762" bIns="762" rtlCol="0" anchor="ctr"/>
          <a:lstStyle/>
          <a:p>
            <a:pPr algn="ctr" indent="0" marL="0">
              <a:buNone/>
            </a:pPr>
            <a:r>
              <a:rPr lang="en-US" sz="1400" b="1" dirty="0">
                <a:solidFill>
                  <a:schemeClr val="tx1"/>
                </a:solidFill>
              </a:rPr>
              <a:t>IEmailSender · IFileStorage · BackgroundService</a:t>
            </a:r>
            <a:endParaRPr lang="en-US" sz="1400" dirty="0"/>
          </a:p>
        </p:txBody>
      </p:sp>
      <p:sp>
        <p:nvSpPr>
          <p:cNvPr id="18" name="PostgreSQL ფონი"/>
          <p:cNvSpPr/>
          <p:nvPr/>
        </p:nvSpPr>
        <p:spPr>
          <a:xfrm>
            <a:off x="9326880" y="1645920"/>
            <a:ext cx="2286000" cy="1097280"/>
          </a:xfrm>
          <a:prstGeom prst="roundRect">
            <a:avLst>
              <a:gd name="adj" fmla="val 6667"/>
            </a:avLst>
          </a:prstGeom>
          <a:solidFill>
            <a:schemeClr val="tx2"/>
          </a:solidFill>
          <a:ln w="12700">
            <a:solidFill>
              <a:schemeClr val="tx2"/>
            </a:solidFill>
            <a:prstDash val="solid"/>
          </a:ln>
        </p:spPr>
      </p:sp>
      <p:sp>
        <p:nvSpPr>
          <p:cNvPr id="19" name="PostgreSQL"/>
          <p:cNvSpPr txBox="1"/>
          <p:nvPr/>
        </p:nvSpPr>
        <p:spPr>
          <a:xfrm>
            <a:off x="9326880" y="1645920"/>
            <a:ext cx="2286000" cy="1097280"/>
          </a:xfrm>
          <a:prstGeom prst="rect">
            <a:avLst/>
          </a:prstGeom>
          <a:noFill/>
          <a:ln/>
        </p:spPr>
        <p:txBody>
          <a:bodyPr wrap="square" lIns="762" tIns="762" rIns="762" bIns="762" rtlCol="0" anchor="ctr"/>
          <a:lstStyle/>
          <a:p>
            <a:pPr algn="ctr" indent="0" marL="0">
              <a:buNone/>
            </a:pPr>
            <a:r>
              <a:rPr lang="en-US" sz="1400" b="1" dirty="0">
                <a:solidFill>
                  <a:srgbClr val="FFFFFF"/>
                </a:solidFill>
              </a:rPr>
              <a:t>PostgreSQL</a:t>
            </a:r>
            <a:endParaRPr lang="en-US" sz="1400" dirty="0"/>
          </a:p>
        </p:txBody>
      </p:sp>
      <p:sp>
        <p:nvSpPr>
          <p:cNvPr id="20" name="საცავი ფონი"/>
          <p:cNvSpPr/>
          <p:nvPr/>
        </p:nvSpPr>
        <p:spPr>
          <a:xfrm>
            <a:off x="9326880" y="2926080"/>
            <a:ext cx="2286000" cy="1097280"/>
          </a:xfrm>
          <a:prstGeom prst="roundRect">
            <a:avLst>
              <a:gd name="adj" fmla="val 6667"/>
            </a:avLst>
          </a:prstGeom>
          <a:solidFill>
            <a:schemeClr val="bg2"/>
          </a:solidFill>
          <a:ln w="19050">
            <a:solidFill>
              <a:schemeClr val="accent6"/>
            </a:solidFill>
            <a:prstDash val="solid"/>
          </a:ln>
        </p:spPr>
      </p:sp>
      <p:sp>
        <p:nvSpPr>
          <p:cNvPr id="21" name="საცავი"/>
          <p:cNvSpPr txBox="1"/>
          <p:nvPr/>
        </p:nvSpPr>
        <p:spPr>
          <a:xfrm>
            <a:off x="9326880" y="2926080"/>
            <a:ext cx="2286000" cy="1097280"/>
          </a:xfrm>
          <a:prstGeom prst="rect">
            <a:avLst/>
          </a:prstGeom>
          <a:noFill/>
          <a:ln/>
        </p:spPr>
        <p:txBody>
          <a:bodyPr wrap="square" lIns="762" tIns="762" rIns="762" bIns="762" rtlCol="0" anchor="ctr"/>
          <a:lstStyle/>
          <a:p>
            <a:pPr algn="ctr" indent="0" marL="0">
              <a:buNone/>
            </a:pPr>
            <a:r>
              <a:rPr lang="en-US" sz="1300" b="1" dirty="0">
                <a:solidFill>
                  <a:schemeClr val="tx1"/>
                </a:solidFill>
              </a:rPr>
              <a:t>ფოტოების საცავი (დისკი / Cloudinary)</a:t>
            </a:r>
            <a:endParaRPr lang="en-US" sz="1300" dirty="0"/>
          </a:p>
        </p:txBody>
      </p:sp>
      <p:sp>
        <p:nvSpPr>
          <p:cNvPr id="22" name="ელფოსტა ფონი"/>
          <p:cNvSpPr/>
          <p:nvPr/>
        </p:nvSpPr>
        <p:spPr>
          <a:xfrm>
            <a:off x="9326880" y="4206240"/>
            <a:ext cx="2286000" cy="914400"/>
          </a:xfrm>
          <a:prstGeom prst="roundRect">
            <a:avLst>
              <a:gd name="adj" fmla="val 8000"/>
            </a:avLst>
          </a:prstGeom>
          <a:solidFill>
            <a:schemeClr val="bg2"/>
          </a:solidFill>
          <a:ln w="19050">
            <a:solidFill>
              <a:schemeClr val="accent6"/>
            </a:solidFill>
            <a:prstDash val="solid"/>
          </a:ln>
        </p:spPr>
      </p:sp>
      <p:sp>
        <p:nvSpPr>
          <p:cNvPr id="23" name="ელფოსტა"/>
          <p:cNvSpPr txBox="1"/>
          <p:nvPr/>
        </p:nvSpPr>
        <p:spPr>
          <a:xfrm>
            <a:off x="9326880" y="4206240"/>
            <a:ext cx="2286000" cy="914400"/>
          </a:xfrm>
          <a:prstGeom prst="rect">
            <a:avLst/>
          </a:prstGeom>
          <a:noFill/>
          <a:ln/>
        </p:spPr>
        <p:txBody>
          <a:bodyPr wrap="square" lIns="762" tIns="762" rIns="762" bIns="762" rtlCol="0" anchor="ctr"/>
          <a:lstStyle/>
          <a:p>
            <a:pPr algn="ctr" indent="0" marL="0">
              <a:buNone/>
            </a:pPr>
            <a:r>
              <a:rPr lang="en-US" sz="1300" b="1" dirty="0">
                <a:solidFill>
                  <a:schemeClr val="tx1"/>
                </a:solidFill>
              </a:rPr>
              <a:t>ელფოსტა (SMTP / sandbox)</a:t>
            </a:r>
            <a:endParaRPr lang="en-US" sz="1300" dirty="0"/>
          </a:p>
        </p:txBody>
      </p:sp>
      <p:sp>
        <p:nvSpPr>
          <p:cNvPr id="24" name="OSM ფონი"/>
          <p:cNvSpPr/>
          <p:nvPr/>
        </p:nvSpPr>
        <p:spPr>
          <a:xfrm>
            <a:off x="9326880" y="5303520"/>
            <a:ext cx="2286000" cy="822960"/>
          </a:xfrm>
          <a:prstGeom prst="roundRect">
            <a:avLst>
              <a:gd name="adj" fmla="val 8889"/>
            </a:avLst>
          </a:prstGeom>
          <a:solidFill>
            <a:schemeClr val="bg2"/>
          </a:solidFill>
          <a:ln w="19050">
            <a:solidFill>
              <a:schemeClr val="accent6"/>
            </a:solidFill>
            <a:prstDash val="solid"/>
          </a:ln>
        </p:spPr>
      </p:sp>
      <p:sp>
        <p:nvSpPr>
          <p:cNvPr id="25" name="OSM"/>
          <p:cNvSpPr txBox="1"/>
          <p:nvPr/>
        </p:nvSpPr>
        <p:spPr>
          <a:xfrm>
            <a:off x="9326880" y="5303520"/>
            <a:ext cx="2286000" cy="822960"/>
          </a:xfrm>
          <a:prstGeom prst="rect">
            <a:avLst/>
          </a:prstGeom>
          <a:noFill/>
          <a:ln/>
        </p:spPr>
        <p:txBody>
          <a:bodyPr wrap="square" lIns="762" tIns="762" rIns="762" bIns="762" rtlCol="0" anchor="ctr"/>
          <a:lstStyle/>
          <a:p>
            <a:pPr algn="ctr" indent="0" marL="0">
              <a:buNone/>
            </a:pPr>
            <a:r>
              <a:rPr lang="en-US" sz="1300" b="1" dirty="0">
                <a:solidFill>
                  <a:schemeClr val="tx1"/>
                </a:solidFill>
              </a:rPr>
              <a:t>OSM ფილები და Nominatim</a:t>
            </a:r>
            <a:endParaRPr lang="en-US" sz="1300" dirty="0"/>
          </a:p>
        </p:txBody>
      </p:sp>
      <p:sp>
        <p:nvSpPr>
          <p:cNvPr id="26" name="ბრაუზერი → აპლიკაცია"/>
          <p:cNvSpPr/>
          <p:nvPr/>
        </p:nvSpPr>
        <p:spPr>
          <a:xfrm>
            <a:off x="2560320" y="3703320"/>
            <a:ext cx="1097280" cy="0"/>
          </a:xfrm>
          <a:prstGeom prst="line">
            <a:avLst/>
          </a:prstGeom>
          <a:noFill/>
          <a:ln w="25400">
            <a:solidFill>
              <a:schemeClr val="accent6"/>
            </a:solidFill>
            <a:prstDash val="solid"/>
            <a:tailEnd type="triangle"/>
          </a:ln>
        </p:spPr>
      </p:sp>
      <p:sp>
        <p:nvSpPr>
          <p:cNvPr id="27" name="აპლიკაცია → ბაზა"/>
          <p:cNvSpPr/>
          <p:nvPr/>
        </p:nvSpPr>
        <p:spPr>
          <a:xfrm>
            <a:off x="8412480" y="2194560"/>
            <a:ext cx="914400" cy="0"/>
          </a:xfrm>
          <a:prstGeom prst="line">
            <a:avLst/>
          </a:prstGeom>
          <a:noFill/>
          <a:ln w="25400">
            <a:solidFill>
              <a:schemeClr val="accent6"/>
            </a:solidFill>
            <a:prstDash val="solid"/>
            <a:tailEnd type="triangle"/>
          </a:ln>
        </p:spPr>
      </p:sp>
      <p:sp>
        <p:nvSpPr>
          <p:cNvPr id="28" name="აპლიკაცია → საცავი"/>
          <p:cNvSpPr/>
          <p:nvPr/>
        </p:nvSpPr>
        <p:spPr>
          <a:xfrm>
            <a:off x="8412480" y="3474720"/>
            <a:ext cx="914400" cy="0"/>
          </a:xfrm>
          <a:prstGeom prst="line">
            <a:avLst/>
          </a:prstGeom>
          <a:noFill/>
          <a:ln w="25400">
            <a:solidFill>
              <a:schemeClr val="accent6"/>
            </a:solidFill>
            <a:prstDash val="solid"/>
            <a:tailEnd type="triangle"/>
          </a:ln>
        </p:spPr>
      </p:sp>
      <p:sp>
        <p:nvSpPr>
          <p:cNvPr id="29" name="აპლიკაცია → ელფოსტა"/>
          <p:cNvSpPr/>
          <p:nvPr/>
        </p:nvSpPr>
        <p:spPr>
          <a:xfrm>
            <a:off x="8412480" y="4663440"/>
            <a:ext cx="914400" cy="0"/>
          </a:xfrm>
          <a:prstGeom prst="line">
            <a:avLst/>
          </a:prstGeom>
          <a:noFill/>
          <a:ln w="25400">
            <a:solidFill>
              <a:schemeClr val="accent6"/>
            </a:solidFill>
            <a:prstDash val="solid"/>
            <a:tailEnd type="triangle"/>
          </a:ln>
        </p:spPr>
      </p:sp>
      <p:sp>
        <p:nvSpPr>
          <p:cNvPr id="30" name="OSM შენიშვნა"/>
          <p:cNvSpPr txBox="1"/>
          <p:nvPr/>
        </p:nvSpPr>
        <p:spPr>
          <a:xfrm>
            <a:off x="548640" y="594360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რუკის ფილებს ბრაუზერი პირდაპირ OSM-დან იღებს</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lIns="0" tIns="0" rIns="0" bIns="0" rtlCol="0" anchor="ctr"/>
          <a:lstStyle/>
          <a:p>
            <a:pPr indent="0" marL="0">
              <a:buNone/>
            </a:pPr>
            <a:r>
              <a:rPr lang="en-US" sz="3200" b="1" dirty="0">
                <a:solidFill>
                  <a:schemeClr val="tx2"/>
                </a:solidFill>
              </a:rPr>
              <a:t>სრული დიზაინი და MVP: რა ვამარტივეთ</a:t>
            </a:r>
            <a:endParaRPr lang="en-US" sz="3200" dirty="0"/>
          </a:p>
        </p:txBody>
      </p:sp>
      <p:graphicFrame>
        <p:nvGraphicFramePr>
          <p:cNvPr id="9" name="შედარების ცხრილი"/>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743200"/>
                <a:gridCol w="3657600"/>
                <a:gridCol w="4663440"/>
              </a:tblGrid>
              <a:tr h="566928">
                <a:tc>
                  <a:txBody>
                    <a:bodyPr/>
                    <a:lstStyle/>
                    <a:p>
                      <a:pPr indent="0" marL="0">
                        <a:buNone/>
                      </a:pPr>
                      <a:r>
                        <a:rPr lang="en-US" sz="1400" b="1" dirty="0">
                          <a:solidFill>
                            <a:srgbClr val="FFFFFF"/>
                          </a:solidFill>
                        </a:rPr>
                        <a:t>ნაწილი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tx2"/>
                    </a:solidFill>
                  </a:tcPr>
                </a:tc>
                <a:tc>
                  <a:txBody>
                    <a:bodyPr/>
                    <a:lstStyle/>
                    <a:p>
                      <a:pPr indent="0" marL="0">
                        <a:buNone/>
                      </a:pPr>
                      <a:r>
                        <a:rPr lang="en-US" sz="1400" b="1" dirty="0">
                          <a:solidFill>
                            <a:srgbClr val="FFFFFF"/>
                          </a:solidFill>
                        </a:rPr>
                        <a:t>სრული დიზაინი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tx2"/>
                    </a:solidFill>
                  </a:tcPr>
                </a:tc>
                <a:tc>
                  <a:txBody>
                    <a:bodyPr/>
                    <a:lstStyle/>
                    <a:p>
                      <a:pPr indent="0" marL="0">
                        <a:buNone/>
                      </a:pPr>
                      <a:r>
                        <a:rPr lang="en-US" sz="1400" b="1" dirty="0">
                          <a:solidFill>
                            <a:srgbClr val="FFFFFF"/>
                          </a:solidFill>
                        </a:rPr>
                        <a:t>MVP-ში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tx2"/>
                    </a:solidFill>
                  </a:tcPr>
                </a:tc>
              </a:tr>
              <a:tr h="566928">
                <a:tc>
                  <a:txBody>
                    <a:bodyPr/>
                    <a:lstStyle/>
                    <a:p>
                      <a:pPr indent="0" marL="0">
                        <a:buNone/>
                      </a:pPr>
                      <a:r>
                        <a:rPr lang="en-US" sz="1400" b="1" dirty="0">
                          <a:solidFill>
                            <a:schemeClr val="tx1"/>
                          </a:solidFill>
                        </a:rPr>
                        <a:t>გეო-მონაცემები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PostGIS</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Latitude/Longitude + bounding box</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1"/>
                          </a:solidFill>
                        </a:rPr>
                        <a:t>ფონური ამოცანები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Hangfire</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სინქრონულად + BackgroundService</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r>
              <a:tr h="566928">
                <a:tc>
                  <a:txBody>
                    <a:bodyPr/>
                    <a:lstStyle/>
                    <a:p>
                      <a:pPr indent="0" marL="0">
                        <a:buNone/>
                      </a:pPr>
                      <a:r>
                        <a:rPr lang="en-US" sz="1400" b="1" dirty="0">
                          <a:solidFill>
                            <a:schemeClr val="tx1"/>
                          </a:solidFill>
                        </a:rPr>
                        <a:t>მოვლენები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MediatR, Observer</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პირდაპირი გამოძახება</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1"/>
                          </a:solidFill>
                        </a:rPr>
                        <a:t>სტატუსის წესები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State კლასები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დაშვებული გადასვლების ცხრილი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r>
              <a:tr h="566928">
                <a:tc>
                  <a:txBody>
                    <a:bodyPr/>
                    <a:lstStyle/>
                    <a:p>
                      <a:pPr indent="0" marL="0">
                        <a:buNone/>
                      </a:pPr>
                      <a:r>
                        <a:rPr lang="en-US" sz="1400" b="1" dirty="0">
                          <a:solidFill>
                            <a:schemeClr val="tx1"/>
                          </a:solidFill>
                        </a:rPr>
                        <a:t>ფოტოების საცავი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S3</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დისკი ან Cloudinary</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chemeClr val="tx1"/>
                          </a:solidFill>
                        </a:rPr>
                        <a:t>ჰოსტინგი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Nginx + საკუთარი სერვერი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Azure App Service (Basic)</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r>
            </a:tbl>
          </a:graphicData>
        </a:graphic>
      </p:graphicFrame>
      <p:sp>
        <p:nvSpPr>
          <p:cNvPr id="4" name="შენიშვნა"/>
          <p:cNvSpPr txBox="1"/>
          <p:nvPr/>
        </p:nvSpPr>
        <p:spPr>
          <a:xfrm>
            <a:off x="548640" y="5669280"/>
            <a:ext cx="11064240" cy="548640"/>
          </a:xfrm>
          <a:prstGeom prst="rect">
            <a:avLst/>
          </a:prstGeom>
          <a:noFill/>
          <a:ln/>
        </p:spPr>
        <p:txBody>
          <a:bodyPr wrap="square" lIns="0" tIns="0" rIns="0" bIns="0" rtlCol="0" anchor="ctr"/>
          <a:lstStyle/>
          <a:p>
            <a:pPr indent="0" marL="0">
              <a:buNone/>
            </a:pPr>
            <a:r>
              <a:rPr lang="en-US" sz="1600" dirty="0">
                <a:solidFill>
                  <a:schemeClr val="tx1"/>
                </a:solidFill>
              </a:rPr>
              <a:t>ინტერფეისები (IFileStorage, IEmailSender) უკვე არსებობს, ამიტომ სრულ დიზაინზე გადასვლა კოდის მცირე ცვლილებას ითხოვს.</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lIns="0" tIns="0" rIns="0" bIns="0" rtlCol="0" anchor="ctr"/>
          <a:lstStyle/>
          <a:p>
            <a:pPr indent="0" marL="0">
              <a:buNone/>
            </a:pPr>
            <a:r>
              <a:rPr lang="en-US" sz="3200" b="1" dirty="0">
                <a:solidFill>
                  <a:schemeClr val="tx2"/>
                </a:solidFill>
              </a:rPr>
              <a:t>შეტყობინების გზა და სტატუსები</a:t>
            </a:r>
            <a:endParaRPr lang="en-US" sz="3200" dirty="0"/>
          </a:p>
        </p:txBody>
      </p:sp>
      <p:sp>
        <p:nvSpPr>
          <p:cNvPr id="3" name="ნაბიჯი 1 ფონი"/>
          <p:cNvSpPr/>
          <p:nvPr/>
        </p:nvSpPr>
        <p:spPr>
          <a:xfrm>
            <a:off x="548640" y="1645920"/>
            <a:ext cx="1965960" cy="1143000"/>
          </a:xfrm>
          <a:prstGeom prst="roundRect">
            <a:avLst>
              <a:gd name="adj" fmla="val 6400"/>
            </a:avLst>
          </a:prstGeom>
          <a:solidFill>
            <a:schemeClr val="accent1"/>
          </a:solidFill>
          <a:ln w="12700">
            <a:solidFill>
              <a:schemeClr val="accent1"/>
            </a:solidFill>
            <a:prstDash val="solid"/>
          </a:ln>
        </p:spPr>
      </p:sp>
      <p:sp>
        <p:nvSpPr>
          <p:cNvPr id="4" name="ნაბიჯი 1"/>
          <p:cNvSpPr txBox="1"/>
          <p:nvPr/>
        </p:nvSpPr>
        <p:spPr>
          <a:xfrm>
            <a:off x="548640" y="1645920"/>
            <a:ext cx="1965960" cy="1143000"/>
          </a:xfrm>
          <a:prstGeom prst="rect">
            <a:avLst/>
          </a:prstGeom>
          <a:noFill/>
          <a:ln/>
        </p:spPr>
        <p:txBody>
          <a:bodyPr wrap="square" lIns="762" tIns="762" rIns="762" bIns="762" rtlCol="0" anchor="ctr"/>
          <a:lstStyle/>
          <a:p>
            <a:pPr algn="ctr" indent="0" marL="0">
              <a:buNone/>
            </a:pPr>
            <a:r>
              <a:rPr lang="en-US" sz="1400" b="1" dirty="0">
                <a:solidFill>
                  <a:srgbClr val="FFFFFF"/>
                </a:solidFill>
              </a:rPr>
              <a:t>ფორმა + ფოტო</a:t>
            </a:r>
            <a:endParaRPr lang="en-US" sz="1400" dirty="0"/>
          </a:p>
        </p:txBody>
      </p:sp>
      <p:sp>
        <p:nvSpPr>
          <p:cNvPr id="5" name="ისარი ნაბიჯებს შორის 1"/>
          <p:cNvSpPr/>
          <p:nvPr/>
        </p:nvSpPr>
        <p:spPr>
          <a:xfrm>
            <a:off x="2514600" y="2212848"/>
            <a:ext cx="320040" cy="0"/>
          </a:xfrm>
          <a:prstGeom prst="line">
            <a:avLst/>
          </a:prstGeom>
          <a:noFill/>
          <a:ln w="25400">
            <a:solidFill>
              <a:schemeClr val="accent6"/>
            </a:solidFill>
            <a:prstDash val="solid"/>
            <a:tailEnd type="triangle"/>
          </a:ln>
        </p:spPr>
      </p:sp>
      <p:sp>
        <p:nvSpPr>
          <p:cNvPr id="6" name="ნაბიჯი 2 ფონი"/>
          <p:cNvSpPr/>
          <p:nvPr/>
        </p:nvSpPr>
        <p:spPr>
          <a:xfrm>
            <a:off x="2834640" y="1645920"/>
            <a:ext cx="1965960" cy="1143000"/>
          </a:xfrm>
          <a:prstGeom prst="roundRect">
            <a:avLst>
              <a:gd name="adj" fmla="val 6400"/>
            </a:avLst>
          </a:prstGeom>
          <a:solidFill>
            <a:schemeClr val="accent1"/>
          </a:solidFill>
          <a:ln w="12700">
            <a:solidFill>
              <a:schemeClr val="accent1"/>
            </a:solidFill>
            <a:prstDash val="solid"/>
          </a:ln>
        </p:spPr>
      </p:sp>
      <p:sp>
        <p:nvSpPr>
          <p:cNvPr id="7" name="ნაბიჯი 2"/>
          <p:cNvSpPr txBox="1"/>
          <p:nvPr/>
        </p:nvSpPr>
        <p:spPr>
          <a:xfrm>
            <a:off x="2834640" y="1645920"/>
            <a:ext cx="1965960" cy="1143000"/>
          </a:xfrm>
          <a:prstGeom prst="rect">
            <a:avLst/>
          </a:prstGeom>
          <a:noFill/>
          <a:ln/>
        </p:spPr>
        <p:txBody>
          <a:bodyPr wrap="square" lIns="762" tIns="762" rIns="762" bIns="762" rtlCol="0" anchor="ctr"/>
          <a:lstStyle/>
          <a:p>
            <a:pPr algn="ctr" indent="0" marL="0">
              <a:buNone/>
            </a:pPr>
            <a:r>
              <a:rPr lang="en-US" sz="1400" b="1" dirty="0">
                <a:solidFill>
                  <a:srgbClr val="FFFFFF"/>
                </a:solidFill>
              </a:rPr>
              <a:t>ვალიდაცია</a:t>
            </a:r>
            <a:endParaRPr lang="en-US" sz="1400" dirty="0"/>
          </a:p>
        </p:txBody>
      </p:sp>
      <p:sp>
        <p:nvSpPr>
          <p:cNvPr id="8" name="ისარი ნაბიჯებს შორის 2"/>
          <p:cNvSpPr/>
          <p:nvPr/>
        </p:nvSpPr>
        <p:spPr>
          <a:xfrm>
            <a:off x="4800600" y="2212848"/>
            <a:ext cx="320040" cy="0"/>
          </a:xfrm>
          <a:prstGeom prst="line">
            <a:avLst/>
          </a:prstGeom>
          <a:noFill/>
          <a:ln w="25400">
            <a:solidFill>
              <a:schemeClr val="accent6"/>
            </a:solidFill>
            <a:prstDash val="solid"/>
            <a:tailEnd type="triangle"/>
          </a:ln>
        </p:spPr>
      </p:sp>
      <p:sp>
        <p:nvSpPr>
          <p:cNvPr id="9" name="ნაბიჯი 3 ფონი"/>
          <p:cNvSpPr/>
          <p:nvPr/>
        </p:nvSpPr>
        <p:spPr>
          <a:xfrm>
            <a:off x="5120640" y="1645920"/>
            <a:ext cx="1965960" cy="1143000"/>
          </a:xfrm>
          <a:prstGeom prst="roundRect">
            <a:avLst>
              <a:gd name="adj" fmla="val 6400"/>
            </a:avLst>
          </a:prstGeom>
          <a:solidFill>
            <a:schemeClr val="accent2"/>
          </a:solidFill>
          <a:ln w="12700">
            <a:solidFill>
              <a:schemeClr val="accent2"/>
            </a:solidFill>
            <a:prstDash val="solid"/>
          </a:ln>
        </p:spPr>
      </p:sp>
      <p:sp>
        <p:nvSpPr>
          <p:cNvPr id="10" name="ნაბიჯი 3"/>
          <p:cNvSpPr txBox="1"/>
          <p:nvPr/>
        </p:nvSpPr>
        <p:spPr>
          <a:xfrm>
            <a:off x="5120640" y="1645920"/>
            <a:ext cx="1965960" cy="1143000"/>
          </a:xfrm>
          <a:prstGeom prst="rect">
            <a:avLst/>
          </a:prstGeom>
          <a:noFill/>
          <a:ln/>
        </p:spPr>
        <p:txBody>
          <a:bodyPr wrap="square" lIns="762" tIns="762" rIns="762" bIns="762" rtlCol="0" anchor="ctr"/>
          <a:lstStyle/>
          <a:p>
            <a:pPr algn="ctr" indent="0" marL="0">
              <a:buNone/>
            </a:pPr>
            <a:r>
              <a:rPr lang="en-US" sz="1400" b="1" dirty="0">
                <a:solidFill>
                  <a:srgbClr val="14262B"/>
                </a:solidFill>
              </a:rPr>
              <a:t>Service: EXIF წაშლა, შეკუმშვა</a:t>
            </a:r>
            <a:endParaRPr lang="en-US" sz="1400" dirty="0"/>
          </a:p>
        </p:txBody>
      </p:sp>
      <p:sp>
        <p:nvSpPr>
          <p:cNvPr id="11" name="ისარი ნაბიჯებს შორის 3"/>
          <p:cNvSpPr/>
          <p:nvPr/>
        </p:nvSpPr>
        <p:spPr>
          <a:xfrm>
            <a:off x="7086600" y="2212848"/>
            <a:ext cx="320040" cy="0"/>
          </a:xfrm>
          <a:prstGeom prst="line">
            <a:avLst/>
          </a:prstGeom>
          <a:noFill/>
          <a:ln w="25400">
            <a:solidFill>
              <a:schemeClr val="accent6"/>
            </a:solidFill>
            <a:prstDash val="solid"/>
            <a:tailEnd type="triangle"/>
          </a:ln>
        </p:spPr>
      </p:sp>
      <p:sp>
        <p:nvSpPr>
          <p:cNvPr id="12" name="ნაბიჯი 4 ფონი"/>
          <p:cNvSpPr/>
          <p:nvPr/>
        </p:nvSpPr>
        <p:spPr>
          <a:xfrm>
            <a:off x="7406640" y="1645920"/>
            <a:ext cx="1965960" cy="1143000"/>
          </a:xfrm>
          <a:prstGeom prst="roundRect">
            <a:avLst>
              <a:gd name="adj" fmla="val 6400"/>
            </a:avLst>
          </a:prstGeom>
          <a:solidFill>
            <a:schemeClr val="accent1"/>
          </a:solidFill>
          <a:ln w="12700">
            <a:solidFill>
              <a:schemeClr val="accent1"/>
            </a:solidFill>
            <a:prstDash val="solid"/>
          </a:ln>
        </p:spPr>
      </p:sp>
      <p:sp>
        <p:nvSpPr>
          <p:cNvPr id="13" name="ნაბიჯი 4"/>
          <p:cNvSpPr txBox="1"/>
          <p:nvPr/>
        </p:nvSpPr>
        <p:spPr>
          <a:xfrm>
            <a:off x="7406640" y="1645920"/>
            <a:ext cx="1965960" cy="1143000"/>
          </a:xfrm>
          <a:prstGeom prst="rect">
            <a:avLst/>
          </a:prstGeom>
          <a:noFill/>
          <a:ln/>
        </p:spPr>
        <p:txBody>
          <a:bodyPr wrap="square" lIns="762" tIns="762" rIns="762" bIns="762" rtlCol="0" anchor="ctr"/>
          <a:lstStyle/>
          <a:p>
            <a:pPr algn="ctr" indent="0" marL="0">
              <a:buNone/>
            </a:pPr>
            <a:r>
              <a:rPr lang="en-US" sz="1400" b="1" dirty="0">
                <a:solidFill>
                  <a:srgbClr val="FFFFFF"/>
                </a:solidFill>
              </a:rPr>
              <a:t>ბაზა: სტატუსი „ახალი“</a:t>
            </a:r>
            <a:endParaRPr lang="en-US" sz="1400" dirty="0"/>
          </a:p>
        </p:txBody>
      </p:sp>
      <p:sp>
        <p:nvSpPr>
          <p:cNvPr id="14" name="ისარი ნაბიჯებს შორის 4"/>
          <p:cNvSpPr/>
          <p:nvPr/>
        </p:nvSpPr>
        <p:spPr>
          <a:xfrm>
            <a:off x="9372600" y="2212848"/>
            <a:ext cx="320040" cy="0"/>
          </a:xfrm>
          <a:prstGeom prst="line">
            <a:avLst/>
          </a:prstGeom>
          <a:noFill/>
          <a:ln w="25400">
            <a:solidFill>
              <a:schemeClr val="accent6"/>
            </a:solidFill>
            <a:prstDash val="solid"/>
            <a:tailEnd type="triangle"/>
          </a:ln>
        </p:spPr>
      </p:sp>
      <p:sp>
        <p:nvSpPr>
          <p:cNvPr id="15" name="ნაბიჯი 5 ფონი"/>
          <p:cNvSpPr/>
          <p:nvPr/>
        </p:nvSpPr>
        <p:spPr>
          <a:xfrm>
            <a:off x="9692640" y="1645920"/>
            <a:ext cx="1965960" cy="1143000"/>
          </a:xfrm>
          <a:prstGeom prst="roundRect">
            <a:avLst>
              <a:gd name="adj" fmla="val 6400"/>
            </a:avLst>
          </a:prstGeom>
          <a:solidFill>
            <a:schemeClr val="accent1"/>
          </a:solidFill>
          <a:ln w="12700">
            <a:solidFill>
              <a:schemeClr val="accent1"/>
            </a:solidFill>
            <a:prstDash val="solid"/>
          </a:ln>
        </p:spPr>
      </p:sp>
      <p:sp>
        <p:nvSpPr>
          <p:cNvPr id="16" name="ნაბიჯი 5"/>
          <p:cNvSpPr txBox="1"/>
          <p:nvPr/>
        </p:nvSpPr>
        <p:spPr>
          <a:xfrm>
            <a:off x="9692640" y="1645920"/>
            <a:ext cx="1965960" cy="1143000"/>
          </a:xfrm>
          <a:prstGeom prst="rect">
            <a:avLst/>
          </a:prstGeom>
          <a:noFill/>
          <a:ln/>
        </p:spPr>
        <p:txBody>
          <a:bodyPr wrap="square" lIns="762" tIns="762" rIns="762" bIns="762" rtlCol="0" anchor="ctr"/>
          <a:lstStyle/>
          <a:p>
            <a:pPr algn="ctr" indent="0" marL="0">
              <a:buNone/>
            </a:pPr>
            <a:r>
              <a:rPr lang="en-US" sz="1400" b="1" dirty="0">
                <a:solidFill>
                  <a:srgbClr val="FFFFFF"/>
                </a:solidFill>
              </a:rPr>
              <a:t>Redirect: დადასტურება</a:t>
            </a:r>
            <a:endParaRPr lang="en-US" sz="1400" dirty="0"/>
          </a:p>
        </p:txBody>
      </p:sp>
      <p:sp>
        <p:nvSpPr>
          <p:cNvPr id="17" name="სტატუსი ახალი ფონი"/>
          <p:cNvSpPr/>
          <p:nvPr/>
        </p:nvSpPr>
        <p:spPr>
          <a:xfrm>
            <a:off x="548640" y="3749040"/>
            <a:ext cx="2194560" cy="822960"/>
          </a:xfrm>
          <a:prstGeom prst="roundRect">
            <a:avLst>
              <a:gd name="adj" fmla="val 8889"/>
            </a:avLst>
          </a:prstGeom>
          <a:solidFill>
            <a:schemeClr val="tx2"/>
          </a:solidFill>
          <a:ln w="12700">
            <a:solidFill>
              <a:schemeClr val="tx2"/>
            </a:solidFill>
            <a:prstDash val="solid"/>
          </a:ln>
        </p:spPr>
      </p:sp>
      <p:sp>
        <p:nvSpPr>
          <p:cNvPr id="18" name="სტატუსი ახალი"/>
          <p:cNvSpPr txBox="1"/>
          <p:nvPr/>
        </p:nvSpPr>
        <p:spPr>
          <a:xfrm>
            <a:off x="548640" y="3749040"/>
            <a:ext cx="2194560" cy="822960"/>
          </a:xfrm>
          <a:prstGeom prst="rect">
            <a:avLst/>
          </a:prstGeom>
          <a:noFill/>
          <a:ln/>
        </p:spPr>
        <p:txBody>
          <a:bodyPr wrap="square" lIns="762" tIns="762" rIns="762" bIns="762" rtlCol="0" anchor="ctr"/>
          <a:lstStyle/>
          <a:p>
            <a:pPr algn="ctr" indent="0" marL="0">
              <a:buNone/>
            </a:pPr>
            <a:r>
              <a:rPr lang="en-US" sz="1600" b="1" dirty="0">
                <a:solidFill>
                  <a:srgbClr val="FFFFFF"/>
                </a:solidFill>
              </a:rPr>
              <a:t>ახალი</a:t>
            </a:r>
            <a:endParaRPr lang="en-US" sz="1600" dirty="0"/>
          </a:p>
        </p:txBody>
      </p:sp>
      <p:sp>
        <p:nvSpPr>
          <p:cNvPr id="19" name="გადასვლა ახალი"/>
          <p:cNvSpPr/>
          <p:nvPr/>
        </p:nvSpPr>
        <p:spPr>
          <a:xfrm>
            <a:off x="2743200" y="4160520"/>
            <a:ext cx="548640" cy="0"/>
          </a:xfrm>
          <a:prstGeom prst="line">
            <a:avLst/>
          </a:prstGeom>
          <a:noFill/>
          <a:ln w="25400">
            <a:solidFill>
              <a:schemeClr val="accent6"/>
            </a:solidFill>
            <a:prstDash val="solid"/>
            <a:tailEnd type="triangle"/>
          </a:ln>
        </p:spPr>
      </p:sp>
      <p:sp>
        <p:nvSpPr>
          <p:cNvPr id="20" name="სტატუსი მიღებული ფონი"/>
          <p:cNvSpPr/>
          <p:nvPr/>
        </p:nvSpPr>
        <p:spPr>
          <a:xfrm>
            <a:off x="3291840" y="3749040"/>
            <a:ext cx="2194560" cy="822960"/>
          </a:xfrm>
          <a:prstGeom prst="roundRect">
            <a:avLst>
              <a:gd name="adj" fmla="val 8889"/>
            </a:avLst>
          </a:prstGeom>
          <a:solidFill>
            <a:schemeClr val="tx2"/>
          </a:solidFill>
          <a:ln w="12700">
            <a:solidFill>
              <a:schemeClr val="tx2"/>
            </a:solidFill>
            <a:prstDash val="solid"/>
          </a:ln>
        </p:spPr>
      </p:sp>
      <p:sp>
        <p:nvSpPr>
          <p:cNvPr id="21" name="სტატუსი მიღებული"/>
          <p:cNvSpPr txBox="1"/>
          <p:nvPr/>
        </p:nvSpPr>
        <p:spPr>
          <a:xfrm>
            <a:off x="3291840" y="3749040"/>
            <a:ext cx="2194560" cy="822960"/>
          </a:xfrm>
          <a:prstGeom prst="rect">
            <a:avLst/>
          </a:prstGeom>
          <a:noFill/>
          <a:ln/>
        </p:spPr>
        <p:txBody>
          <a:bodyPr wrap="square" lIns="762" tIns="762" rIns="762" bIns="762" rtlCol="0" anchor="ctr"/>
          <a:lstStyle/>
          <a:p>
            <a:pPr algn="ctr" indent="0" marL="0">
              <a:buNone/>
            </a:pPr>
            <a:r>
              <a:rPr lang="en-US" sz="1600" b="1" dirty="0">
                <a:solidFill>
                  <a:srgbClr val="FFFFFF"/>
                </a:solidFill>
              </a:rPr>
              <a:t>მიღებული</a:t>
            </a:r>
            <a:endParaRPr lang="en-US" sz="1600" dirty="0"/>
          </a:p>
        </p:txBody>
      </p:sp>
      <p:sp>
        <p:nvSpPr>
          <p:cNvPr id="22" name="გადასვლა მიღებული"/>
          <p:cNvSpPr/>
          <p:nvPr/>
        </p:nvSpPr>
        <p:spPr>
          <a:xfrm>
            <a:off x="5486400" y="4160520"/>
            <a:ext cx="548640" cy="0"/>
          </a:xfrm>
          <a:prstGeom prst="line">
            <a:avLst/>
          </a:prstGeom>
          <a:noFill/>
          <a:ln w="25400">
            <a:solidFill>
              <a:schemeClr val="accent6"/>
            </a:solidFill>
            <a:prstDash val="solid"/>
            <a:tailEnd type="triangle"/>
          </a:ln>
        </p:spPr>
      </p:sp>
      <p:sp>
        <p:nvSpPr>
          <p:cNvPr id="23" name="სტატუსი მუშავდება ფონი"/>
          <p:cNvSpPr/>
          <p:nvPr/>
        </p:nvSpPr>
        <p:spPr>
          <a:xfrm>
            <a:off x="6035040" y="3749040"/>
            <a:ext cx="2194560" cy="822960"/>
          </a:xfrm>
          <a:prstGeom prst="roundRect">
            <a:avLst>
              <a:gd name="adj" fmla="val 8889"/>
            </a:avLst>
          </a:prstGeom>
          <a:solidFill>
            <a:schemeClr val="tx2"/>
          </a:solidFill>
          <a:ln w="12700">
            <a:solidFill>
              <a:schemeClr val="tx2"/>
            </a:solidFill>
            <a:prstDash val="solid"/>
          </a:ln>
        </p:spPr>
      </p:sp>
      <p:sp>
        <p:nvSpPr>
          <p:cNvPr id="24" name="სტატუსი მუშავდება"/>
          <p:cNvSpPr txBox="1"/>
          <p:nvPr/>
        </p:nvSpPr>
        <p:spPr>
          <a:xfrm>
            <a:off x="6035040" y="3749040"/>
            <a:ext cx="2194560" cy="822960"/>
          </a:xfrm>
          <a:prstGeom prst="rect">
            <a:avLst/>
          </a:prstGeom>
          <a:noFill/>
          <a:ln/>
        </p:spPr>
        <p:txBody>
          <a:bodyPr wrap="square" lIns="762" tIns="762" rIns="762" bIns="762" rtlCol="0" anchor="ctr"/>
          <a:lstStyle/>
          <a:p>
            <a:pPr algn="ctr" indent="0" marL="0">
              <a:buNone/>
            </a:pPr>
            <a:r>
              <a:rPr lang="en-US" sz="1600" b="1" dirty="0">
                <a:solidFill>
                  <a:srgbClr val="FFFFFF"/>
                </a:solidFill>
              </a:rPr>
              <a:t>მუშავდება</a:t>
            </a:r>
            <a:endParaRPr lang="en-US" sz="1600" dirty="0"/>
          </a:p>
        </p:txBody>
      </p:sp>
      <p:sp>
        <p:nvSpPr>
          <p:cNvPr id="25" name="გადასვლა მუშავდება"/>
          <p:cNvSpPr/>
          <p:nvPr/>
        </p:nvSpPr>
        <p:spPr>
          <a:xfrm>
            <a:off x="8229600" y="4160520"/>
            <a:ext cx="548640" cy="0"/>
          </a:xfrm>
          <a:prstGeom prst="line">
            <a:avLst/>
          </a:prstGeom>
          <a:noFill/>
          <a:ln w="25400">
            <a:solidFill>
              <a:schemeClr val="accent6"/>
            </a:solidFill>
            <a:prstDash val="solid"/>
            <a:tailEnd type="triangle"/>
          </a:ln>
        </p:spPr>
      </p:sp>
      <p:sp>
        <p:nvSpPr>
          <p:cNvPr id="26" name="სტატუსი გადაჭრილი ფონი"/>
          <p:cNvSpPr/>
          <p:nvPr/>
        </p:nvSpPr>
        <p:spPr>
          <a:xfrm>
            <a:off x="8778240" y="3749040"/>
            <a:ext cx="2194560" cy="822960"/>
          </a:xfrm>
          <a:prstGeom prst="roundRect">
            <a:avLst>
              <a:gd name="adj" fmla="val 8889"/>
            </a:avLst>
          </a:prstGeom>
          <a:solidFill>
            <a:schemeClr val="tx2"/>
          </a:solidFill>
          <a:ln w="12700">
            <a:solidFill>
              <a:schemeClr val="tx2"/>
            </a:solidFill>
            <a:prstDash val="solid"/>
          </a:ln>
        </p:spPr>
      </p:sp>
      <p:sp>
        <p:nvSpPr>
          <p:cNvPr id="27" name="სტატუსი გადაჭრილი"/>
          <p:cNvSpPr txBox="1"/>
          <p:nvPr/>
        </p:nvSpPr>
        <p:spPr>
          <a:xfrm>
            <a:off x="8778240" y="3749040"/>
            <a:ext cx="2194560" cy="822960"/>
          </a:xfrm>
          <a:prstGeom prst="rect">
            <a:avLst/>
          </a:prstGeom>
          <a:noFill/>
          <a:ln/>
        </p:spPr>
        <p:txBody>
          <a:bodyPr wrap="square" lIns="762" tIns="762" rIns="762" bIns="762" rtlCol="0" anchor="ctr"/>
          <a:lstStyle/>
          <a:p>
            <a:pPr algn="ctr" indent="0" marL="0">
              <a:buNone/>
            </a:pPr>
            <a:r>
              <a:rPr lang="en-US" sz="1600" b="1" dirty="0">
                <a:solidFill>
                  <a:srgbClr val="FFFFFF"/>
                </a:solidFill>
              </a:rPr>
              <a:t>გადაჭრილი</a:t>
            </a:r>
            <a:endParaRPr lang="en-US" sz="1600" dirty="0"/>
          </a:p>
        </p:txBody>
      </p:sp>
      <p:sp>
        <p:nvSpPr>
          <p:cNvPr id="28" name="სტატუსი უარყოფილი ფონი"/>
          <p:cNvSpPr/>
          <p:nvPr/>
        </p:nvSpPr>
        <p:spPr>
          <a:xfrm>
            <a:off x="1920240" y="5120640"/>
            <a:ext cx="2194560" cy="731520"/>
          </a:xfrm>
          <a:prstGeom prst="roundRect">
            <a:avLst>
              <a:gd name="adj" fmla="val 10000"/>
            </a:avLst>
          </a:prstGeom>
          <a:solidFill>
            <a:schemeClr val="accent3"/>
          </a:solidFill>
          <a:ln w="12700">
            <a:solidFill>
              <a:schemeClr val="accent3"/>
            </a:solidFill>
            <a:prstDash val="solid"/>
          </a:ln>
        </p:spPr>
      </p:sp>
      <p:sp>
        <p:nvSpPr>
          <p:cNvPr id="29" name="სტატუსი უარყოფილი"/>
          <p:cNvSpPr txBox="1"/>
          <p:nvPr/>
        </p:nvSpPr>
        <p:spPr>
          <a:xfrm>
            <a:off x="1920240" y="5120640"/>
            <a:ext cx="2194560" cy="731520"/>
          </a:xfrm>
          <a:prstGeom prst="rect">
            <a:avLst/>
          </a:prstGeom>
          <a:noFill/>
          <a:ln/>
        </p:spPr>
        <p:txBody>
          <a:bodyPr wrap="square" lIns="762" tIns="762" rIns="762" bIns="762" rtlCol="0" anchor="ctr"/>
          <a:lstStyle/>
          <a:p>
            <a:pPr algn="ctr" indent="0" marL="0">
              <a:buNone/>
            </a:pPr>
            <a:r>
              <a:rPr lang="en-US" sz="1600" b="1" dirty="0">
                <a:solidFill>
                  <a:srgbClr val="FFFFFF"/>
                </a:solidFill>
              </a:rPr>
              <a:t>უარყოფილი</a:t>
            </a:r>
            <a:endParaRPr lang="en-US" sz="1600" dirty="0"/>
          </a:p>
        </p:txBody>
      </p:sp>
      <p:sp>
        <p:nvSpPr>
          <p:cNvPr id="30" name="ახალი → უარყოფილი"/>
          <p:cNvSpPr/>
          <p:nvPr/>
        </p:nvSpPr>
        <p:spPr>
          <a:xfrm>
            <a:off x="1645920" y="4572000"/>
            <a:ext cx="731520" cy="548640"/>
          </a:xfrm>
          <a:prstGeom prst="line">
            <a:avLst/>
          </a:prstGeom>
          <a:noFill/>
          <a:ln w="25400">
            <a:solidFill>
              <a:schemeClr val="accent3"/>
            </a:solidFill>
            <a:prstDash val="solid"/>
            <a:tailEnd type="triangle"/>
          </a:ln>
        </p:spPr>
      </p:sp>
      <p:sp>
        <p:nvSpPr>
          <p:cNvPr id="31" name="მიღებული → უარყოფილი"/>
          <p:cNvSpPr/>
          <p:nvPr/>
        </p:nvSpPr>
        <p:spPr>
          <a:xfrm flipH="1">
            <a:off x="3749040" y="4572000"/>
            <a:ext cx="640080" cy="548640"/>
          </a:xfrm>
          <a:prstGeom prst="line">
            <a:avLst/>
          </a:prstGeom>
          <a:noFill/>
          <a:ln w="25400">
            <a:solidFill>
              <a:schemeClr val="accent3"/>
            </a:solidFill>
            <a:prstDash val="solid"/>
            <a:tailEnd type="triangle"/>
          </a:ln>
        </p:spPr>
      </p:sp>
      <p:sp>
        <p:nvSpPr>
          <p:cNvPr id="32" name="ხელახლა გახსნა"/>
          <p:cNvSpPr txBox="1"/>
          <p:nvPr/>
        </p:nvSpPr>
        <p:spPr>
          <a:xfrm>
            <a:off x="4937760" y="5074920"/>
            <a:ext cx="6675120" cy="822960"/>
          </a:xfrm>
          <a:prstGeom prst="rect">
            <a:avLst/>
          </a:prstGeom>
          <a:noFill/>
          <a:ln/>
        </p:spPr>
        <p:txBody>
          <a:bodyPr wrap="square" lIns="0" tIns="0" rIns="0" bIns="0" rtlCol="0" anchor="ctr"/>
          <a:lstStyle/>
          <a:p>
            <a:pPr indent="0" marL="0">
              <a:buNone/>
            </a:pPr>
            <a:r>
              <a:rPr lang="en-US" sz="1400" dirty="0">
                <a:solidFill>
                  <a:schemeClr val="tx1"/>
                </a:solidFill>
              </a:rPr>
              <a:t>გადაჭრილი → მიღებული: მოქალაქეს შეუძლია 7 დღეში ხელახლა გახსნა</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lIns="0" tIns="0" rIns="0" bIns="0" rtlCol="0" anchor="ctr"/>
          <a:lstStyle/>
          <a:p>
            <a:pPr indent="0" marL="0">
              <a:buNone/>
            </a:pPr>
            <a:r>
              <a:rPr lang="en-US" sz="3200" b="1" dirty="0">
                <a:solidFill>
                  <a:schemeClr val="tx2"/>
                </a:solidFill>
              </a:rPr>
              <a:t>ბაზა: PostgreSQL, მთავარი ცხრილები</a:t>
            </a:r>
            <a:endParaRPr lang="en-US" sz="3200" dirty="0"/>
          </a:p>
        </p:txBody>
      </p:sp>
      <p:sp>
        <p:nvSpPr>
          <p:cNvPr id="3" name="ცხრილი Users"/>
          <p:cNvSpPr/>
          <p:nvPr/>
        </p:nvSpPr>
        <p:spPr>
          <a:xfrm>
            <a:off x="548640" y="1645920"/>
            <a:ext cx="3566160" cy="2103120"/>
          </a:xfrm>
          <a:prstGeom prst="roundRect">
            <a:avLst>
              <a:gd name="adj" fmla="val 434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Users სახელი"/>
          <p:cNvSpPr txBox="1"/>
          <p:nvPr/>
        </p:nvSpPr>
        <p:spPr>
          <a:xfrm>
            <a:off x="731520" y="1755648"/>
            <a:ext cx="3200400" cy="411480"/>
          </a:xfrm>
          <a:prstGeom prst="rect">
            <a:avLst/>
          </a:prstGeom>
          <a:noFill/>
          <a:ln/>
        </p:spPr>
        <p:txBody>
          <a:bodyPr wrap="square" lIns="0" tIns="0" rIns="0" bIns="0" rtlCol="0" anchor="ctr"/>
          <a:lstStyle/>
          <a:p>
            <a:pPr indent="0" marL="0">
              <a:buNone/>
            </a:pPr>
            <a:r>
              <a:rPr lang="en-US" sz="1800" b="1" dirty="0">
                <a:solidFill>
                  <a:schemeClr val="tx2"/>
                </a:solidFill>
              </a:rPr>
              <a:t>Users</a:t>
            </a:r>
            <a:endParaRPr lang="en-US" sz="1800" dirty="0"/>
          </a:p>
        </p:txBody>
      </p:sp>
      <p:sp>
        <p:nvSpPr>
          <p:cNvPr id="5" name="Users ველები"/>
          <p:cNvSpPr txBox="1"/>
          <p:nvPr/>
        </p:nvSpPr>
        <p:spPr>
          <a:xfrm>
            <a:off x="731520" y="2194560"/>
            <a:ext cx="3200400" cy="1463040"/>
          </a:xfrm>
          <a:prstGeom prst="rect">
            <a:avLst/>
          </a:prstGeom>
          <a:noFill/>
          <a:ln/>
        </p:spPr>
        <p:txBody>
          <a:bodyPr wrap="square" lIns="0" tIns="0" rIns="0" bIns="0" rtlCol="0" anchor="t"/>
          <a:lstStyle/>
          <a:p>
            <a:pPr indent="0" marL="0">
              <a:buNone/>
            </a:pPr>
            <a:r>
              <a:rPr lang="en-US" sz="1400" dirty="0">
                <a:solidFill>
                  <a:schemeClr val="tx1"/>
                </a:solidFill>
              </a:rPr>
              <a:t>Email, FullName, IsActive, NotifyByEmail, DepartmentId</a:t>
            </a:r>
            <a:endParaRPr lang="en-US" sz="1400" dirty="0"/>
          </a:p>
        </p:txBody>
      </p:sp>
      <p:sp>
        <p:nvSpPr>
          <p:cNvPr id="6" name="ცხრილი Departments"/>
          <p:cNvSpPr/>
          <p:nvPr/>
        </p:nvSpPr>
        <p:spPr>
          <a:xfrm>
            <a:off x="548640" y="4023360"/>
            <a:ext cx="3566160" cy="1325880"/>
          </a:xfrm>
          <a:prstGeom prst="roundRect">
            <a:avLst>
              <a:gd name="adj" fmla="val 689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Departments სახელი"/>
          <p:cNvSpPr txBox="1"/>
          <p:nvPr/>
        </p:nvSpPr>
        <p:spPr>
          <a:xfrm>
            <a:off x="731520" y="4133088"/>
            <a:ext cx="3200400" cy="411480"/>
          </a:xfrm>
          <a:prstGeom prst="rect">
            <a:avLst/>
          </a:prstGeom>
          <a:noFill/>
          <a:ln/>
        </p:spPr>
        <p:txBody>
          <a:bodyPr wrap="square" lIns="0" tIns="0" rIns="0" bIns="0" rtlCol="0" anchor="ctr"/>
          <a:lstStyle/>
          <a:p>
            <a:pPr indent="0" marL="0">
              <a:buNone/>
            </a:pPr>
            <a:r>
              <a:rPr lang="en-US" sz="1800" b="1" dirty="0">
                <a:solidFill>
                  <a:schemeClr val="tx2"/>
                </a:solidFill>
              </a:rPr>
              <a:t>Departments</a:t>
            </a:r>
            <a:endParaRPr lang="en-US" sz="1800" dirty="0"/>
          </a:p>
        </p:txBody>
      </p:sp>
      <p:sp>
        <p:nvSpPr>
          <p:cNvPr id="8" name="Departments ველები"/>
          <p:cNvSpPr txBox="1"/>
          <p:nvPr/>
        </p:nvSpPr>
        <p:spPr>
          <a:xfrm>
            <a:off x="731520" y="4572000"/>
            <a:ext cx="3200400" cy="685800"/>
          </a:xfrm>
          <a:prstGeom prst="rect">
            <a:avLst/>
          </a:prstGeom>
          <a:noFill/>
          <a:ln/>
        </p:spPr>
        <p:txBody>
          <a:bodyPr wrap="square" lIns="0" tIns="0" rIns="0" bIns="0" rtlCol="0" anchor="t"/>
          <a:lstStyle/>
          <a:p>
            <a:pPr indent="0" marL="0">
              <a:buNone/>
            </a:pPr>
            <a:r>
              <a:rPr lang="en-US" sz="1400" dirty="0">
                <a:solidFill>
                  <a:schemeClr val="tx1"/>
                </a:solidFill>
              </a:rPr>
              <a:t>Name</a:t>
            </a:r>
            <a:endParaRPr lang="en-US" sz="1400" dirty="0"/>
          </a:p>
        </p:txBody>
      </p:sp>
      <p:sp>
        <p:nvSpPr>
          <p:cNvPr id="9" name="ცხრილი Categories"/>
          <p:cNvSpPr/>
          <p:nvPr/>
        </p:nvSpPr>
        <p:spPr>
          <a:xfrm>
            <a:off x="4297680" y="4023360"/>
            <a:ext cx="3566160" cy="1325880"/>
          </a:xfrm>
          <a:prstGeom prst="roundRect">
            <a:avLst>
              <a:gd name="adj" fmla="val 689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Categories სახელი"/>
          <p:cNvSpPr txBox="1"/>
          <p:nvPr/>
        </p:nvSpPr>
        <p:spPr>
          <a:xfrm>
            <a:off x="4480560" y="4133088"/>
            <a:ext cx="3200400" cy="411480"/>
          </a:xfrm>
          <a:prstGeom prst="rect">
            <a:avLst/>
          </a:prstGeom>
          <a:noFill/>
          <a:ln/>
        </p:spPr>
        <p:txBody>
          <a:bodyPr wrap="square" lIns="0" tIns="0" rIns="0" bIns="0" rtlCol="0" anchor="ctr"/>
          <a:lstStyle/>
          <a:p>
            <a:pPr indent="0" marL="0">
              <a:buNone/>
            </a:pPr>
            <a:r>
              <a:rPr lang="en-US" sz="1800" b="1" dirty="0">
                <a:solidFill>
                  <a:schemeClr val="tx2"/>
                </a:solidFill>
              </a:rPr>
              <a:t>Categories</a:t>
            </a:r>
            <a:endParaRPr lang="en-US" sz="1800" dirty="0"/>
          </a:p>
        </p:txBody>
      </p:sp>
      <p:sp>
        <p:nvSpPr>
          <p:cNvPr id="11" name="Categories ველები"/>
          <p:cNvSpPr txBox="1"/>
          <p:nvPr/>
        </p:nvSpPr>
        <p:spPr>
          <a:xfrm>
            <a:off x="4480560" y="4572000"/>
            <a:ext cx="3200400" cy="685800"/>
          </a:xfrm>
          <a:prstGeom prst="rect">
            <a:avLst/>
          </a:prstGeom>
          <a:noFill/>
          <a:ln/>
        </p:spPr>
        <p:txBody>
          <a:bodyPr wrap="square" lIns="0" tIns="0" rIns="0" bIns="0" rtlCol="0" anchor="t"/>
          <a:lstStyle/>
          <a:p>
            <a:pPr indent="0" marL="0">
              <a:buNone/>
            </a:pPr>
            <a:r>
              <a:rPr lang="en-US" sz="1400" dirty="0">
                <a:solidFill>
                  <a:schemeClr val="tx1"/>
                </a:solidFill>
              </a:rPr>
              <a:t>Name, DepartmentId, IsActive</a:t>
            </a:r>
            <a:endParaRPr lang="en-US" sz="1400" dirty="0"/>
          </a:p>
        </p:txBody>
      </p:sp>
      <p:sp>
        <p:nvSpPr>
          <p:cNvPr id="12" name="ცხრილი Reports"/>
          <p:cNvSpPr/>
          <p:nvPr/>
        </p:nvSpPr>
        <p:spPr>
          <a:xfrm>
            <a:off x="4297680" y="1645920"/>
            <a:ext cx="3566160" cy="2103120"/>
          </a:xfrm>
          <a:prstGeom prst="roundRect">
            <a:avLst>
              <a:gd name="adj" fmla="val 434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Reports სახელი"/>
          <p:cNvSpPr txBox="1"/>
          <p:nvPr/>
        </p:nvSpPr>
        <p:spPr>
          <a:xfrm>
            <a:off x="4480560" y="1755648"/>
            <a:ext cx="3200400" cy="411480"/>
          </a:xfrm>
          <a:prstGeom prst="rect">
            <a:avLst/>
          </a:prstGeom>
          <a:noFill/>
          <a:ln/>
        </p:spPr>
        <p:txBody>
          <a:bodyPr wrap="square" lIns="0" tIns="0" rIns="0" bIns="0" rtlCol="0" anchor="ctr"/>
          <a:lstStyle/>
          <a:p>
            <a:pPr indent="0" marL="0">
              <a:buNone/>
            </a:pPr>
            <a:r>
              <a:rPr lang="en-US" sz="1800" b="1" dirty="0">
                <a:solidFill>
                  <a:schemeClr val="tx2"/>
                </a:solidFill>
              </a:rPr>
              <a:t>Reports</a:t>
            </a:r>
            <a:endParaRPr lang="en-US" sz="1800" dirty="0"/>
          </a:p>
        </p:txBody>
      </p:sp>
      <p:sp>
        <p:nvSpPr>
          <p:cNvPr id="14" name="Reports ველები"/>
          <p:cNvSpPr txBox="1"/>
          <p:nvPr/>
        </p:nvSpPr>
        <p:spPr>
          <a:xfrm>
            <a:off x="4480560" y="2194560"/>
            <a:ext cx="3200400" cy="1463040"/>
          </a:xfrm>
          <a:prstGeom prst="rect">
            <a:avLst/>
          </a:prstGeom>
          <a:noFill/>
          <a:ln/>
        </p:spPr>
        <p:txBody>
          <a:bodyPr wrap="square" lIns="0" tIns="0" rIns="0" bIns="0" rtlCol="0" anchor="t"/>
          <a:lstStyle/>
          <a:p>
            <a:pPr indent="0" marL="0">
              <a:buNone/>
            </a:pPr>
            <a:r>
              <a:rPr lang="en-US" sz="1400" dirty="0">
                <a:solidFill>
                  <a:schemeClr val="tx1"/>
                </a:solidFill>
              </a:rPr>
              <a:t>Number, Status, Latitude/Longitude, District, AssigneeId, DueDate, xmin</a:t>
            </a:r>
            <a:endParaRPr lang="en-US" sz="1400" dirty="0"/>
          </a:p>
        </p:txBody>
      </p:sp>
      <p:sp>
        <p:nvSpPr>
          <p:cNvPr id="15" name="ცხრილი ReportPhotos"/>
          <p:cNvSpPr/>
          <p:nvPr/>
        </p:nvSpPr>
        <p:spPr>
          <a:xfrm>
            <a:off x="8046720" y="1645920"/>
            <a:ext cx="3566160" cy="1325880"/>
          </a:xfrm>
          <a:prstGeom prst="roundRect">
            <a:avLst>
              <a:gd name="adj" fmla="val 689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ReportPhotos სახელი"/>
          <p:cNvSpPr txBox="1"/>
          <p:nvPr/>
        </p:nvSpPr>
        <p:spPr>
          <a:xfrm>
            <a:off x="8229600" y="1755648"/>
            <a:ext cx="3200400" cy="411480"/>
          </a:xfrm>
          <a:prstGeom prst="rect">
            <a:avLst/>
          </a:prstGeom>
          <a:noFill/>
          <a:ln/>
        </p:spPr>
        <p:txBody>
          <a:bodyPr wrap="square" lIns="0" tIns="0" rIns="0" bIns="0" rtlCol="0" anchor="ctr"/>
          <a:lstStyle/>
          <a:p>
            <a:pPr indent="0" marL="0">
              <a:buNone/>
            </a:pPr>
            <a:r>
              <a:rPr lang="en-US" sz="1800" b="1" dirty="0">
                <a:solidFill>
                  <a:schemeClr val="tx2"/>
                </a:solidFill>
              </a:rPr>
              <a:t>ReportPhotos</a:t>
            </a:r>
            <a:endParaRPr lang="en-US" sz="1800" dirty="0"/>
          </a:p>
        </p:txBody>
      </p:sp>
      <p:sp>
        <p:nvSpPr>
          <p:cNvPr id="17" name="ReportPhotos ველები"/>
          <p:cNvSpPr txBox="1"/>
          <p:nvPr/>
        </p:nvSpPr>
        <p:spPr>
          <a:xfrm>
            <a:off x="8229600" y="2194560"/>
            <a:ext cx="3200400" cy="685800"/>
          </a:xfrm>
          <a:prstGeom prst="rect">
            <a:avLst/>
          </a:prstGeom>
          <a:noFill/>
          <a:ln/>
        </p:spPr>
        <p:txBody>
          <a:bodyPr wrap="square" lIns="0" tIns="0" rIns="0" bIns="0" rtlCol="0" anchor="t"/>
          <a:lstStyle/>
          <a:p>
            <a:pPr indent="0" marL="0">
              <a:buNone/>
            </a:pPr>
            <a:r>
              <a:rPr lang="en-US" sz="1400" dirty="0">
                <a:solidFill>
                  <a:schemeClr val="tx1"/>
                </a:solidFill>
              </a:rPr>
              <a:t>StorageKey, Kind (Before/After)</a:t>
            </a:r>
            <a:endParaRPr lang="en-US" sz="1400" dirty="0"/>
          </a:p>
        </p:txBody>
      </p:sp>
      <p:sp>
        <p:nvSpPr>
          <p:cNvPr id="18" name="ცხრილი StatusHistory"/>
          <p:cNvSpPr/>
          <p:nvPr/>
        </p:nvSpPr>
        <p:spPr>
          <a:xfrm>
            <a:off x="8046720" y="3291840"/>
            <a:ext cx="3566160" cy="1325880"/>
          </a:xfrm>
          <a:prstGeom prst="roundRect">
            <a:avLst>
              <a:gd name="adj" fmla="val 689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StatusHistory სახელი"/>
          <p:cNvSpPr txBox="1"/>
          <p:nvPr/>
        </p:nvSpPr>
        <p:spPr>
          <a:xfrm>
            <a:off x="8229600" y="3401568"/>
            <a:ext cx="3200400" cy="411480"/>
          </a:xfrm>
          <a:prstGeom prst="rect">
            <a:avLst/>
          </a:prstGeom>
          <a:noFill/>
          <a:ln/>
        </p:spPr>
        <p:txBody>
          <a:bodyPr wrap="square" lIns="0" tIns="0" rIns="0" bIns="0" rtlCol="0" anchor="ctr"/>
          <a:lstStyle/>
          <a:p>
            <a:pPr indent="0" marL="0">
              <a:buNone/>
            </a:pPr>
            <a:r>
              <a:rPr lang="en-US" sz="1800" b="1" dirty="0">
                <a:solidFill>
                  <a:schemeClr val="tx2"/>
                </a:solidFill>
              </a:rPr>
              <a:t>StatusHistory</a:t>
            </a:r>
            <a:endParaRPr lang="en-US" sz="1800" dirty="0"/>
          </a:p>
        </p:txBody>
      </p:sp>
      <p:sp>
        <p:nvSpPr>
          <p:cNvPr id="20" name="StatusHistory ველები"/>
          <p:cNvSpPr txBox="1"/>
          <p:nvPr/>
        </p:nvSpPr>
        <p:spPr>
          <a:xfrm>
            <a:off x="8229600" y="3840480"/>
            <a:ext cx="3200400" cy="685800"/>
          </a:xfrm>
          <a:prstGeom prst="rect">
            <a:avLst/>
          </a:prstGeom>
          <a:noFill/>
          <a:ln/>
        </p:spPr>
        <p:txBody>
          <a:bodyPr wrap="square" lIns="0" tIns="0" rIns="0" bIns="0" rtlCol="0" anchor="t"/>
          <a:lstStyle/>
          <a:p>
            <a:pPr indent="0" marL="0">
              <a:buNone/>
            </a:pPr>
            <a:r>
              <a:rPr lang="en-US" sz="1400" dirty="0">
                <a:solidFill>
                  <a:schemeClr val="tx1"/>
                </a:solidFill>
              </a:rPr>
              <a:t>FromStatus, ToStatus, ChangedById, Comment</a:t>
            </a:r>
            <a:endParaRPr lang="en-US" sz="1400" dirty="0"/>
          </a:p>
        </p:txBody>
      </p:sp>
      <p:sp>
        <p:nvSpPr>
          <p:cNvPr id="21" name="ცხრილი Supports"/>
          <p:cNvSpPr/>
          <p:nvPr/>
        </p:nvSpPr>
        <p:spPr>
          <a:xfrm>
            <a:off x="8046720" y="4937760"/>
            <a:ext cx="3566160" cy="1325880"/>
          </a:xfrm>
          <a:prstGeom prst="roundRect">
            <a:avLst>
              <a:gd name="adj" fmla="val 689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2" name="Supports სახელი"/>
          <p:cNvSpPr txBox="1"/>
          <p:nvPr/>
        </p:nvSpPr>
        <p:spPr>
          <a:xfrm>
            <a:off x="8229600" y="5047488"/>
            <a:ext cx="3200400" cy="411480"/>
          </a:xfrm>
          <a:prstGeom prst="rect">
            <a:avLst/>
          </a:prstGeom>
          <a:noFill/>
          <a:ln/>
        </p:spPr>
        <p:txBody>
          <a:bodyPr wrap="square" lIns="0" tIns="0" rIns="0" bIns="0" rtlCol="0" anchor="ctr"/>
          <a:lstStyle/>
          <a:p>
            <a:pPr indent="0" marL="0">
              <a:buNone/>
            </a:pPr>
            <a:r>
              <a:rPr lang="en-US" sz="1800" b="1" dirty="0">
                <a:solidFill>
                  <a:schemeClr val="tx2"/>
                </a:solidFill>
              </a:rPr>
              <a:t>Supports</a:t>
            </a:r>
            <a:endParaRPr lang="en-US" sz="1800" dirty="0"/>
          </a:p>
        </p:txBody>
      </p:sp>
      <p:sp>
        <p:nvSpPr>
          <p:cNvPr id="23" name="Supports ველები"/>
          <p:cNvSpPr txBox="1"/>
          <p:nvPr/>
        </p:nvSpPr>
        <p:spPr>
          <a:xfrm>
            <a:off x="8229600" y="5486400"/>
            <a:ext cx="3200400" cy="685800"/>
          </a:xfrm>
          <a:prstGeom prst="rect">
            <a:avLst/>
          </a:prstGeom>
          <a:noFill/>
          <a:ln/>
        </p:spPr>
        <p:txBody>
          <a:bodyPr wrap="square" lIns="0" tIns="0" rIns="0" bIns="0" rtlCol="0" anchor="t"/>
          <a:lstStyle/>
          <a:p>
            <a:pPr indent="0" marL="0">
              <a:buNone/>
            </a:pPr>
            <a:r>
              <a:rPr lang="en-US" sz="1400" dirty="0">
                <a:solidFill>
                  <a:schemeClr val="tx1"/>
                </a:solidFill>
              </a:rPr>
              <a:t>ReportId + UserId</a:t>
            </a:r>
            <a:endParaRPr lang="en-US" sz="1400" dirty="0"/>
          </a:p>
        </p:txBody>
      </p:sp>
      <p:sp>
        <p:nvSpPr>
          <p:cNvPr id="24" name="Users → Reports"/>
          <p:cNvSpPr/>
          <p:nvPr/>
        </p:nvSpPr>
        <p:spPr>
          <a:xfrm>
            <a:off x="4114800" y="2651760"/>
            <a:ext cx="182880" cy="0"/>
          </a:xfrm>
          <a:prstGeom prst="line">
            <a:avLst/>
          </a:prstGeom>
          <a:noFill/>
          <a:ln w="25400">
            <a:solidFill>
              <a:schemeClr val="accent6"/>
            </a:solidFill>
            <a:prstDash val="solid"/>
            <a:tailEnd type="triangle"/>
          </a:ln>
        </p:spPr>
      </p:sp>
      <p:sp>
        <p:nvSpPr>
          <p:cNvPr id="25" name="Reports → Categories"/>
          <p:cNvSpPr/>
          <p:nvPr/>
        </p:nvSpPr>
        <p:spPr>
          <a:xfrm>
            <a:off x="6080760" y="3749040"/>
            <a:ext cx="0" cy="274320"/>
          </a:xfrm>
          <a:prstGeom prst="line">
            <a:avLst/>
          </a:prstGeom>
          <a:noFill/>
          <a:ln w="25400">
            <a:solidFill>
              <a:schemeClr val="accent6"/>
            </a:solidFill>
            <a:prstDash val="solid"/>
            <a:tailEnd type="triangle"/>
          </a:ln>
        </p:spPr>
      </p:sp>
      <p:sp>
        <p:nvSpPr>
          <p:cNvPr id="26" name="Users → Departments"/>
          <p:cNvSpPr/>
          <p:nvPr/>
        </p:nvSpPr>
        <p:spPr>
          <a:xfrm>
            <a:off x="2331720" y="3749040"/>
            <a:ext cx="0" cy="274320"/>
          </a:xfrm>
          <a:prstGeom prst="line">
            <a:avLst/>
          </a:prstGeom>
          <a:noFill/>
          <a:ln w="25400">
            <a:solidFill>
              <a:schemeClr val="accent6"/>
            </a:solidFill>
            <a:prstDash val="solid"/>
            <a:tailEnd type="triangle"/>
          </a:ln>
        </p:spPr>
      </p:sp>
      <p:sp>
        <p:nvSpPr>
          <p:cNvPr id="27" name="Categories → Departments"/>
          <p:cNvSpPr/>
          <p:nvPr/>
        </p:nvSpPr>
        <p:spPr>
          <a:xfrm flipH="1">
            <a:off x="4114800" y="4663440"/>
            <a:ext cx="182880" cy="0"/>
          </a:xfrm>
          <a:prstGeom prst="line">
            <a:avLst/>
          </a:prstGeom>
          <a:noFill/>
          <a:ln w="25400">
            <a:solidFill>
              <a:schemeClr val="accent6"/>
            </a:solidFill>
            <a:prstDash val="solid"/>
            <a:tailEnd type="triangle"/>
          </a:ln>
        </p:spPr>
      </p:sp>
      <p:sp>
        <p:nvSpPr>
          <p:cNvPr id="28" name="Reports → ReportPhotos"/>
          <p:cNvSpPr/>
          <p:nvPr/>
        </p:nvSpPr>
        <p:spPr>
          <a:xfrm>
            <a:off x="7863840" y="2286000"/>
            <a:ext cx="182880" cy="0"/>
          </a:xfrm>
          <a:prstGeom prst="line">
            <a:avLst/>
          </a:prstGeom>
          <a:noFill/>
          <a:ln w="25400">
            <a:solidFill>
              <a:schemeClr val="accent6"/>
            </a:solidFill>
            <a:prstDash val="solid"/>
            <a:tailEnd type="triangle"/>
          </a:ln>
        </p:spPr>
      </p:sp>
      <p:sp>
        <p:nvSpPr>
          <p:cNvPr id="29" name="Reports → StatusHistory"/>
          <p:cNvSpPr/>
          <p:nvPr/>
        </p:nvSpPr>
        <p:spPr>
          <a:xfrm>
            <a:off x="7863840" y="3108960"/>
            <a:ext cx="182880" cy="731520"/>
          </a:xfrm>
          <a:prstGeom prst="line">
            <a:avLst/>
          </a:prstGeom>
          <a:noFill/>
          <a:ln w="25400">
            <a:solidFill>
              <a:schemeClr val="accent6"/>
            </a:solidFill>
            <a:prstDash val="solid"/>
            <a:tailEnd type="triangle"/>
          </a:ln>
        </p:spPr>
      </p:sp>
      <p:sp>
        <p:nvSpPr>
          <p:cNvPr id="30" name="Reports → Supports"/>
          <p:cNvSpPr/>
          <p:nvPr/>
        </p:nvSpPr>
        <p:spPr>
          <a:xfrm>
            <a:off x="7863840" y="3566160"/>
            <a:ext cx="182880" cy="1828800"/>
          </a:xfrm>
          <a:prstGeom prst="line">
            <a:avLst/>
          </a:prstGeom>
          <a:noFill/>
          <a:ln w="25400">
            <a:solidFill>
              <a:schemeClr val="accent6"/>
            </a:solidFill>
            <a:prstDash val="solid"/>
            <a:tailEnd type="triangle"/>
          </a:ln>
        </p:spPr>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lIns="0" tIns="0" rIns="0" bIns="0" rtlCol="0" anchor="ctr"/>
          <a:lstStyle/>
          <a:p>
            <a:pPr indent="0" marL="0">
              <a:buNone/>
            </a:pPr>
            <a:r>
              <a:rPr lang="en-US" sz="3200" b="1" dirty="0">
                <a:solidFill>
                  <a:schemeClr val="tx2"/>
                </a:solidFill>
              </a:rPr>
              <a:t>უსაფრთხოება და პერსონალური მონაცემები</a:t>
            </a:r>
            <a:endParaRPr lang="en-US" sz="3200" dirty="0"/>
          </a:p>
        </p:txBody>
      </p:sp>
      <p:sp>
        <p:nvSpPr>
          <p:cNvPr id="3" name="უსაფრთხოების ბარათი HTTPS და HSTS"/>
          <p:cNvSpPr/>
          <p:nvPr/>
        </p:nvSpPr>
        <p:spPr>
          <a:xfrm>
            <a:off x="548640" y="155448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წრე HTTPS და HSTS"/>
          <p:cNvSpPr/>
          <p:nvPr/>
        </p:nvSpPr>
        <p:spPr>
          <a:xfrm>
            <a:off x="777240" y="1783080"/>
            <a:ext cx="640080" cy="640080"/>
          </a:xfrm>
          <a:prstGeom prst="ellipse">
            <a:avLst/>
          </a:prstGeom>
          <a:solidFill>
            <a:schemeClr val="accent1"/>
          </a:solidFill>
          <a:ln w="12700">
            <a:solidFill>
              <a:schemeClr val="accent1"/>
            </a:solidFill>
            <a:prstDash val="solid"/>
          </a:ln>
        </p:spPr>
      </p:sp>
      <p:pic>
        <p:nvPicPr>
          <p:cNvPr id="5" name="Image 0" descr="HTTPS და HSTS">    </p:cNvPr>
          <p:cNvPicPr>
            <a:picLocks noChangeAspect="1"/>
          </p:cNvPicPr>
          <p:nvPr/>
        </p:nvPicPr>
        <p:blipFill>
          <a:blip r:embed="rId1"/>
          <a:stretch>
            <a:fillRect/>
          </a:stretch>
        </p:blipFill>
        <p:spPr>
          <a:xfrm>
            <a:off x="932688" y="1938528"/>
            <a:ext cx="329184" cy="329184"/>
          </a:xfrm>
          <a:prstGeom prst="rect">
            <a:avLst/>
          </a:prstGeom>
        </p:spPr>
      </p:pic>
      <p:sp>
        <p:nvSpPr>
          <p:cNvPr id="6" name="სათაური HTTPS და HSTS"/>
          <p:cNvSpPr txBox="1"/>
          <p:nvPr/>
        </p:nvSpPr>
        <p:spPr>
          <a:xfrm>
            <a:off x="1554480" y="1783080"/>
            <a:ext cx="2377440" cy="640080"/>
          </a:xfrm>
          <a:prstGeom prst="rect">
            <a:avLst/>
          </a:prstGeom>
          <a:noFill/>
          <a:ln/>
        </p:spPr>
        <p:txBody>
          <a:bodyPr wrap="square" lIns="0" tIns="0" rIns="0" bIns="0" rtlCol="0" anchor="ctr"/>
          <a:lstStyle/>
          <a:p>
            <a:pPr indent="0" marL="0">
              <a:buNone/>
            </a:pPr>
            <a:r>
              <a:rPr lang="en-US" sz="1800" b="1" dirty="0">
                <a:solidFill>
                  <a:schemeClr val="tx2"/>
                </a:solidFill>
              </a:rPr>
              <a:t>HTTPS და HSTS</a:t>
            </a:r>
            <a:endParaRPr lang="en-US" sz="1800" dirty="0"/>
          </a:p>
        </p:txBody>
      </p:sp>
      <p:sp>
        <p:nvSpPr>
          <p:cNvPr id="7" name="აღწერა HTTPS და HSTS"/>
          <p:cNvSpPr txBox="1"/>
          <p:nvPr/>
        </p:nvSpPr>
        <p:spPr>
          <a:xfrm>
            <a:off x="777240" y="2560320"/>
            <a:ext cx="3108960" cy="1143000"/>
          </a:xfrm>
          <a:prstGeom prst="rect">
            <a:avLst/>
          </a:prstGeom>
          <a:noFill/>
          <a:ln/>
        </p:spPr>
        <p:txBody>
          <a:bodyPr wrap="square" lIns="0" tIns="0" rIns="0" bIns="0" rtlCol="0" anchor="t"/>
          <a:lstStyle/>
          <a:p>
            <a:pPr indent="0" marL="0">
              <a:buNone/>
            </a:pPr>
            <a:r>
              <a:rPr lang="en-US" sz="1400" dirty="0">
                <a:solidFill>
                  <a:schemeClr val="tx1"/>
                </a:solidFill>
              </a:rPr>
              <a:t>მხოლოდ დაცული კავშირი; cookie-ები Secure, HttpOnly, SameSite</a:t>
            </a:r>
            <a:endParaRPr lang="en-US" sz="1400" dirty="0"/>
          </a:p>
        </p:txBody>
      </p:sp>
      <p:sp>
        <p:nvSpPr>
          <p:cNvPr id="8" name="უსაფრთხოების ბარათი პაროლები"/>
          <p:cNvSpPr/>
          <p:nvPr/>
        </p:nvSpPr>
        <p:spPr>
          <a:xfrm>
            <a:off x="4297680" y="155448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წრე პაროლები"/>
          <p:cNvSpPr/>
          <p:nvPr/>
        </p:nvSpPr>
        <p:spPr>
          <a:xfrm>
            <a:off x="4526280" y="1783080"/>
            <a:ext cx="640080" cy="640080"/>
          </a:xfrm>
          <a:prstGeom prst="ellipse">
            <a:avLst/>
          </a:prstGeom>
          <a:solidFill>
            <a:schemeClr val="accent1"/>
          </a:solidFill>
          <a:ln w="12700">
            <a:solidFill>
              <a:schemeClr val="accent1"/>
            </a:solidFill>
            <a:prstDash val="solid"/>
          </a:ln>
        </p:spPr>
      </p:sp>
      <p:pic>
        <p:nvPicPr>
          <p:cNvPr id="10" name="Image 1" descr="პაროლები">    </p:cNvPr>
          <p:cNvPicPr>
            <a:picLocks noChangeAspect="1"/>
          </p:cNvPicPr>
          <p:nvPr/>
        </p:nvPicPr>
        <p:blipFill>
          <a:blip r:embed="rId2"/>
          <a:stretch>
            <a:fillRect/>
          </a:stretch>
        </p:blipFill>
        <p:spPr>
          <a:xfrm>
            <a:off x="4681728" y="1938528"/>
            <a:ext cx="329184" cy="329184"/>
          </a:xfrm>
          <a:prstGeom prst="rect">
            <a:avLst/>
          </a:prstGeom>
        </p:spPr>
      </p:pic>
      <p:sp>
        <p:nvSpPr>
          <p:cNvPr id="11" name="სათაური პაროლები"/>
          <p:cNvSpPr txBox="1"/>
          <p:nvPr/>
        </p:nvSpPr>
        <p:spPr>
          <a:xfrm>
            <a:off x="5303520" y="1783080"/>
            <a:ext cx="2377440" cy="640080"/>
          </a:xfrm>
          <a:prstGeom prst="rect">
            <a:avLst/>
          </a:prstGeom>
          <a:noFill/>
          <a:ln/>
        </p:spPr>
        <p:txBody>
          <a:bodyPr wrap="square" lIns="0" tIns="0" rIns="0" bIns="0" rtlCol="0" anchor="ctr"/>
          <a:lstStyle/>
          <a:p>
            <a:pPr indent="0" marL="0">
              <a:buNone/>
            </a:pPr>
            <a:r>
              <a:rPr lang="en-US" sz="1800" b="1" dirty="0">
                <a:solidFill>
                  <a:schemeClr val="tx2"/>
                </a:solidFill>
              </a:rPr>
              <a:t>პაროლები</a:t>
            </a:r>
            <a:endParaRPr lang="en-US" sz="1800" dirty="0"/>
          </a:p>
        </p:txBody>
      </p:sp>
      <p:sp>
        <p:nvSpPr>
          <p:cNvPr id="12" name="აღწერა პაროლები"/>
          <p:cNvSpPr txBox="1"/>
          <p:nvPr/>
        </p:nvSpPr>
        <p:spPr>
          <a:xfrm>
            <a:off x="4526280" y="2560320"/>
            <a:ext cx="3108960" cy="1143000"/>
          </a:xfrm>
          <a:prstGeom prst="rect">
            <a:avLst/>
          </a:prstGeom>
          <a:noFill/>
          <a:ln/>
        </p:spPr>
        <p:txBody>
          <a:bodyPr wrap="square" lIns="0" tIns="0" rIns="0" bIns="0" rtlCol="0" anchor="t"/>
          <a:lstStyle/>
          <a:p>
            <a:pPr indent="0" marL="0">
              <a:buNone/>
            </a:pPr>
            <a:r>
              <a:rPr lang="en-US" sz="1400" dirty="0">
                <a:solidFill>
                  <a:schemeClr val="tx1"/>
                </a:solidFill>
              </a:rPr>
              <a:t>ASP.NET Identity PBKDF2 (≥ 100 000 იტერაცია); 5 მცდელობის შემდეგ 15 წუთი ბლოკი</a:t>
            </a:r>
            <a:endParaRPr lang="en-US" sz="1400" dirty="0"/>
          </a:p>
        </p:txBody>
      </p:sp>
      <p:sp>
        <p:nvSpPr>
          <p:cNvPr id="13" name="უსაფრთხოების ბარათი როლები"/>
          <p:cNvSpPr/>
          <p:nvPr/>
        </p:nvSpPr>
        <p:spPr>
          <a:xfrm>
            <a:off x="8046720" y="155448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წრე როლები"/>
          <p:cNvSpPr/>
          <p:nvPr/>
        </p:nvSpPr>
        <p:spPr>
          <a:xfrm>
            <a:off x="8275320" y="1783080"/>
            <a:ext cx="640080" cy="640080"/>
          </a:xfrm>
          <a:prstGeom prst="ellipse">
            <a:avLst/>
          </a:prstGeom>
          <a:solidFill>
            <a:schemeClr val="accent1"/>
          </a:solidFill>
          <a:ln w="12700">
            <a:solidFill>
              <a:schemeClr val="accent1"/>
            </a:solidFill>
            <a:prstDash val="solid"/>
          </a:ln>
        </p:spPr>
      </p:sp>
      <p:pic>
        <p:nvPicPr>
          <p:cNvPr id="15" name="Image 2" descr="როლები">    </p:cNvPr>
          <p:cNvPicPr>
            <a:picLocks noChangeAspect="1"/>
          </p:cNvPicPr>
          <p:nvPr/>
        </p:nvPicPr>
        <p:blipFill>
          <a:blip r:embed="rId3"/>
          <a:stretch>
            <a:fillRect/>
          </a:stretch>
        </p:blipFill>
        <p:spPr>
          <a:xfrm>
            <a:off x="8430768" y="1938528"/>
            <a:ext cx="329184" cy="329184"/>
          </a:xfrm>
          <a:prstGeom prst="rect">
            <a:avLst/>
          </a:prstGeom>
        </p:spPr>
      </p:pic>
      <p:sp>
        <p:nvSpPr>
          <p:cNvPr id="16" name="სათაური როლები"/>
          <p:cNvSpPr txBox="1"/>
          <p:nvPr/>
        </p:nvSpPr>
        <p:spPr>
          <a:xfrm>
            <a:off x="9052560" y="1783080"/>
            <a:ext cx="2377440" cy="640080"/>
          </a:xfrm>
          <a:prstGeom prst="rect">
            <a:avLst/>
          </a:prstGeom>
          <a:noFill/>
          <a:ln/>
        </p:spPr>
        <p:txBody>
          <a:bodyPr wrap="square" lIns="0" tIns="0" rIns="0" bIns="0" rtlCol="0" anchor="ctr"/>
          <a:lstStyle/>
          <a:p>
            <a:pPr indent="0" marL="0">
              <a:buNone/>
            </a:pPr>
            <a:r>
              <a:rPr lang="en-US" sz="1800" b="1" dirty="0">
                <a:solidFill>
                  <a:schemeClr val="tx2"/>
                </a:solidFill>
              </a:rPr>
              <a:t>როლები</a:t>
            </a:r>
            <a:endParaRPr lang="en-US" sz="1800" dirty="0"/>
          </a:p>
        </p:txBody>
      </p:sp>
      <p:sp>
        <p:nvSpPr>
          <p:cNvPr id="17" name="აღწერა როლები"/>
          <p:cNvSpPr txBox="1"/>
          <p:nvPr/>
        </p:nvSpPr>
        <p:spPr>
          <a:xfrm>
            <a:off x="8275320" y="2560320"/>
            <a:ext cx="3108960" cy="1143000"/>
          </a:xfrm>
          <a:prstGeom prst="rect">
            <a:avLst/>
          </a:prstGeom>
          <a:noFill/>
          <a:ln/>
        </p:spPr>
        <p:txBody>
          <a:bodyPr wrap="square" lIns="0" tIns="0" rIns="0" bIns="0" rtlCol="0" anchor="t"/>
          <a:lstStyle/>
          <a:p>
            <a:pPr indent="0" marL="0">
              <a:buNone/>
            </a:pPr>
            <a:r>
              <a:rPr lang="en-US" sz="1400" dirty="0">
                <a:solidFill>
                  <a:schemeClr val="tx1"/>
                </a:solidFill>
              </a:rPr>
              <a:t>[Authorize(Roles)] ყველა action-ზე; 403 უფლების გარეშე</a:t>
            </a:r>
            <a:endParaRPr lang="en-US" sz="1400" dirty="0"/>
          </a:p>
        </p:txBody>
      </p:sp>
      <p:sp>
        <p:nvSpPr>
          <p:cNvPr id="18" name="უსაფრთხოების ბარათი EXIF და ფოტოები"/>
          <p:cNvSpPr/>
          <p:nvPr/>
        </p:nvSpPr>
        <p:spPr>
          <a:xfrm>
            <a:off x="548640" y="397764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წრე EXIF და ფოტოები"/>
          <p:cNvSpPr/>
          <p:nvPr/>
        </p:nvSpPr>
        <p:spPr>
          <a:xfrm>
            <a:off x="777240" y="4206240"/>
            <a:ext cx="640080" cy="640080"/>
          </a:xfrm>
          <a:prstGeom prst="ellipse">
            <a:avLst/>
          </a:prstGeom>
          <a:solidFill>
            <a:schemeClr val="accent1"/>
          </a:solidFill>
          <a:ln w="12700">
            <a:solidFill>
              <a:schemeClr val="accent1"/>
            </a:solidFill>
            <a:prstDash val="solid"/>
          </a:ln>
        </p:spPr>
      </p:sp>
      <p:pic>
        <p:nvPicPr>
          <p:cNvPr id="20" name="Image 3" descr="EXIF და ფოტოები">    </p:cNvPr>
          <p:cNvPicPr>
            <a:picLocks noChangeAspect="1"/>
          </p:cNvPicPr>
          <p:nvPr/>
        </p:nvPicPr>
        <p:blipFill>
          <a:blip r:embed="rId4"/>
          <a:stretch>
            <a:fillRect/>
          </a:stretch>
        </p:blipFill>
        <p:spPr>
          <a:xfrm>
            <a:off x="932688" y="4361688"/>
            <a:ext cx="329184" cy="329184"/>
          </a:xfrm>
          <a:prstGeom prst="rect">
            <a:avLst/>
          </a:prstGeom>
        </p:spPr>
      </p:pic>
      <p:sp>
        <p:nvSpPr>
          <p:cNvPr id="21" name="სათაური EXIF და ფოტოები"/>
          <p:cNvSpPr txBox="1"/>
          <p:nvPr/>
        </p:nvSpPr>
        <p:spPr>
          <a:xfrm>
            <a:off x="1554480" y="4206240"/>
            <a:ext cx="2377440" cy="640080"/>
          </a:xfrm>
          <a:prstGeom prst="rect">
            <a:avLst/>
          </a:prstGeom>
          <a:noFill/>
          <a:ln/>
        </p:spPr>
        <p:txBody>
          <a:bodyPr wrap="square" lIns="0" tIns="0" rIns="0" bIns="0" rtlCol="0" anchor="ctr"/>
          <a:lstStyle/>
          <a:p>
            <a:pPr indent="0" marL="0">
              <a:buNone/>
            </a:pPr>
            <a:r>
              <a:rPr lang="en-US" sz="1800" b="1" dirty="0">
                <a:solidFill>
                  <a:schemeClr val="tx2"/>
                </a:solidFill>
              </a:rPr>
              <a:t>EXIF და ფოტოები</a:t>
            </a:r>
            <a:endParaRPr lang="en-US" sz="1800" dirty="0"/>
          </a:p>
        </p:txBody>
      </p:sp>
      <p:sp>
        <p:nvSpPr>
          <p:cNvPr id="22" name="აღწერა EXIF და ფოტოები"/>
          <p:cNvSpPr txBox="1"/>
          <p:nvPr/>
        </p:nvSpPr>
        <p:spPr>
          <a:xfrm>
            <a:off x="777240" y="4983480"/>
            <a:ext cx="3108960" cy="1143000"/>
          </a:xfrm>
          <a:prstGeom prst="rect">
            <a:avLst/>
          </a:prstGeom>
          <a:noFill/>
          <a:ln/>
        </p:spPr>
        <p:txBody>
          <a:bodyPr wrap="square" lIns="0" tIns="0" rIns="0" bIns="0" rtlCol="0" anchor="t"/>
          <a:lstStyle/>
          <a:p>
            <a:pPr indent="0" marL="0">
              <a:buNone/>
            </a:pPr>
            <a:r>
              <a:rPr lang="en-US" sz="1400" dirty="0">
                <a:solidFill>
                  <a:schemeClr val="tx1"/>
                </a:solidFill>
              </a:rPr>
              <a:t>EXIF იშლება 100%-ზე; საჯაროდ ჩანს მხოლოდ მიღებული შეტყობინებების ფოტო</a:t>
            </a:r>
            <a:endParaRPr lang="en-US" sz="1400" dirty="0"/>
          </a:p>
        </p:txBody>
      </p:sp>
      <p:sp>
        <p:nvSpPr>
          <p:cNvPr id="23" name="უსაფრთხოების ბარათი საჯარო რუკა"/>
          <p:cNvSpPr/>
          <p:nvPr/>
        </p:nvSpPr>
        <p:spPr>
          <a:xfrm>
            <a:off x="4297680" y="397764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წრე საჯარო რუკა"/>
          <p:cNvSpPr/>
          <p:nvPr/>
        </p:nvSpPr>
        <p:spPr>
          <a:xfrm>
            <a:off x="4526280" y="4206240"/>
            <a:ext cx="640080" cy="640080"/>
          </a:xfrm>
          <a:prstGeom prst="ellipse">
            <a:avLst/>
          </a:prstGeom>
          <a:solidFill>
            <a:schemeClr val="accent1"/>
          </a:solidFill>
          <a:ln w="12700">
            <a:solidFill>
              <a:schemeClr val="accent1"/>
            </a:solidFill>
            <a:prstDash val="solid"/>
          </a:ln>
        </p:spPr>
      </p:sp>
      <p:pic>
        <p:nvPicPr>
          <p:cNvPr id="25" name="Image 4" descr="საჯარო რუკა">    </p:cNvPr>
          <p:cNvPicPr>
            <a:picLocks noChangeAspect="1"/>
          </p:cNvPicPr>
          <p:nvPr/>
        </p:nvPicPr>
        <p:blipFill>
          <a:blip r:embed="rId5"/>
          <a:stretch>
            <a:fillRect/>
          </a:stretch>
        </p:blipFill>
        <p:spPr>
          <a:xfrm>
            <a:off x="4681728" y="4361688"/>
            <a:ext cx="329184" cy="329184"/>
          </a:xfrm>
          <a:prstGeom prst="rect">
            <a:avLst/>
          </a:prstGeom>
        </p:spPr>
      </p:pic>
      <p:sp>
        <p:nvSpPr>
          <p:cNvPr id="26" name="სათაური საჯარო რუკა"/>
          <p:cNvSpPr txBox="1"/>
          <p:nvPr/>
        </p:nvSpPr>
        <p:spPr>
          <a:xfrm>
            <a:off x="5303520" y="4206240"/>
            <a:ext cx="2377440" cy="640080"/>
          </a:xfrm>
          <a:prstGeom prst="rect">
            <a:avLst/>
          </a:prstGeom>
          <a:noFill/>
          <a:ln/>
        </p:spPr>
        <p:txBody>
          <a:bodyPr wrap="square" lIns="0" tIns="0" rIns="0" bIns="0" rtlCol="0" anchor="ctr"/>
          <a:lstStyle/>
          <a:p>
            <a:pPr indent="0" marL="0">
              <a:buNone/>
            </a:pPr>
            <a:r>
              <a:rPr lang="en-US" sz="1800" b="1" dirty="0">
                <a:solidFill>
                  <a:schemeClr val="tx2"/>
                </a:solidFill>
              </a:rPr>
              <a:t>საჯარო რუკა</a:t>
            </a:r>
            <a:endParaRPr lang="en-US" sz="1800" dirty="0"/>
          </a:p>
        </p:txBody>
      </p:sp>
      <p:sp>
        <p:nvSpPr>
          <p:cNvPr id="27" name="აღწერა საჯარო რუკა"/>
          <p:cNvSpPr txBox="1"/>
          <p:nvPr/>
        </p:nvSpPr>
        <p:spPr>
          <a:xfrm>
            <a:off x="4526280" y="4983480"/>
            <a:ext cx="3108960" cy="1143000"/>
          </a:xfrm>
          <a:prstGeom prst="rect">
            <a:avLst/>
          </a:prstGeom>
          <a:noFill/>
          <a:ln/>
        </p:spPr>
        <p:txBody>
          <a:bodyPr wrap="square" lIns="0" tIns="0" rIns="0" bIns="0" rtlCol="0" anchor="t"/>
          <a:lstStyle/>
          <a:p>
            <a:pPr indent="0" marL="0">
              <a:buNone/>
            </a:pPr>
            <a:r>
              <a:rPr lang="en-US" sz="1400" dirty="0">
                <a:solidFill>
                  <a:schemeClr val="tx1"/>
                </a:solidFill>
              </a:rPr>
              <a:t>ავტორის მონაცემების გარეშე; New და Rejected არ ჩანს</a:t>
            </a:r>
            <a:endParaRPr lang="en-US" sz="1400" dirty="0"/>
          </a:p>
        </p:txBody>
      </p:sp>
      <p:sp>
        <p:nvSpPr>
          <p:cNvPr id="28" name="უსაფრთხოების ბარათი Rate limit"/>
          <p:cNvSpPr/>
          <p:nvPr/>
        </p:nvSpPr>
        <p:spPr>
          <a:xfrm>
            <a:off x="8046720" y="397764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9" name="წრე Rate limit"/>
          <p:cNvSpPr/>
          <p:nvPr/>
        </p:nvSpPr>
        <p:spPr>
          <a:xfrm>
            <a:off x="8275320" y="4206240"/>
            <a:ext cx="640080" cy="640080"/>
          </a:xfrm>
          <a:prstGeom prst="ellipse">
            <a:avLst/>
          </a:prstGeom>
          <a:solidFill>
            <a:schemeClr val="accent1"/>
          </a:solidFill>
          <a:ln w="12700">
            <a:solidFill>
              <a:schemeClr val="accent1"/>
            </a:solidFill>
            <a:prstDash val="solid"/>
          </a:ln>
        </p:spPr>
      </p:sp>
      <p:pic>
        <p:nvPicPr>
          <p:cNvPr id="30" name="Image 5" descr="Rate limit">    </p:cNvPr>
          <p:cNvPicPr>
            <a:picLocks noChangeAspect="1"/>
          </p:cNvPicPr>
          <p:nvPr/>
        </p:nvPicPr>
        <p:blipFill>
          <a:blip r:embed="rId6"/>
          <a:stretch>
            <a:fillRect/>
          </a:stretch>
        </p:blipFill>
        <p:spPr>
          <a:xfrm>
            <a:off x="8430768" y="4361688"/>
            <a:ext cx="329184" cy="329184"/>
          </a:xfrm>
          <a:prstGeom prst="rect">
            <a:avLst/>
          </a:prstGeom>
        </p:spPr>
      </p:pic>
      <p:sp>
        <p:nvSpPr>
          <p:cNvPr id="31" name="სათაური Rate limit"/>
          <p:cNvSpPr txBox="1"/>
          <p:nvPr/>
        </p:nvSpPr>
        <p:spPr>
          <a:xfrm>
            <a:off x="9052560" y="4206240"/>
            <a:ext cx="2377440" cy="640080"/>
          </a:xfrm>
          <a:prstGeom prst="rect">
            <a:avLst/>
          </a:prstGeom>
          <a:noFill/>
          <a:ln/>
        </p:spPr>
        <p:txBody>
          <a:bodyPr wrap="square" lIns="0" tIns="0" rIns="0" bIns="0" rtlCol="0" anchor="ctr"/>
          <a:lstStyle/>
          <a:p>
            <a:pPr indent="0" marL="0">
              <a:buNone/>
            </a:pPr>
            <a:r>
              <a:rPr lang="en-US" sz="1800" b="1" dirty="0">
                <a:solidFill>
                  <a:schemeClr val="tx2"/>
                </a:solidFill>
              </a:rPr>
              <a:t>Rate limit</a:t>
            </a:r>
            <a:endParaRPr lang="en-US" sz="1800" dirty="0"/>
          </a:p>
        </p:txBody>
      </p:sp>
      <p:sp>
        <p:nvSpPr>
          <p:cNvPr id="32" name="აღწერა Rate limit"/>
          <p:cNvSpPr txBox="1"/>
          <p:nvPr/>
        </p:nvSpPr>
        <p:spPr>
          <a:xfrm>
            <a:off x="8275320" y="4983480"/>
            <a:ext cx="3108960" cy="1143000"/>
          </a:xfrm>
          <a:prstGeom prst="rect">
            <a:avLst/>
          </a:prstGeom>
          <a:noFill/>
          <a:ln/>
        </p:spPr>
        <p:txBody>
          <a:bodyPr wrap="square" lIns="0" tIns="0" rIns="0" bIns="0" rtlCol="0" anchor="t"/>
          <a:lstStyle/>
          <a:p>
            <a:pPr indent="0" marL="0">
              <a:buNone/>
            </a:pPr>
            <a:r>
              <a:rPr lang="en-US" sz="1400" dirty="0">
                <a:solidFill>
                  <a:schemeClr val="tx1"/>
                </a:solidFill>
              </a:rPr>
              <a:t>≤ 10 შეტყობინება საათში მომხმარებელზე; ≤ 10 შესვლის მცდელობა წუთში IP-ზე</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lIns="0" tIns="0" rIns="0" bIns="0" rtlCol="0" anchor="ctr"/>
          <a:lstStyle/>
          <a:p>
            <a:pPr indent="0" marL="0">
              <a:buNone/>
            </a:pPr>
            <a:r>
              <a:rPr lang="en-US" sz="3200" b="1" dirty="0">
                <a:solidFill>
                  <a:schemeClr val="tx2"/>
                </a:solidFill>
              </a:rPr>
              <a:t>არაფუნქციური მოთხოვნები ციფრებით</a:t>
            </a:r>
            <a:endParaRPr lang="en-US" sz="3200" dirty="0"/>
          </a:p>
        </p:txBody>
      </p:sp>
      <p:sp>
        <p:nvSpPr>
          <p:cNvPr id="3" name="NFR 99.9%"/>
          <p:cNvSpPr/>
          <p:nvPr/>
        </p:nvSpPr>
        <p:spPr>
          <a:xfrm>
            <a:off x="548640" y="155448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NFR რიცხვი 99.9%"/>
          <p:cNvSpPr txBox="1"/>
          <p:nvPr/>
        </p:nvSpPr>
        <p:spPr>
          <a:xfrm>
            <a:off x="777240" y="1783080"/>
            <a:ext cx="3108960" cy="914400"/>
          </a:xfrm>
          <a:prstGeom prst="rect">
            <a:avLst/>
          </a:prstGeom>
          <a:noFill/>
          <a:ln/>
        </p:spPr>
        <p:txBody>
          <a:bodyPr wrap="square" lIns="0" tIns="0" rIns="0" bIns="0" rtlCol="0" anchor="ctr"/>
          <a:lstStyle/>
          <a:p>
            <a:pPr indent="0" marL="0">
              <a:buNone/>
            </a:pPr>
            <a:r>
              <a:rPr lang="en-US" sz="4000" b="1" dirty="0">
                <a:solidFill>
                  <a:schemeClr val="accent1"/>
                </a:solidFill>
              </a:rPr>
              <a:t>99.9%</a:t>
            </a:r>
            <a:endParaRPr lang="en-US" sz="4000" dirty="0"/>
          </a:p>
        </p:txBody>
      </p:sp>
      <p:sp>
        <p:nvSpPr>
          <p:cNvPr id="5" name="NFR აღწერა 99.9%"/>
          <p:cNvSpPr txBox="1"/>
          <p:nvPr/>
        </p:nvSpPr>
        <p:spPr>
          <a:xfrm>
            <a:off x="777240" y="2743200"/>
            <a:ext cx="3108960" cy="914400"/>
          </a:xfrm>
          <a:prstGeom prst="rect">
            <a:avLst/>
          </a:prstGeom>
          <a:noFill/>
          <a:ln/>
        </p:spPr>
        <p:txBody>
          <a:bodyPr wrap="square" lIns="0" tIns="0" rIns="0" bIns="0" rtlCol="0" anchor="t"/>
          <a:lstStyle/>
          <a:p>
            <a:pPr indent="0" marL="0">
              <a:buNone/>
            </a:pPr>
            <a:r>
              <a:rPr lang="en-US" sz="1400" dirty="0">
                <a:solidFill>
                  <a:schemeClr val="tx1"/>
                </a:solidFill>
              </a:rPr>
              <a:t>ხელმისაწვდომობა თვეში (≈ 43 წუთი შეფერხება)</a:t>
            </a:r>
            <a:endParaRPr lang="en-US" sz="1400" dirty="0"/>
          </a:p>
        </p:txBody>
      </p:sp>
      <p:sp>
        <p:nvSpPr>
          <p:cNvPr id="6" name="NFR 500"/>
          <p:cNvSpPr/>
          <p:nvPr/>
        </p:nvSpPr>
        <p:spPr>
          <a:xfrm>
            <a:off x="4297680" y="155448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NFR რიცხვი 500"/>
          <p:cNvSpPr txBox="1"/>
          <p:nvPr/>
        </p:nvSpPr>
        <p:spPr>
          <a:xfrm>
            <a:off x="4526280" y="1783080"/>
            <a:ext cx="3108960" cy="914400"/>
          </a:xfrm>
          <a:prstGeom prst="rect">
            <a:avLst/>
          </a:prstGeom>
          <a:noFill/>
          <a:ln/>
        </p:spPr>
        <p:txBody>
          <a:bodyPr wrap="square" lIns="0" tIns="0" rIns="0" bIns="0" rtlCol="0" anchor="ctr"/>
          <a:lstStyle/>
          <a:p>
            <a:pPr indent="0" marL="0">
              <a:buNone/>
            </a:pPr>
            <a:r>
              <a:rPr lang="en-US" sz="4000" b="1" dirty="0">
                <a:solidFill>
                  <a:schemeClr val="accent1"/>
                </a:solidFill>
              </a:rPr>
              <a:t>500</a:t>
            </a:r>
            <a:endParaRPr lang="en-US" sz="4000" dirty="0"/>
          </a:p>
        </p:txBody>
      </p:sp>
      <p:sp>
        <p:nvSpPr>
          <p:cNvPr id="8" name="NFR აღწერა 500"/>
          <p:cNvSpPr txBox="1"/>
          <p:nvPr/>
        </p:nvSpPr>
        <p:spPr>
          <a:xfrm>
            <a:off x="4526280" y="2743200"/>
            <a:ext cx="3108960" cy="914400"/>
          </a:xfrm>
          <a:prstGeom prst="rect">
            <a:avLst/>
          </a:prstGeom>
          <a:noFill/>
          <a:ln/>
        </p:spPr>
        <p:txBody>
          <a:bodyPr wrap="square" lIns="0" tIns="0" rIns="0" bIns="0" rtlCol="0" anchor="t"/>
          <a:lstStyle/>
          <a:p>
            <a:pPr indent="0" marL="0">
              <a:buNone/>
            </a:pPr>
            <a:r>
              <a:rPr lang="en-US" sz="1400" dirty="0">
                <a:solidFill>
                  <a:schemeClr val="tx1"/>
                </a:solidFill>
              </a:rPr>
              <a:t>ერთდროული მომხმარებელი (k6 ტესტი)</a:t>
            </a:r>
            <a:endParaRPr lang="en-US" sz="1400" dirty="0"/>
          </a:p>
        </p:txBody>
      </p:sp>
      <p:sp>
        <p:nvSpPr>
          <p:cNvPr id="9" name="NFR ≤ 500 ms"/>
          <p:cNvSpPr/>
          <p:nvPr/>
        </p:nvSpPr>
        <p:spPr>
          <a:xfrm>
            <a:off x="8046720" y="155448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NFR რიცხვი ≤ 500 ms"/>
          <p:cNvSpPr txBox="1"/>
          <p:nvPr/>
        </p:nvSpPr>
        <p:spPr>
          <a:xfrm>
            <a:off x="8275320" y="1783080"/>
            <a:ext cx="3108960" cy="914400"/>
          </a:xfrm>
          <a:prstGeom prst="rect">
            <a:avLst/>
          </a:prstGeom>
          <a:noFill/>
          <a:ln/>
        </p:spPr>
        <p:txBody>
          <a:bodyPr wrap="square" lIns="0" tIns="0" rIns="0" bIns="0" rtlCol="0" anchor="ctr"/>
          <a:lstStyle/>
          <a:p>
            <a:pPr indent="0" marL="0">
              <a:buNone/>
            </a:pPr>
            <a:r>
              <a:rPr lang="en-US" sz="4000" b="1" dirty="0">
                <a:solidFill>
                  <a:schemeClr val="accent1"/>
                </a:solidFill>
              </a:rPr>
              <a:t>≤ 500 ms</a:t>
            </a:r>
            <a:endParaRPr lang="en-US" sz="4000" dirty="0"/>
          </a:p>
        </p:txBody>
      </p:sp>
      <p:sp>
        <p:nvSpPr>
          <p:cNvPr id="11" name="NFR აღწერა ≤ 500 ms"/>
          <p:cNvSpPr txBox="1"/>
          <p:nvPr/>
        </p:nvSpPr>
        <p:spPr>
          <a:xfrm>
            <a:off x="8275320" y="2743200"/>
            <a:ext cx="3108960" cy="914400"/>
          </a:xfrm>
          <a:prstGeom prst="rect">
            <a:avLst/>
          </a:prstGeom>
          <a:noFill/>
          <a:ln/>
        </p:spPr>
        <p:txBody>
          <a:bodyPr wrap="square" lIns="0" tIns="0" rIns="0" bIns="0" rtlCol="0" anchor="t"/>
          <a:lstStyle/>
          <a:p>
            <a:pPr indent="0" marL="0">
              <a:buNone/>
            </a:pPr>
            <a:r>
              <a:rPr lang="en-US" sz="1400" dirty="0">
                <a:solidFill>
                  <a:schemeClr val="tx1"/>
                </a:solidFill>
              </a:rPr>
              <a:t>API-ს პასუხი, p95</a:t>
            </a:r>
            <a:endParaRPr lang="en-US" sz="1400" dirty="0"/>
          </a:p>
        </p:txBody>
      </p:sp>
      <p:sp>
        <p:nvSpPr>
          <p:cNvPr id="12" name="NFR 2 წმ"/>
          <p:cNvSpPr/>
          <p:nvPr/>
        </p:nvSpPr>
        <p:spPr>
          <a:xfrm>
            <a:off x="548640" y="397764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NFR რიცხვი 2 წმ"/>
          <p:cNvSpPr txBox="1"/>
          <p:nvPr/>
        </p:nvSpPr>
        <p:spPr>
          <a:xfrm>
            <a:off x="777240" y="4206240"/>
            <a:ext cx="3108960" cy="914400"/>
          </a:xfrm>
          <a:prstGeom prst="rect">
            <a:avLst/>
          </a:prstGeom>
          <a:noFill/>
          <a:ln/>
        </p:spPr>
        <p:txBody>
          <a:bodyPr wrap="square" lIns="0" tIns="0" rIns="0" bIns="0" rtlCol="0" anchor="ctr"/>
          <a:lstStyle/>
          <a:p>
            <a:pPr indent="0" marL="0">
              <a:buNone/>
            </a:pPr>
            <a:r>
              <a:rPr lang="en-US" sz="4000" b="1" dirty="0">
                <a:solidFill>
                  <a:schemeClr val="accent1"/>
                </a:solidFill>
              </a:rPr>
              <a:t>2 წმ</a:t>
            </a:r>
            <a:endParaRPr lang="en-US" sz="4000" dirty="0"/>
          </a:p>
        </p:txBody>
      </p:sp>
      <p:sp>
        <p:nvSpPr>
          <p:cNvPr id="14" name="NFR აღწერა 2 წმ"/>
          <p:cNvSpPr txBox="1"/>
          <p:nvPr/>
        </p:nvSpPr>
        <p:spPr>
          <a:xfrm>
            <a:off x="777240" y="5166360"/>
            <a:ext cx="3108960" cy="914400"/>
          </a:xfrm>
          <a:prstGeom prst="rect">
            <a:avLst/>
          </a:prstGeom>
          <a:noFill/>
          <a:ln/>
        </p:spPr>
        <p:txBody>
          <a:bodyPr wrap="square" lIns="0" tIns="0" rIns="0" bIns="0" rtlCol="0" anchor="t"/>
          <a:lstStyle/>
          <a:p>
            <a:pPr indent="0" marL="0">
              <a:buNone/>
            </a:pPr>
            <a:r>
              <a:rPr lang="en-US" sz="1400" dirty="0">
                <a:solidFill>
                  <a:schemeClr val="tx1"/>
                </a:solidFill>
              </a:rPr>
              <a:t>სიისა და რუკის ჩატვირთვა, p95</a:t>
            </a:r>
            <a:endParaRPr lang="en-US" sz="1400" dirty="0"/>
          </a:p>
        </p:txBody>
      </p:sp>
      <p:sp>
        <p:nvSpPr>
          <p:cNvPr id="15" name="NFR ≤ 1 MB"/>
          <p:cNvSpPr/>
          <p:nvPr/>
        </p:nvSpPr>
        <p:spPr>
          <a:xfrm>
            <a:off x="4297680" y="397764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NFR რიცხვი ≤ 1 MB"/>
          <p:cNvSpPr txBox="1"/>
          <p:nvPr/>
        </p:nvSpPr>
        <p:spPr>
          <a:xfrm>
            <a:off x="4526280" y="4206240"/>
            <a:ext cx="3108960" cy="914400"/>
          </a:xfrm>
          <a:prstGeom prst="rect">
            <a:avLst/>
          </a:prstGeom>
          <a:noFill/>
          <a:ln/>
        </p:spPr>
        <p:txBody>
          <a:bodyPr wrap="square" lIns="0" tIns="0" rIns="0" bIns="0" rtlCol="0" anchor="ctr"/>
          <a:lstStyle/>
          <a:p>
            <a:pPr indent="0" marL="0">
              <a:buNone/>
            </a:pPr>
            <a:r>
              <a:rPr lang="en-US" sz="4000" b="1" dirty="0">
                <a:solidFill>
                  <a:schemeClr val="accent1"/>
                </a:solidFill>
              </a:rPr>
              <a:t>≤ 1 MB</a:t>
            </a:r>
            <a:endParaRPr lang="en-US" sz="4000" dirty="0"/>
          </a:p>
        </p:txBody>
      </p:sp>
      <p:sp>
        <p:nvSpPr>
          <p:cNvPr id="17" name="NFR აღწერა ≤ 1 MB"/>
          <p:cNvSpPr txBox="1"/>
          <p:nvPr/>
        </p:nvSpPr>
        <p:spPr>
          <a:xfrm>
            <a:off x="4526280" y="5166360"/>
            <a:ext cx="3108960" cy="914400"/>
          </a:xfrm>
          <a:prstGeom prst="rect">
            <a:avLst/>
          </a:prstGeom>
          <a:noFill/>
          <a:ln/>
        </p:spPr>
        <p:txBody>
          <a:bodyPr wrap="square" lIns="0" tIns="0" rIns="0" bIns="0" rtlCol="0" anchor="t"/>
          <a:lstStyle/>
          <a:p>
            <a:pPr indent="0" marL="0">
              <a:buNone/>
            </a:pPr>
            <a:r>
              <a:rPr lang="en-US" sz="1400" dirty="0">
                <a:solidFill>
                  <a:schemeClr val="tx1"/>
                </a:solidFill>
              </a:rPr>
              <a:t>შეკუმშული ფოტო, ატვირთვა ≤ 5 წმ</a:t>
            </a:r>
            <a:endParaRPr lang="en-US" sz="1400" dirty="0"/>
          </a:p>
        </p:txBody>
      </p:sp>
      <p:sp>
        <p:nvSpPr>
          <p:cNvPr id="18" name="NFR ≥ 4.5 : 1"/>
          <p:cNvSpPr/>
          <p:nvPr/>
        </p:nvSpPr>
        <p:spPr>
          <a:xfrm>
            <a:off x="8046720" y="3977640"/>
            <a:ext cx="3566160" cy="2240280"/>
          </a:xfrm>
          <a:prstGeom prst="roundRect">
            <a:avLst>
              <a:gd name="adj" fmla="val 4082"/>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NFR რიცხვი ≥ 4.5 : 1"/>
          <p:cNvSpPr txBox="1"/>
          <p:nvPr/>
        </p:nvSpPr>
        <p:spPr>
          <a:xfrm>
            <a:off x="8275320" y="4206240"/>
            <a:ext cx="3108960" cy="914400"/>
          </a:xfrm>
          <a:prstGeom prst="rect">
            <a:avLst/>
          </a:prstGeom>
          <a:noFill/>
          <a:ln/>
        </p:spPr>
        <p:txBody>
          <a:bodyPr wrap="square" lIns="0" tIns="0" rIns="0" bIns="0" rtlCol="0" anchor="ctr"/>
          <a:lstStyle/>
          <a:p>
            <a:pPr indent="0" marL="0">
              <a:buNone/>
            </a:pPr>
            <a:r>
              <a:rPr lang="en-US" sz="4000" b="1" dirty="0">
                <a:solidFill>
                  <a:schemeClr val="accent1"/>
                </a:solidFill>
              </a:rPr>
              <a:t>≥ 4.5 : 1</a:t>
            </a:r>
            <a:endParaRPr lang="en-US" sz="4000" dirty="0"/>
          </a:p>
        </p:txBody>
      </p:sp>
      <p:sp>
        <p:nvSpPr>
          <p:cNvPr id="20" name="NFR აღწერა ≥ 4.5 : 1"/>
          <p:cNvSpPr txBox="1"/>
          <p:nvPr/>
        </p:nvSpPr>
        <p:spPr>
          <a:xfrm>
            <a:off x="8275320" y="5166360"/>
            <a:ext cx="3108960" cy="914400"/>
          </a:xfrm>
          <a:prstGeom prst="rect">
            <a:avLst/>
          </a:prstGeom>
          <a:noFill/>
          <a:ln/>
        </p:spPr>
        <p:txBody>
          <a:bodyPr wrap="square" lIns="0" tIns="0" rIns="0" bIns="0" rtlCol="0" anchor="t"/>
          <a:lstStyle/>
          <a:p>
            <a:pPr indent="0" marL="0">
              <a:buNone/>
            </a:pPr>
            <a:r>
              <a:rPr lang="en-US" sz="1400" dirty="0">
                <a:solidFill>
                  <a:schemeClr val="tx1"/>
                </a:solidFill>
              </a:rPr>
              <a:t>კონტრასტი (WCAG 2.1 AA), Lighthouse ≥ 90</a:t>
            </a:r>
            <a:endParaRPr lang="en-US" sz="1400" dirty="0"/>
          </a:p>
        </p:txBody>
      </p:sp>
      <p:sp>
        <p:nvSpPr>
          <p:cNvPr id="21" name="შენიშვნა"/>
          <p:cNvSpPr txBox="1"/>
          <p:nvPr/>
        </p:nvSpPr>
        <p:spPr>
          <a:xfrm>
            <a:off x="548640" y="6309360"/>
            <a:ext cx="10515600" cy="365760"/>
          </a:xfrm>
          <a:prstGeom prst="rect">
            <a:avLst/>
          </a:prstGeom>
          <a:noFill/>
          <a:ln/>
        </p:spPr>
        <p:txBody>
          <a:bodyPr wrap="square" lIns="0" tIns="0" rIns="0" bIns="0" rtlCol="0" anchor="ctr"/>
          <a:lstStyle/>
          <a:p>
            <a:pPr indent="0" marL="0">
              <a:buNone/>
            </a:pPr>
            <a:r>
              <a:rPr lang="en-US" sz="1200" dirty="0">
                <a:solidFill>
                  <a:schemeClr val="accent6"/>
                </a:solidFill>
              </a:rPr>
              <a:t>ბექაპი ყოველდღე (RPO ≤ 24 სთ, RTO ≤ 4 სთ). 99.9%-ისთვის საჭიროა Azure App Service Basic: მის ქვემოთ SLA არ არსებობს.</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lIns="0" tIns="0" rIns="0" bIns="0" rtlCol="0" anchor="ctr"/>
          <a:lstStyle/>
          <a:p>
            <a:pPr indent="0" marL="0">
              <a:buNone/>
            </a:pPr>
            <a:r>
              <a:rPr lang="en-US" sz="3200" b="1" dirty="0">
                <a:solidFill>
                  <a:schemeClr val="tx2"/>
                </a:solidFill>
              </a:rPr>
              <a:t>რისკები და მათი შემცირება</a:t>
            </a:r>
            <a:endParaRPr lang="en-US" sz="3200" dirty="0"/>
          </a:p>
        </p:txBody>
      </p:sp>
      <p:graphicFrame>
        <p:nvGraphicFramePr>
          <p:cNvPr id="14" name="რისკების ცხრილი"/>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572000"/>
                <a:gridCol w="6492240"/>
              </a:tblGrid>
              <a:tr h="713232">
                <a:tc>
                  <a:txBody>
                    <a:bodyPr/>
                    <a:lstStyle/>
                    <a:p>
                      <a:pPr indent="0" marL="0">
                        <a:buNone/>
                      </a:pPr>
                      <a:r>
                        <a:rPr lang="en-US" sz="1400" b="1" dirty="0">
                          <a:solidFill>
                            <a:srgbClr val="FFFFFF"/>
                          </a:solidFill>
                        </a:rPr>
                        <a:t>რისკი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tx2"/>
                    </a:solidFill>
                  </a:tcPr>
                </a:tc>
                <a:tc>
                  <a:txBody>
                    <a:bodyPr/>
                    <a:lstStyle/>
                    <a:p>
                      <a:pPr indent="0" marL="0">
                        <a:buNone/>
                      </a:pPr>
                      <a:r>
                        <a:rPr lang="en-US" sz="1400" b="1" dirty="0">
                          <a:solidFill>
                            <a:srgbClr val="FFFFFF"/>
                          </a:solidFill>
                        </a:rPr>
                        <a:t>როგორ ვამცირებთ</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tx2"/>
                    </a:solidFill>
                  </a:tcPr>
                </a:tc>
              </a:tr>
              <a:tr h="713232">
                <a:tc>
                  <a:txBody>
                    <a:bodyPr/>
                    <a:lstStyle/>
                    <a:p>
                      <a:pPr indent="0" marL="0">
                        <a:buNone/>
                      </a:pPr>
                      <a:r>
                        <a:rPr lang="en-US" sz="1400" b="1" dirty="0">
                          <a:solidFill>
                            <a:schemeClr val="tx1"/>
                          </a:solidFill>
                        </a:rPr>
                        <a:t>„მსუქანი“ Controller-ები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ლოგიკა Service-ში; action ≤ ~15 ხაზი; code review DoD-ში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chemeClr val="tx1"/>
                          </a:solidFill>
                        </a:rPr>
                        <a:t>პერსონალური მონაცემები ფოტოებში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EXIF-ის წაშლა; საჯაროა მხოლოდ მიღებული; Privacy Check #1 და #2</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r>
              <a:tr h="713232">
                <a:tc>
                  <a:txBody>
                    <a:bodyPr/>
                    <a:lstStyle/>
                    <a:p>
                      <a:pPr indent="0" marL="0">
                        <a:buNone/>
                      </a:pPr>
                      <a:r>
                        <a:rPr lang="en-US" sz="1400" b="1" dirty="0">
                          <a:solidFill>
                            <a:schemeClr val="tx1"/>
                          </a:solidFill>
                        </a:rPr>
                        <a:t>დრო: დღესასწაულები და გამოცდები იანვარში</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Sprint 5–6 მსუბუქია; პირველი Should-ები გადაიდება, MVP არა</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chemeClr val="tx1"/>
                          </a:solidFill>
                        </a:rPr>
                        <a:t>პირველი სპრინტის სიჩქარე უცნობია</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Sprint 1-ის შემდეგ ვადარებთ რეალურს დაგეგმილს</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chemeClr val="bg2"/>
                    </a:solidFill>
                  </a:tcPr>
                </a:tc>
              </a:tr>
              <a:tr h="713232">
                <a:tc>
                  <a:txBody>
                    <a:bodyPr/>
                    <a:lstStyle/>
                    <a:p>
                      <a:pPr indent="0" marL="0">
                        <a:buNone/>
                      </a:pPr>
                      <a:r>
                        <a:rPr lang="en-US" sz="1400" b="1" dirty="0">
                          <a:solidFill>
                            <a:schemeClr val="tx1"/>
                          </a:solidFill>
                        </a:rPr>
                        <a:t>HEIC ფოტოები (iPhone)</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MVP-ში JPG/PNG; HEIC გადადებულია</a:t>
                      </a:r>
                      <a:endParaRPr lang="en-US" sz="1400" dirty="0"/>
                    </a:p>
                  </a:txBody>
                  <a:tcPr marL="109728" marR="109728" marT="0" marB="0" anchor="ctr">
                    <a:lnL w="9525" cap="flat" cmpd="sng" algn="ctr">
                      <a:solidFill>
                        <a:srgbClr val="D9E2E2"/>
                      </a:solidFill>
                      <a:prstDash val="solid"/>
                      <a:round/>
                      <a:headEnd type="none" w="med" len="med"/>
                      <a:tailEnd type="none" w="med" len="med"/>
                    </a:lnL>
                    <a:lnR w="9525" cap="flat" cmpd="sng" algn="ctr">
                      <a:solidFill>
                        <a:srgbClr val="D9E2E2"/>
                      </a:solidFill>
                      <a:prstDash val="solid"/>
                      <a:round/>
                      <a:headEnd type="none" w="med" len="med"/>
                      <a:tailEnd type="none" w="med" len="med"/>
                    </a:lnR>
                    <a:lnT w="9525" cap="flat" cmpd="sng" algn="ctr">
                      <a:solidFill>
                        <a:srgbClr val="D9E2E2"/>
                      </a:solidFill>
                      <a:prstDash val="solid"/>
                      <a:round/>
                      <a:headEnd type="none" w="med" len="med"/>
                      <a:tailEnd type="none" w="med" len="med"/>
                    </a:lnT>
                    <a:lnB w="9525" cap="flat" cmpd="sng" algn="ctr">
                      <a:solidFill>
                        <a:srgbClr val="D9E2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C6B7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სათაური"/>
          <p:cNvSpPr txBox="1"/>
          <p:nvPr/>
        </p:nvSpPr>
        <p:spPr>
          <a:xfrm>
            <a:off x="731520" y="457200"/>
            <a:ext cx="10515600" cy="822960"/>
          </a:xfrm>
          <a:prstGeom prst="rect">
            <a:avLst/>
          </a:prstGeom>
          <a:noFill/>
          <a:ln/>
        </p:spPr>
        <p:txBody>
          <a:bodyPr wrap="square" lIns="0" tIns="0" rIns="0" bIns="0" rtlCol="0" anchor="ctr"/>
          <a:lstStyle/>
          <a:p>
            <a:pPr indent="0" marL="0">
              <a:buNone/>
            </a:pPr>
            <a:r>
              <a:rPr lang="en-US" sz="3400" b="1" dirty="0">
                <a:solidFill>
                  <a:srgbClr val="FFFFFF"/>
                </a:solidFill>
              </a:rPr>
              <a:t>Definition of Done და შემდეგი ნაბიჯი</a:t>
            </a:r>
            <a:endParaRPr lang="en-US" sz="3400" dirty="0"/>
          </a:p>
        </p:txBody>
      </p:sp>
      <p:sp>
        <p:nvSpPr>
          <p:cNvPr id="3" name="DoD სია"/>
          <p:cNvSpPr txBox="1"/>
          <p:nvPr/>
        </p:nvSpPr>
        <p:spPr>
          <a:xfrm>
            <a:off x="731520" y="1554480"/>
            <a:ext cx="5669280" cy="42062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FFFFFF"/>
                </a:solidFill>
              </a:rPr>
              <a:t>Acceptance Criteria შემოწმებულია</a:t>
            </a:r>
            <a:endParaRPr lang="en-US" sz="1800" dirty="0"/>
          </a:p>
          <a:p>
            <a:pPr marL="342900" indent="-342900">
              <a:spcAft>
                <a:spcPts val="800"/>
              </a:spcAft>
              <a:buSzPct val="100000"/>
              <a:buChar char="•"/>
            </a:pPr>
            <a:r>
              <a:rPr lang="en-US" sz="1800" dirty="0">
                <a:solidFill>
                  <a:srgbClr val="FFFFFF"/>
                </a:solidFill>
              </a:rPr>
              <a:t>Pull Request გადახედულია</a:t>
            </a:r>
            <a:endParaRPr lang="en-US" sz="1800" dirty="0"/>
          </a:p>
          <a:p>
            <a:pPr marL="342900" indent="-342900">
              <a:spcAft>
                <a:spcPts val="800"/>
              </a:spcAft>
              <a:buSzPct val="100000"/>
              <a:buChar char="•"/>
            </a:pPr>
            <a:r>
              <a:rPr lang="en-US" sz="1800" dirty="0">
                <a:solidFill>
                  <a:srgbClr val="FFFFFF"/>
                </a:solidFill>
              </a:rPr>
              <a:t>ტესტები გადის, დაფარვა ≥ 70%</a:t>
            </a:r>
            <a:endParaRPr lang="en-US" sz="1800" dirty="0"/>
          </a:p>
          <a:p>
            <a:pPr marL="342900" indent="-342900">
              <a:spcAft>
                <a:spcPts val="800"/>
              </a:spcAft>
              <a:buSzPct val="100000"/>
              <a:buChar char="•"/>
            </a:pPr>
            <a:r>
              <a:rPr lang="en-US" sz="1800" dirty="0">
                <a:solidFill>
                  <a:srgbClr val="FFFFFF"/>
                </a:solidFill>
              </a:rPr>
              <a:t>CI გადის, ხარვეზები არ არის</a:t>
            </a:r>
            <a:endParaRPr lang="en-US" sz="1800" dirty="0"/>
          </a:p>
          <a:p>
            <a:pPr marL="342900" indent="-342900">
              <a:spcAft>
                <a:spcPts val="800"/>
              </a:spcAft>
              <a:buSzPct val="100000"/>
              <a:buChar char="•"/>
            </a:pPr>
            <a:r>
              <a:rPr lang="en-US" sz="1800" dirty="0">
                <a:solidFill>
                  <a:srgbClr val="FFFFFF"/>
                </a:solidFill>
              </a:rPr>
              <a:t>დაუცველობის შემოწმება (NuGet)</a:t>
            </a:r>
            <a:endParaRPr lang="en-US" sz="1800" dirty="0"/>
          </a:p>
          <a:p>
            <a:pPr marL="342900" indent="-342900">
              <a:spcAft>
                <a:spcPts val="800"/>
              </a:spcAft>
              <a:buSzPct val="100000"/>
              <a:buChar char="•"/>
            </a:pPr>
            <a:r>
              <a:rPr lang="en-US" sz="1800" dirty="0">
                <a:solidFill>
                  <a:srgbClr val="FFFFFF"/>
                </a:solidFill>
              </a:rPr>
              <a:t>გაშლილია staging-ზე</a:t>
            </a:r>
            <a:endParaRPr lang="en-US" sz="1800" dirty="0"/>
          </a:p>
          <a:p>
            <a:pPr marL="342900" indent="-342900">
              <a:spcAft>
                <a:spcPts val="800"/>
              </a:spcAft>
              <a:buSzPct val="100000"/>
              <a:buChar char="•"/>
            </a:pPr>
            <a:r>
              <a:rPr lang="en-US" sz="1800" dirty="0">
                <a:solidFill>
                  <a:srgbClr val="FFFFFF"/>
                </a:solidFill>
              </a:rPr>
              <a:t>NFR შესრულებულია, 360 px მუშაობს</a:t>
            </a:r>
            <a:endParaRPr lang="en-US" sz="1800" dirty="0"/>
          </a:p>
        </p:txBody>
      </p:sp>
      <p:sp>
        <p:nvSpPr>
          <p:cNvPr id="4" name="შემდეგი ნაბიჯი"/>
          <p:cNvSpPr/>
          <p:nvPr/>
        </p:nvSpPr>
        <p:spPr>
          <a:xfrm>
            <a:off x="6858000" y="1554480"/>
            <a:ext cx="4572000" cy="3291840"/>
          </a:xfrm>
          <a:prstGeom prst="roundRect">
            <a:avLst>
              <a:gd name="adj" fmla="val 2778"/>
            </a:avLst>
          </a:prstGeom>
          <a:solidFill>
            <a:schemeClr val="accent4"/>
          </a:solidFill>
          <a:ln w="12700">
            <a:solidFill>
              <a:schemeClr val="accent4"/>
            </a:solidFill>
            <a:prstDash val="solid"/>
          </a:ln>
          <a:effectLst>
            <a:outerShdw sx="100000" sy="100000" kx="0" ky="0" algn="bl" rotWithShape="0" blurRad="76200" dist="25400" dir="5400000">
              <a:srgbClr val="000000">
                <a:alpha val="12000"/>
              </a:srgbClr>
            </a:outerShdw>
          </a:effectLst>
        </p:spPr>
      </p:sp>
      <p:sp>
        <p:nvSpPr>
          <p:cNvPr id="5" name="შემდეგი ნაბიჯი სათაური"/>
          <p:cNvSpPr txBox="1"/>
          <p:nvPr/>
        </p:nvSpPr>
        <p:spPr>
          <a:xfrm>
            <a:off x="7132320" y="1737360"/>
            <a:ext cx="4023360" cy="548640"/>
          </a:xfrm>
          <a:prstGeom prst="rect">
            <a:avLst/>
          </a:prstGeom>
          <a:noFill/>
          <a:ln/>
        </p:spPr>
        <p:txBody>
          <a:bodyPr wrap="square" lIns="0" tIns="0" rIns="0" bIns="0" rtlCol="0" anchor="ctr"/>
          <a:lstStyle/>
          <a:p>
            <a:pPr indent="0" marL="0">
              <a:buNone/>
            </a:pPr>
            <a:r>
              <a:rPr lang="en-US" sz="2200" b="1" dirty="0">
                <a:solidFill>
                  <a:srgbClr val="F4A261"/>
                </a:solidFill>
              </a:rPr>
              <a:t>Sprint 0: 26 ოქტომბერი</a:t>
            </a:r>
            <a:endParaRPr lang="en-US" sz="2200" dirty="0"/>
          </a:p>
        </p:txBody>
      </p:sp>
      <p:sp>
        <p:nvSpPr>
          <p:cNvPr id="6" name="შემდეგი ნაბიჯი ტექსტი"/>
          <p:cNvSpPr txBox="1"/>
          <p:nvPr/>
        </p:nvSpPr>
        <p:spPr>
          <a:xfrm>
            <a:off x="7132320" y="2377440"/>
            <a:ext cx="4023360" cy="1463040"/>
          </a:xfrm>
          <a:prstGeom prst="rect">
            <a:avLst/>
          </a:prstGeom>
          <a:noFill/>
          <a:ln/>
        </p:spPr>
        <p:txBody>
          <a:bodyPr wrap="square" lIns="0" tIns="0" rIns="0" bIns="0" rtlCol="0" anchor="t"/>
          <a:lstStyle/>
          <a:p>
            <a:pPr indent="0" marL="0">
              <a:buNone/>
            </a:pPr>
            <a:r>
              <a:rPr lang="en-US" sz="1600" dirty="0">
                <a:solidFill>
                  <a:srgbClr val="FFFFFF"/>
                </a:solidFill>
              </a:rPr>
              <a:t>პროექტი, ბაზა, Identity, CI, staging და prototype: რუკა და ფოტოს შეკუმშვა.</a:t>
            </a:r>
            <a:endParaRPr lang="en-US" sz="1600" dirty="0"/>
          </a:p>
        </p:txBody>
      </p:sp>
      <p:sp>
        <p:nvSpPr>
          <p:cNvPr id="7" name="კითხვები"/>
          <p:cNvSpPr txBox="1"/>
          <p:nvPr/>
        </p:nvSpPr>
        <p:spPr>
          <a:xfrm>
            <a:off x="7132320" y="4023360"/>
            <a:ext cx="4023360" cy="640080"/>
          </a:xfrm>
          <a:prstGeom prst="rect">
            <a:avLst/>
          </a:prstGeom>
          <a:noFill/>
          <a:ln/>
        </p:spPr>
        <p:txBody>
          <a:bodyPr wrap="square" lIns="0" tIns="0" rIns="0" bIns="0" rtlCol="0" anchor="ctr"/>
          <a:lstStyle/>
          <a:p>
            <a:pPr indent="0" marL="0">
              <a:buNone/>
            </a:pPr>
            <a:r>
              <a:rPr lang="en-US" sz="2800" b="1" dirty="0">
                <a:solidFill>
                  <a:srgbClr val="FFFFFF"/>
                </a:solidFill>
              </a:rPr>
              <a:t>კითხვები?</a:t>
            </a:r>
            <a:endParaRPr lang="en-US" sz="2800" dirty="0"/>
          </a:p>
        </p:txBody>
      </p:sp>
      <p:sp>
        <p:nvSpPr>
          <p:cNvPr id="8" name="ბმული"/>
          <p:cNvSpPr txBox="1"/>
          <p:nvPr/>
        </p:nvSpPr>
        <p:spPr>
          <a:xfrm>
            <a:off x="731520" y="5943600"/>
            <a:ext cx="7315200" cy="365760"/>
          </a:xfrm>
          <a:prstGeom prst="rect">
            <a:avLst/>
          </a:prstGeom>
          <a:noFill/>
          <a:ln/>
        </p:spPr>
        <p:txBody>
          <a:bodyPr wrap="square" lIns="0" tIns="0" rIns="0" bIns="0" rtlCol="0" anchor="ctr"/>
          <a:lstStyle/>
          <a:p>
            <a:pPr indent="0" marL="0">
              <a:buNone/>
            </a:pPr>
            <a:r>
              <a:rPr lang="en-US" sz="1400" dirty="0">
                <a:solidFill>
                  <a:srgbClr val="CFE3E3"/>
                </a:solidFill>
              </a:rPr>
              <a:t>github.com/gigigiorgadze10/fixit</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FixIt">
  <a:themeElements>
    <a:clrScheme name="FixIt">
      <a:dk1>
        <a:srgbClr val="14262B"/>
      </a:dk1>
      <a:lt1>
        <a:srgbClr val="FFFFFF"/>
      </a:lt1>
      <a:dk2>
        <a:srgbClr val="0B3C49"/>
      </a:dk2>
      <a:lt2>
        <a:srgbClr val="F1F5F5"/>
      </a:lt2>
      <a:accent1>
        <a:srgbClr val="2A9D8F"/>
      </a:accent1>
      <a:accent2>
        <a:srgbClr val="F4A261"/>
      </a:accent2>
      <a:accent3>
        <a:srgbClr val="E76F51"/>
      </a:accent3>
      <a:accent4>
        <a:srgbClr val="264653"/>
      </a:accent4>
      <a:accent5>
        <a:srgbClr val="8AB17D"/>
      </a:accent5>
      <a:accent6>
        <a:srgbClr val="5C6B70"/>
      </a:accent6>
      <a:hlink>
        <a:srgbClr val="2A9D8F"/>
      </a:hlink>
      <a:folHlink>
        <a:srgbClr val="5C6B70"/>
      </a:folHlink>
    </a:clrScheme>
    <a:fontScheme name="FixI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FixIt: MVP არქიტექტურა და Scrum გეგმა</dc:title>
  <dc:subject>PptxGenJS Presentation</dc:subject>
  <dc:creator>გიგი გიორგაძე</dc:creator>
  <cp:lastModifiedBy>გიგი გიორგაძე</cp:lastModifiedBy>
  <cp:revision>1</cp:revision>
  <dcterms:created xsi:type="dcterms:W3CDTF">2026-10-24T16:39:49Z</dcterms:created>
  <dcterms:modified xsi:type="dcterms:W3CDTF">2026-10-24T16:39:49Z</dcterms:modified>
</cp:coreProperties>
</file>